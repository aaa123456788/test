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Default Extension="jpg"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329" r:id="rId5"/>
    <p:sldId id="384" r:id="rId6"/>
    <p:sldId id="385" r:id="rId7"/>
    <p:sldId id="390" r:id="rId8"/>
    <p:sldId id="362" r:id="rId9"/>
    <p:sldId id="389" r:id="rId10"/>
    <p:sldId id="366" r:id="rId11"/>
    <p:sldId id="367" r:id="rId12"/>
    <p:sldId id="368" r:id="rId13"/>
    <p:sldId id="380" r:id="rId14"/>
    <p:sldId id="381" r:id="rId15"/>
    <p:sldId id="370" r:id="rId16"/>
    <p:sldId id="371" r:id="rId17"/>
    <p:sldId id="372" r:id="rId18"/>
    <p:sldId id="374" r:id="rId19"/>
    <p:sldId id="373" r:id="rId20"/>
    <p:sldId id="375" r:id="rId21"/>
    <p:sldId id="376" r:id="rId22"/>
    <p:sldId id="378" r:id="rId23"/>
    <p:sldId id="391" r:id="rId24"/>
    <p:sldId id="377" r:id="rId25"/>
    <p:sldId id="382" r:id="rId26"/>
    <p:sldId id="379" r:id="rId27"/>
    <p:sldId id="383" r:id="rId28"/>
    <p:sldId id="3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52" autoAdjust="0"/>
    <p:restoredTop sz="90786" autoAdjust="0"/>
  </p:normalViewPr>
  <p:slideViewPr>
    <p:cSldViewPr snapToGrid="0">
      <p:cViewPr varScale="1">
        <p:scale>
          <a:sx n="106" d="100"/>
          <a:sy n="106" d="100"/>
        </p:scale>
        <p:origin x="1018" y="77"/>
      </p:cViewPr>
      <p:guideLst/>
    </p:cSldViewPr>
  </p:slideViewPr>
  <p:outlineViewPr>
    <p:cViewPr>
      <p:scale>
        <a:sx n="33" d="100"/>
        <a:sy n="33" d="100"/>
      </p:scale>
      <p:origin x="0" y="-1037"/>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A1D659-9682-BE2B-7FE8-67902A1244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DC9DD43-96CB-5A3C-DDAC-DDED88E718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58D1BA-8333-4060-BE89-08083514E197}" type="datetimeFigureOut">
              <a:rPr lang="en-US" smtClean="0"/>
              <a:t>9/7/2025</a:t>
            </a:fld>
            <a:endParaRPr lang="en-US" dirty="0"/>
          </a:p>
        </p:txBody>
      </p:sp>
      <p:sp>
        <p:nvSpPr>
          <p:cNvPr id="4" name="Footer Placeholder 3">
            <a:extLst>
              <a:ext uri="{FF2B5EF4-FFF2-40B4-BE49-F238E27FC236}">
                <a16:creationId xmlns:a16="http://schemas.microsoft.com/office/drawing/2014/main" id="{244C9BD9-497A-49AE-566B-AE7A53D6FC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46ABFDD-E1A7-7283-43F9-290FFE047F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83D930-11DD-4CC7-B456-986AFD28BEA3}" type="slidenum">
              <a:rPr lang="en-US" smtClean="0"/>
              <a:t>‹#›</a:t>
            </a:fld>
            <a:endParaRPr lang="en-US" dirty="0"/>
          </a:p>
        </p:txBody>
      </p:sp>
    </p:spTree>
    <p:extLst>
      <p:ext uri="{BB962C8B-B14F-4D97-AF65-F5344CB8AC3E}">
        <p14:creationId xmlns:p14="http://schemas.microsoft.com/office/powerpoint/2010/main" val="37309942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F1824D-16BB-6842-B177-66C991E75B96}" type="datetimeFigureOut">
              <a:rPr lang="en-US" smtClean="0"/>
              <a:t>9/7/2025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95E6C-1521-6645-A89B-0D424B85A347}" type="slidenum">
              <a:rPr lang="en-US" smtClean="0"/>
              <a:t>‹#›</a:t>
            </a:fld>
            <a:endParaRPr lang="en-US" dirty="0"/>
          </a:p>
        </p:txBody>
      </p:sp>
    </p:spTree>
    <p:extLst>
      <p:ext uri="{BB962C8B-B14F-4D97-AF65-F5344CB8AC3E}">
        <p14:creationId xmlns:p14="http://schemas.microsoft.com/office/powerpoint/2010/main" val="2046504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95E6C-1521-6645-A89B-0D424B85A347}" type="slidenum">
              <a:rPr lang="en-US" smtClean="0"/>
              <a:t>1</a:t>
            </a:fld>
            <a:endParaRPr lang="en-US" dirty="0"/>
          </a:p>
        </p:txBody>
      </p:sp>
    </p:spTree>
    <p:extLst>
      <p:ext uri="{BB962C8B-B14F-4D97-AF65-F5344CB8AC3E}">
        <p14:creationId xmlns:p14="http://schemas.microsoft.com/office/powerpoint/2010/main" val="3122667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An element is a substance that cannot be broken down to other substances by chemical reactions</a:t>
            </a:r>
          </a:p>
          <a:p>
            <a:pPr marL="171450" indent="-171450">
              <a:buFont typeface="Arial" panose="020B0604020202020204" pitchFamily="34" charset="0"/>
              <a:buChar char="•"/>
            </a:pPr>
            <a:r>
              <a:rPr lang="en-US" dirty="0" smtClean="0"/>
              <a:t>Trace elements are required by an organism in only minute quantities </a:t>
            </a:r>
            <a:r>
              <a:rPr lang="en-US" dirty="0" smtClean="0">
                <a:sym typeface="Wingdings" panose="05000000000000000000" pitchFamily="2" charset="2"/>
              </a:rPr>
              <a:t> ex: </a:t>
            </a:r>
            <a:r>
              <a:rPr lang="en-US" dirty="0" smtClean="0">
                <a:sym typeface="Wingdings" panose="05000000000000000000" pitchFamily="2" charset="2"/>
              </a:rPr>
              <a:t>Iron (hemoglobin</a:t>
            </a:r>
            <a:r>
              <a:rPr lang="en-US" baseline="0" dirty="0" smtClean="0">
                <a:sym typeface="Wingdings" panose="05000000000000000000" pitchFamily="2" charset="2"/>
              </a:rPr>
              <a:t> and RBCs  deficiency and anemia) </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3</a:t>
            </a:fld>
            <a:endParaRPr lang="en-US" dirty="0"/>
          </a:p>
        </p:txBody>
      </p:sp>
    </p:spTree>
    <p:extLst>
      <p:ext uri="{BB962C8B-B14F-4D97-AF65-F5344CB8AC3E}">
        <p14:creationId xmlns:p14="http://schemas.microsoft.com/office/powerpoint/2010/main" val="1132597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95E6C-1521-6645-A89B-0D424B85A347}" type="slidenum">
              <a:rPr lang="en-US" smtClean="0"/>
              <a:t>4</a:t>
            </a:fld>
            <a:endParaRPr lang="en-US" dirty="0"/>
          </a:p>
        </p:txBody>
      </p:sp>
    </p:spTree>
    <p:extLst>
      <p:ext uri="{BB962C8B-B14F-4D97-AF65-F5344CB8AC3E}">
        <p14:creationId xmlns:p14="http://schemas.microsoft.com/office/powerpoint/2010/main" val="3982917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5</a:t>
            </a:fld>
            <a:endParaRPr lang="en-US" dirty="0"/>
          </a:p>
        </p:txBody>
      </p:sp>
    </p:spTree>
    <p:extLst>
      <p:ext uri="{BB962C8B-B14F-4D97-AF65-F5344CB8AC3E}">
        <p14:creationId xmlns:p14="http://schemas.microsoft.com/office/powerpoint/2010/main" val="3364742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6</a:t>
            </a:fld>
            <a:endParaRPr lang="en-US" dirty="0"/>
          </a:p>
        </p:txBody>
      </p:sp>
    </p:spTree>
    <p:extLst>
      <p:ext uri="{BB962C8B-B14F-4D97-AF65-F5344CB8AC3E}">
        <p14:creationId xmlns:p14="http://schemas.microsoft.com/office/powerpoint/2010/main" val="1531234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In some cases, two atoms are so unequal in their attraction for valence electrons that the more electronegative atom strips an electron completely away from its partner</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8</a:t>
            </a:fld>
            <a:endParaRPr lang="en-US" dirty="0"/>
          </a:p>
        </p:txBody>
      </p:sp>
    </p:spTree>
    <p:extLst>
      <p:ext uri="{BB962C8B-B14F-4D97-AF65-F5344CB8AC3E}">
        <p14:creationId xmlns:p14="http://schemas.microsoft.com/office/powerpoint/2010/main" val="2301160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Each hydrogen atom is now associated with </a:t>
            </a:r>
            <a:r>
              <a:rPr lang="en-US" dirty="0" smtClean="0"/>
              <a:t>2 </a:t>
            </a:r>
            <a:r>
              <a:rPr lang="en-US" dirty="0" smtClean="0"/>
              <a:t>electrons in what amounts to a completed valence shell</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9</a:t>
            </a:fld>
            <a:endParaRPr lang="en-US" dirty="0"/>
          </a:p>
        </p:txBody>
      </p:sp>
    </p:spTree>
    <p:extLst>
      <p:ext uri="{BB962C8B-B14F-4D97-AF65-F5344CB8AC3E}">
        <p14:creationId xmlns:p14="http://schemas.microsoft.com/office/powerpoint/2010/main" val="2229532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500">
                <a:solidFill>
                  <a:schemeClr val="tx1"/>
                </a:solidFill>
                <a:latin typeface="Arial" charset="0"/>
                <a:cs typeface="Arial" charset="0"/>
              </a:defRPr>
            </a:lvl1pPr>
            <a:lvl2pPr marL="742950" indent="-285750">
              <a:defRPr kumimoji="1" sz="2500">
                <a:solidFill>
                  <a:schemeClr val="tx1"/>
                </a:solidFill>
                <a:latin typeface="Arial" charset="0"/>
                <a:cs typeface="Arial" charset="0"/>
              </a:defRPr>
            </a:lvl2pPr>
            <a:lvl3pPr marL="1143000" indent="-228600">
              <a:defRPr kumimoji="1" sz="2500">
                <a:solidFill>
                  <a:schemeClr val="tx1"/>
                </a:solidFill>
                <a:latin typeface="Arial" charset="0"/>
                <a:cs typeface="Arial" charset="0"/>
              </a:defRPr>
            </a:lvl3pPr>
            <a:lvl4pPr marL="1600200" indent="-228600">
              <a:defRPr kumimoji="1" sz="2500">
                <a:solidFill>
                  <a:schemeClr val="tx1"/>
                </a:solidFill>
                <a:latin typeface="Arial" charset="0"/>
                <a:cs typeface="Arial" charset="0"/>
              </a:defRPr>
            </a:lvl4pPr>
            <a:lvl5pPr marL="2057400" indent="-228600">
              <a:defRPr kumimoji="1" sz="2500">
                <a:solidFill>
                  <a:schemeClr val="tx1"/>
                </a:solidFill>
                <a:latin typeface="Arial" charset="0"/>
                <a:cs typeface="Arial" charset="0"/>
              </a:defRPr>
            </a:lvl5pPr>
            <a:lvl6pPr marL="2514600" indent="-228600" algn="r" eaLnBrk="0" fontAlgn="base" hangingPunct="0">
              <a:spcBef>
                <a:spcPct val="0"/>
              </a:spcBef>
              <a:spcAft>
                <a:spcPct val="0"/>
              </a:spcAft>
              <a:defRPr kumimoji="1" sz="2500">
                <a:solidFill>
                  <a:schemeClr val="tx1"/>
                </a:solidFill>
                <a:latin typeface="Arial" charset="0"/>
                <a:cs typeface="Arial" charset="0"/>
              </a:defRPr>
            </a:lvl6pPr>
            <a:lvl7pPr marL="2971800" indent="-228600" algn="r" eaLnBrk="0" fontAlgn="base" hangingPunct="0">
              <a:spcBef>
                <a:spcPct val="0"/>
              </a:spcBef>
              <a:spcAft>
                <a:spcPct val="0"/>
              </a:spcAft>
              <a:defRPr kumimoji="1" sz="2500">
                <a:solidFill>
                  <a:schemeClr val="tx1"/>
                </a:solidFill>
                <a:latin typeface="Arial" charset="0"/>
                <a:cs typeface="Arial" charset="0"/>
              </a:defRPr>
            </a:lvl7pPr>
            <a:lvl8pPr marL="3429000" indent="-228600" algn="r" eaLnBrk="0" fontAlgn="base" hangingPunct="0">
              <a:spcBef>
                <a:spcPct val="0"/>
              </a:spcBef>
              <a:spcAft>
                <a:spcPct val="0"/>
              </a:spcAft>
              <a:defRPr kumimoji="1" sz="2500">
                <a:solidFill>
                  <a:schemeClr val="tx1"/>
                </a:solidFill>
                <a:latin typeface="Arial" charset="0"/>
                <a:cs typeface="Arial" charset="0"/>
              </a:defRPr>
            </a:lvl8pPr>
            <a:lvl9pPr marL="3886200" indent="-228600" algn="r" eaLnBrk="0" fontAlgn="base" hangingPunct="0">
              <a:spcBef>
                <a:spcPct val="0"/>
              </a:spcBef>
              <a:spcAft>
                <a:spcPct val="0"/>
              </a:spcAft>
              <a:defRPr kumimoji="1" sz="2500">
                <a:solidFill>
                  <a:schemeClr val="tx1"/>
                </a:solidFill>
                <a:latin typeface="Arial" charset="0"/>
                <a:cs typeface="Arial" charset="0"/>
              </a:defRPr>
            </a:lvl9pPr>
          </a:lstStyle>
          <a:p>
            <a:fld id="{8AC211D7-7950-4EE4-890E-70536BC480AB}" type="slidenum">
              <a:rPr kumimoji="0" lang="en-US" sz="1200" smtClean="0">
                <a:latin typeface="Times New Roman" pitchFamily="18" charset="0"/>
              </a:rPr>
              <a:pPr/>
              <a:t>11</a:t>
            </a:fld>
            <a:endParaRPr kumimoji="0" lang="en-US" sz="1200">
              <a:latin typeface="Times New Roman"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eaLnBrk="1" hangingPunct="1"/>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793383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500">
                <a:solidFill>
                  <a:schemeClr val="tx1"/>
                </a:solidFill>
                <a:latin typeface="Arial" charset="0"/>
                <a:cs typeface="Arial" charset="0"/>
              </a:defRPr>
            </a:lvl1pPr>
            <a:lvl2pPr marL="742950" indent="-285750">
              <a:defRPr kumimoji="1" sz="2500">
                <a:solidFill>
                  <a:schemeClr val="tx1"/>
                </a:solidFill>
                <a:latin typeface="Arial" charset="0"/>
                <a:cs typeface="Arial" charset="0"/>
              </a:defRPr>
            </a:lvl2pPr>
            <a:lvl3pPr marL="1143000" indent="-228600">
              <a:defRPr kumimoji="1" sz="2500">
                <a:solidFill>
                  <a:schemeClr val="tx1"/>
                </a:solidFill>
                <a:latin typeface="Arial" charset="0"/>
                <a:cs typeface="Arial" charset="0"/>
              </a:defRPr>
            </a:lvl3pPr>
            <a:lvl4pPr marL="1600200" indent="-228600">
              <a:defRPr kumimoji="1" sz="2500">
                <a:solidFill>
                  <a:schemeClr val="tx1"/>
                </a:solidFill>
                <a:latin typeface="Arial" charset="0"/>
                <a:cs typeface="Arial" charset="0"/>
              </a:defRPr>
            </a:lvl4pPr>
            <a:lvl5pPr marL="2057400" indent="-228600">
              <a:defRPr kumimoji="1" sz="2500">
                <a:solidFill>
                  <a:schemeClr val="tx1"/>
                </a:solidFill>
                <a:latin typeface="Arial" charset="0"/>
                <a:cs typeface="Arial" charset="0"/>
              </a:defRPr>
            </a:lvl5pPr>
            <a:lvl6pPr marL="2514600" indent="-228600" algn="r" eaLnBrk="0" fontAlgn="base" hangingPunct="0">
              <a:spcBef>
                <a:spcPct val="0"/>
              </a:spcBef>
              <a:spcAft>
                <a:spcPct val="0"/>
              </a:spcAft>
              <a:defRPr kumimoji="1" sz="2500">
                <a:solidFill>
                  <a:schemeClr val="tx1"/>
                </a:solidFill>
                <a:latin typeface="Arial" charset="0"/>
                <a:cs typeface="Arial" charset="0"/>
              </a:defRPr>
            </a:lvl6pPr>
            <a:lvl7pPr marL="2971800" indent="-228600" algn="r" eaLnBrk="0" fontAlgn="base" hangingPunct="0">
              <a:spcBef>
                <a:spcPct val="0"/>
              </a:spcBef>
              <a:spcAft>
                <a:spcPct val="0"/>
              </a:spcAft>
              <a:defRPr kumimoji="1" sz="2500">
                <a:solidFill>
                  <a:schemeClr val="tx1"/>
                </a:solidFill>
                <a:latin typeface="Arial" charset="0"/>
                <a:cs typeface="Arial" charset="0"/>
              </a:defRPr>
            </a:lvl7pPr>
            <a:lvl8pPr marL="3429000" indent="-228600" algn="r" eaLnBrk="0" fontAlgn="base" hangingPunct="0">
              <a:spcBef>
                <a:spcPct val="0"/>
              </a:spcBef>
              <a:spcAft>
                <a:spcPct val="0"/>
              </a:spcAft>
              <a:defRPr kumimoji="1" sz="2500">
                <a:solidFill>
                  <a:schemeClr val="tx1"/>
                </a:solidFill>
                <a:latin typeface="Arial" charset="0"/>
                <a:cs typeface="Arial" charset="0"/>
              </a:defRPr>
            </a:lvl8pPr>
            <a:lvl9pPr marL="3886200" indent="-228600" algn="r" eaLnBrk="0" fontAlgn="base" hangingPunct="0">
              <a:spcBef>
                <a:spcPct val="0"/>
              </a:spcBef>
              <a:spcAft>
                <a:spcPct val="0"/>
              </a:spcAft>
              <a:defRPr kumimoji="1" sz="2500">
                <a:solidFill>
                  <a:schemeClr val="tx1"/>
                </a:solidFill>
                <a:latin typeface="Arial" charset="0"/>
                <a:cs typeface="Arial" charset="0"/>
              </a:defRPr>
            </a:lvl9pPr>
          </a:lstStyle>
          <a:p>
            <a:fld id="{065FA746-A222-4268-85DA-36CFD72A900A}" type="slidenum">
              <a:rPr kumimoji="0" lang="en-US" sz="1200" smtClean="0">
                <a:latin typeface="Times New Roman" pitchFamily="18" charset="0"/>
              </a:rPr>
              <a:pPr/>
              <a:t>13</a:t>
            </a:fld>
            <a:endParaRPr kumimoji="0" lang="en-US" sz="1200">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marL="171450" indent="-171450" eaLnBrk="1" hangingPunct="1">
              <a:buFont typeface="Arial" panose="020B0604020202020204" pitchFamily="34" charset="0"/>
              <a:buChar char="•"/>
            </a:pPr>
            <a:r>
              <a:rPr lang="en-US" dirty="0" smtClean="0">
                <a:latin typeface="Times New Roman" pitchFamily="18" charset="0"/>
                <a:ea typeface="ＭＳ Ｐゴシック" pitchFamily="34" charset="-128"/>
              </a:rPr>
              <a:t>Electronegativity is influenced by the atomic number and</a:t>
            </a:r>
            <a:r>
              <a:rPr lang="en-US" baseline="0" dirty="0" smtClean="0">
                <a:latin typeface="Times New Roman" pitchFamily="18" charset="0"/>
                <a:ea typeface="ＭＳ Ｐゴシック" pitchFamily="34" charset="-128"/>
              </a:rPr>
              <a:t> </a:t>
            </a:r>
            <a:r>
              <a:rPr lang="en-US" dirty="0" smtClean="0">
                <a:latin typeface="Times New Roman" pitchFamily="18" charset="0"/>
                <a:ea typeface="ＭＳ Ｐゴシック" pitchFamily="34" charset="-128"/>
              </a:rPr>
              <a:t>the distance between the valence electrons and the nucleus of an atom</a:t>
            </a:r>
          </a:p>
          <a:p>
            <a:pPr marL="171450" indent="-171450" eaLnBrk="1" hangingPunct="1">
              <a:buFont typeface="Arial" panose="020B0604020202020204" pitchFamily="34" charset="0"/>
              <a:buChar char="•"/>
            </a:pPr>
            <a:r>
              <a:rPr lang="en-US" dirty="0" smtClean="0">
                <a:latin typeface="Times New Roman" pitchFamily="18" charset="0"/>
                <a:ea typeface="ＭＳ Ｐゴシック" pitchFamily="34" charset="-128"/>
              </a:rPr>
              <a:t>Electronegativity</a:t>
            </a:r>
            <a:r>
              <a:rPr lang="en-US" baseline="0" dirty="0" smtClean="0">
                <a:latin typeface="Times New Roman" pitchFamily="18" charset="0"/>
                <a:ea typeface="ＭＳ Ｐゴシック" pitchFamily="34" charset="-128"/>
              </a:rPr>
              <a:t> </a:t>
            </a:r>
            <a:r>
              <a:rPr lang="en-US" dirty="0" smtClean="0">
                <a:latin typeface="Times New Roman" pitchFamily="18" charset="0"/>
                <a:ea typeface="ＭＳ Ｐゴシック" pitchFamily="34" charset="-128"/>
              </a:rPr>
              <a:t>increases as the distance between the electrons and the nucleus decreases</a:t>
            </a:r>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287761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In a covalent bond between two atoms of the same element, the electrons are shared equally because the two atoms have the same electronegativity</a:t>
            </a:r>
            <a:r>
              <a:rPr lang="en-US" baseline="0" dirty="0" smtClean="0"/>
              <a:t> </a:t>
            </a:r>
            <a:r>
              <a:rPr lang="en-US" baseline="0" dirty="0" smtClean="0">
                <a:sym typeface="Wingdings" panose="05000000000000000000" pitchFamily="2" charset="2"/>
              </a:rPr>
              <a:t> </a:t>
            </a:r>
            <a:r>
              <a:rPr lang="en-US" dirty="0" smtClean="0"/>
              <a:t>non-polar covalent bond</a:t>
            </a:r>
          </a:p>
          <a:p>
            <a:pPr marL="171450" indent="-171450">
              <a:buFont typeface="Arial" panose="020B0604020202020204" pitchFamily="34" charset="0"/>
              <a:buChar char="•"/>
            </a:pPr>
            <a:r>
              <a:rPr lang="en-US" dirty="0" smtClean="0"/>
              <a:t>However, when an atom is bonded to a more electronegative atom, the electrons of the bond are not shared equally</a:t>
            </a:r>
            <a:r>
              <a:rPr lang="en-US" baseline="0" dirty="0" smtClean="0"/>
              <a:t> </a:t>
            </a:r>
            <a:r>
              <a:rPr lang="en-US" baseline="0" dirty="0" smtClean="0">
                <a:sym typeface="Wingdings" panose="05000000000000000000" pitchFamily="2" charset="2"/>
              </a:rPr>
              <a:t> </a:t>
            </a:r>
            <a:r>
              <a:rPr lang="en-US" dirty="0" smtClean="0"/>
              <a:t>polar covalent bond</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14</a:t>
            </a:fld>
            <a:endParaRPr lang="en-US" dirty="0"/>
          </a:p>
        </p:txBody>
      </p:sp>
    </p:spTree>
    <p:extLst>
      <p:ext uri="{BB962C8B-B14F-4D97-AF65-F5344CB8AC3E}">
        <p14:creationId xmlns:p14="http://schemas.microsoft.com/office/powerpoint/2010/main" val="4042264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Water molecule has an asymmetrical shape, with the oxygen atom positioned at a bend in the molecule, the partial charges on the atoms create an unequal</a:t>
            </a:r>
            <a:r>
              <a:rPr lang="en-US" baseline="0" dirty="0" smtClean="0"/>
              <a:t> </a:t>
            </a:r>
            <a:r>
              <a:rPr lang="en-US" dirty="0" smtClean="0"/>
              <a:t>distribution of charges on the molecule as a whole</a:t>
            </a:r>
          </a:p>
          <a:p>
            <a:pPr marL="171450" indent="-171450">
              <a:buFont typeface="Arial" panose="020B0604020202020204" pitchFamily="34" charset="0"/>
              <a:buChar char="•"/>
            </a:pPr>
            <a:r>
              <a:rPr lang="en-US" dirty="0" smtClean="0"/>
              <a:t>Carbon</a:t>
            </a:r>
            <a:r>
              <a:rPr lang="en-US" baseline="0" dirty="0" smtClean="0"/>
              <a:t> </a:t>
            </a:r>
            <a:r>
              <a:rPr lang="en-US" dirty="0" smtClean="0"/>
              <a:t>dioxide contains two double bonds with oxygen, making its three-dimensional</a:t>
            </a:r>
            <a:r>
              <a:rPr lang="en-US" baseline="0" dirty="0" smtClean="0"/>
              <a:t> </a:t>
            </a:r>
            <a:r>
              <a:rPr lang="en-US" dirty="0" smtClean="0"/>
              <a:t>arrangement appear linear</a:t>
            </a:r>
          </a:p>
          <a:p>
            <a:pPr marL="171450" indent="-171450">
              <a:buFont typeface="Arial" panose="020B0604020202020204" pitchFamily="34" charset="0"/>
              <a:buChar char="•"/>
            </a:pPr>
            <a:r>
              <a:rPr lang="en-US" dirty="0" smtClean="0"/>
              <a:t>The bonds are polar, but the symmetry of the molecule results in a balanced distribution of the </a:t>
            </a:r>
            <a:r>
              <a:rPr lang="en-US" dirty="0" smtClean="0"/>
              <a:t>charges</a:t>
            </a:r>
            <a:r>
              <a:rPr lang="en-US" baseline="0" dirty="0" smtClean="0"/>
              <a:t> </a:t>
            </a:r>
            <a:r>
              <a:rPr lang="en-US" baseline="0" dirty="0" smtClean="0">
                <a:sym typeface="Wingdings" panose="05000000000000000000" pitchFamily="2" charset="2"/>
              </a:rPr>
              <a:t> o</a:t>
            </a:r>
            <a:r>
              <a:rPr lang="en-US" dirty="0" smtClean="0"/>
              <a:t>verall</a:t>
            </a:r>
            <a:r>
              <a:rPr lang="en-US" dirty="0" smtClean="0"/>
              <a:t>, the molecule is non-polar</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16</a:t>
            </a:fld>
            <a:endParaRPr lang="en-US" dirty="0"/>
          </a:p>
        </p:txBody>
      </p:sp>
    </p:spTree>
    <p:extLst>
      <p:ext uri="{BB962C8B-B14F-4D97-AF65-F5344CB8AC3E}">
        <p14:creationId xmlns:p14="http://schemas.microsoft.com/office/powerpoint/2010/main" val="1496760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F,</a:t>
            </a:r>
            <a:r>
              <a:rPr lang="en-US" baseline="0" dirty="0" smtClean="0"/>
              <a:t> O, and N = very electronegative 4.0, 3.4, and 3.0</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18</a:t>
            </a:fld>
            <a:endParaRPr lang="en-US" dirty="0"/>
          </a:p>
        </p:txBody>
      </p:sp>
    </p:spTree>
    <p:extLst>
      <p:ext uri="{BB962C8B-B14F-4D97-AF65-F5344CB8AC3E}">
        <p14:creationId xmlns:p14="http://schemas.microsoft.com/office/powerpoint/2010/main" val="1908570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20</a:t>
            </a:fld>
            <a:endParaRPr lang="en-US" dirty="0"/>
          </a:p>
        </p:txBody>
      </p:sp>
    </p:spTree>
    <p:extLst>
      <p:ext uri="{BB962C8B-B14F-4D97-AF65-F5344CB8AC3E}">
        <p14:creationId xmlns:p14="http://schemas.microsoft.com/office/powerpoint/2010/main" val="1274788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Dipole: when 2 electrical</a:t>
            </a:r>
            <a:r>
              <a:rPr lang="en-US" baseline="0" dirty="0" smtClean="0"/>
              <a:t> charges, of opposite sign, are separated by a distance</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21</a:t>
            </a:fld>
            <a:endParaRPr lang="en-US" dirty="0"/>
          </a:p>
        </p:txBody>
      </p:sp>
    </p:spTree>
    <p:extLst>
      <p:ext uri="{BB962C8B-B14F-4D97-AF65-F5344CB8AC3E}">
        <p14:creationId xmlns:p14="http://schemas.microsoft.com/office/powerpoint/2010/main" val="4275023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Electrons are not always evenly distributed; at any instant, they may accumulate by chance in one part of a molecule or another.</a:t>
            </a:r>
          </a:p>
          <a:p>
            <a:pPr marL="171450" indent="-171450">
              <a:buFont typeface="Arial" panose="020B0604020202020204" pitchFamily="34" charset="0"/>
              <a:buChar char="•"/>
            </a:pPr>
            <a:r>
              <a:rPr lang="en-US" dirty="0" smtClean="0"/>
              <a:t>The results are ever-changing regions of positive and negative charge that enable all atoms and molecules to stick to one another.</a:t>
            </a:r>
          </a:p>
          <a:p>
            <a:pPr marL="171450" indent="-171450">
              <a:buFont typeface="Arial" panose="020B0604020202020204" pitchFamily="34" charset="0"/>
              <a:buChar char="•"/>
            </a:pPr>
            <a:r>
              <a:rPr lang="en-US" dirty="0" smtClean="0"/>
              <a:t>Electrons </a:t>
            </a:r>
            <a:r>
              <a:rPr lang="en-US" dirty="0" smtClean="0"/>
              <a:t>are always</a:t>
            </a:r>
            <a:r>
              <a:rPr lang="en-US" baseline="0" dirty="0" smtClean="0"/>
              <a:t> in motion, so at a given time, more electrons are on one side and the electron cloud is distorted “polarized” – forming a temporary dipole – asymmetrical distribution of </a:t>
            </a:r>
            <a:r>
              <a:rPr lang="en-US" baseline="0" dirty="0" smtClean="0"/>
              <a:t>electrons.</a:t>
            </a:r>
            <a:endParaRPr lang="en-US" baseline="0" dirty="0" smtClean="0"/>
          </a:p>
          <a:p>
            <a:pPr marL="171450" indent="-171450">
              <a:buFont typeface="Arial" panose="020B0604020202020204" pitchFamily="34" charset="0"/>
              <a:buChar char="•"/>
            </a:pPr>
            <a:r>
              <a:rPr lang="en-US" baseline="0" dirty="0" smtClean="0"/>
              <a:t>More electrons </a:t>
            </a:r>
            <a:r>
              <a:rPr lang="en-US" baseline="0" dirty="0" smtClean="0">
                <a:sym typeface="Wingdings" panose="05000000000000000000" pitchFamily="2" charset="2"/>
              </a:rPr>
              <a:t> greater molecular weight  greater amount of LDF  greater boiling point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sym typeface="Wingdings" panose="05000000000000000000" pitchFamily="2" charset="2"/>
              </a:rPr>
              <a:t>The size and the shape of a molecule influences the number and total strength of van der Waals forces of attraction </a:t>
            </a:r>
            <a:endParaRPr lang="en-US" dirty="0" smtClean="0"/>
          </a:p>
        </p:txBody>
      </p:sp>
      <p:sp>
        <p:nvSpPr>
          <p:cNvPr id="4" name="Slide Number Placeholder 3"/>
          <p:cNvSpPr>
            <a:spLocks noGrp="1"/>
          </p:cNvSpPr>
          <p:nvPr>
            <p:ph type="sldNum" sz="quarter" idx="10"/>
          </p:nvPr>
        </p:nvSpPr>
        <p:spPr/>
        <p:txBody>
          <a:bodyPr/>
          <a:lstStyle/>
          <a:p>
            <a:fld id="{59B95E6C-1521-6645-A89B-0D424B85A347}" type="slidenum">
              <a:rPr lang="en-US" smtClean="0"/>
              <a:t>22</a:t>
            </a:fld>
            <a:endParaRPr lang="en-US" dirty="0"/>
          </a:p>
        </p:txBody>
      </p:sp>
    </p:spTree>
    <p:extLst>
      <p:ext uri="{BB962C8B-B14F-4D97-AF65-F5344CB8AC3E}">
        <p14:creationId xmlns:p14="http://schemas.microsoft.com/office/powerpoint/2010/main" val="3030428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defRPr kumimoji="1" sz="2500">
                <a:solidFill>
                  <a:schemeClr val="tx1"/>
                </a:solidFill>
                <a:latin typeface="Arial" charset="0"/>
                <a:cs typeface="Arial" charset="0"/>
              </a:defRPr>
            </a:lvl1pPr>
            <a:lvl2pPr marL="742950" indent="-285750">
              <a:defRPr kumimoji="1" sz="2500">
                <a:solidFill>
                  <a:schemeClr val="tx1"/>
                </a:solidFill>
                <a:latin typeface="Arial" charset="0"/>
                <a:cs typeface="Arial" charset="0"/>
              </a:defRPr>
            </a:lvl2pPr>
            <a:lvl3pPr marL="1143000" indent="-228600">
              <a:defRPr kumimoji="1" sz="2500">
                <a:solidFill>
                  <a:schemeClr val="tx1"/>
                </a:solidFill>
                <a:latin typeface="Arial" charset="0"/>
                <a:cs typeface="Arial" charset="0"/>
              </a:defRPr>
            </a:lvl3pPr>
            <a:lvl4pPr marL="1600200" indent="-228600">
              <a:defRPr kumimoji="1" sz="2500">
                <a:solidFill>
                  <a:schemeClr val="tx1"/>
                </a:solidFill>
                <a:latin typeface="Arial" charset="0"/>
                <a:cs typeface="Arial" charset="0"/>
              </a:defRPr>
            </a:lvl4pPr>
            <a:lvl5pPr marL="2057400" indent="-228600">
              <a:defRPr kumimoji="1" sz="2500">
                <a:solidFill>
                  <a:schemeClr val="tx1"/>
                </a:solidFill>
                <a:latin typeface="Arial" charset="0"/>
                <a:cs typeface="Arial" charset="0"/>
              </a:defRPr>
            </a:lvl5pPr>
            <a:lvl6pPr marL="2514600" indent="-228600" algn="r" eaLnBrk="0" fontAlgn="base" hangingPunct="0">
              <a:spcBef>
                <a:spcPct val="0"/>
              </a:spcBef>
              <a:spcAft>
                <a:spcPct val="0"/>
              </a:spcAft>
              <a:defRPr kumimoji="1" sz="2500">
                <a:solidFill>
                  <a:schemeClr val="tx1"/>
                </a:solidFill>
                <a:latin typeface="Arial" charset="0"/>
                <a:cs typeface="Arial" charset="0"/>
              </a:defRPr>
            </a:lvl6pPr>
            <a:lvl7pPr marL="2971800" indent="-228600" algn="r" eaLnBrk="0" fontAlgn="base" hangingPunct="0">
              <a:spcBef>
                <a:spcPct val="0"/>
              </a:spcBef>
              <a:spcAft>
                <a:spcPct val="0"/>
              </a:spcAft>
              <a:defRPr kumimoji="1" sz="2500">
                <a:solidFill>
                  <a:schemeClr val="tx1"/>
                </a:solidFill>
                <a:latin typeface="Arial" charset="0"/>
                <a:cs typeface="Arial" charset="0"/>
              </a:defRPr>
            </a:lvl7pPr>
            <a:lvl8pPr marL="3429000" indent="-228600" algn="r" eaLnBrk="0" fontAlgn="base" hangingPunct="0">
              <a:spcBef>
                <a:spcPct val="0"/>
              </a:spcBef>
              <a:spcAft>
                <a:spcPct val="0"/>
              </a:spcAft>
              <a:defRPr kumimoji="1" sz="2500">
                <a:solidFill>
                  <a:schemeClr val="tx1"/>
                </a:solidFill>
                <a:latin typeface="Arial" charset="0"/>
                <a:cs typeface="Arial" charset="0"/>
              </a:defRPr>
            </a:lvl8pPr>
            <a:lvl9pPr marL="3886200" indent="-228600" algn="r" eaLnBrk="0" fontAlgn="base" hangingPunct="0">
              <a:spcBef>
                <a:spcPct val="0"/>
              </a:spcBef>
              <a:spcAft>
                <a:spcPct val="0"/>
              </a:spcAft>
              <a:defRPr kumimoji="1" sz="2500">
                <a:solidFill>
                  <a:schemeClr val="tx1"/>
                </a:solidFill>
                <a:latin typeface="Arial" charset="0"/>
                <a:cs typeface="Arial" charset="0"/>
              </a:defRPr>
            </a:lvl9pPr>
          </a:lstStyle>
          <a:p>
            <a:fld id="{8F3D7BD6-C8D6-4A88-B2C4-8EC32662EE18}" type="slidenum">
              <a:rPr kumimoji="0" lang="en-US" sz="1200" smtClean="0">
                <a:latin typeface="Times New Roman" pitchFamily="18" charset="0"/>
              </a:rPr>
              <a:pPr/>
              <a:t>23</a:t>
            </a:fld>
            <a:endParaRPr kumimoji="0" lang="en-US" sz="1200">
              <a:latin typeface="Times New Roman"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marL="171450" indent="-171450" eaLnBrk="1" hangingPunct="1">
              <a:buFont typeface="Arial" panose="020B0604020202020204" pitchFamily="34" charset="0"/>
              <a:buChar char="•"/>
            </a:pPr>
            <a:r>
              <a:rPr lang="en-US" baseline="0" dirty="0" smtClean="0">
                <a:latin typeface="Times New Roman" pitchFamily="18" charset="0"/>
                <a:ea typeface="ＭＳ Ｐゴシック" pitchFamily="34" charset="-128"/>
              </a:rPr>
              <a:t>The strength of the ion-dipole force is proportionate to </a:t>
            </a:r>
            <a:r>
              <a:rPr lang="en-US" baseline="0" smtClean="0">
                <a:latin typeface="Times New Roman" pitchFamily="18" charset="0"/>
                <a:ea typeface="ＭＳ Ｐゴシック" pitchFamily="34" charset="-128"/>
              </a:rPr>
              <a:t>ion </a:t>
            </a:r>
            <a:r>
              <a:rPr lang="en-US" baseline="0" smtClean="0">
                <a:latin typeface="Times New Roman" pitchFamily="18" charset="0"/>
                <a:ea typeface="ＭＳ Ｐゴシック" pitchFamily="34" charset="-128"/>
              </a:rPr>
              <a:t>charge.</a:t>
            </a:r>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847607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The van der Waals interactions between the foot molecules and the molecules of the wall’s surface are so numerous that despite their individual weakness, together they can support the gecko’s body weight.</a:t>
            </a:r>
          </a:p>
          <a:p>
            <a:pPr marL="171450" indent="-171450">
              <a:buFont typeface="Arial" panose="020B0604020202020204" pitchFamily="34" charset="0"/>
              <a:buChar char="•"/>
            </a:pPr>
            <a:r>
              <a:rPr lang="en-US" dirty="0" smtClean="0"/>
              <a:t>This discovery has inspired development of an artificial adhesive called </a:t>
            </a:r>
            <a:r>
              <a:rPr lang="en-US" dirty="0" err="1" smtClean="0"/>
              <a:t>Geckskin</a:t>
            </a:r>
            <a:r>
              <a:rPr lang="en-US" dirty="0" smtClean="0"/>
              <a:t>: A patch the size of an index card can hold a 700-pound weight to a wall! </a:t>
            </a:r>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24</a:t>
            </a:fld>
            <a:endParaRPr lang="en-US" dirty="0"/>
          </a:p>
        </p:txBody>
      </p:sp>
    </p:spTree>
    <p:extLst>
      <p:ext uri="{BB962C8B-B14F-4D97-AF65-F5344CB8AC3E}">
        <p14:creationId xmlns:p14="http://schemas.microsoft.com/office/powerpoint/2010/main" val="1633940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B95E6C-1521-6645-A89B-0D424B85A347}" type="slidenum">
              <a:rPr lang="en-US" smtClean="0"/>
              <a:t>25</a:t>
            </a:fld>
            <a:endParaRPr lang="en-US" dirty="0"/>
          </a:p>
        </p:txBody>
      </p:sp>
    </p:spTree>
    <p:extLst>
      <p:ext uri="{BB962C8B-B14F-4D97-AF65-F5344CB8AC3E}">
        <p14:creationId xmlns:p14="http://schemas.microsoft.com/office/powerpoint/2010/main" val="1627300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5.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8.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3.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ED105B8-FA74-BFE4-E87B-952F8C9E1878}"/>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5180284">
            <a:off x="8925362" y="-797841"/>
            <a:ext cx="2185022" cy="4033887"/>
          </a:xfrm>
          <a:prstGeom prst="rect">
            <a:avLst/>
          </a:prstGeom>
        </p:spPr>
      </p:pic>
      <p:pic>
        <p:nvPicPr>
          <p:cNvPr id="5" name="Graphic 4">
            <a:extLst>
              <a:ext uri="{FF2B5EF4-FFF2-40B4-BE49-F238E27FC236}">
                <a16:creationId xmlns:a16="http://schemas.microsoft.com/office/drawing/2014/main" id="{350CAB61-2CE4-1544-7C29-56035B106E3B}"/>
              </a:ext>
              <a:ext uri="{C183D7F6-B498-43B3-948B-1728B52AA6E4}">
                <adec:decorative xmlns=""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flipH="1">
            <a:off x="667816" y="151458"/>
            <a:ext cx="4696585" cy="6883545"/>
          </a:xfrm>
          <a:prstGeom prst="rect">
            <a:avLst/>
          </a:prstGeom>
        </p:spPr>
      </p:pic>
      <p:sp>
        <p:nvSpPr>
          <p:cNvPr id="6" name="Rounded Rectangle 5">
            <a:extLst>
              <a:ext uri="{FF2B5EF4-FFF2-40B4-BE49-F238E27FC236}">
                <a16:creationId xmlns:a16="http://schemas.microsoft.com/office/drawing/2014/main" id="{F7F0F132-0A38-0910-9F59-FD05608FD910}"/>
              </a:ext>
              <a:ext uri="{C183D7F6-B498-43B3-948B-1728B52AA6E4}">
                <adec:decorative xmlns="" xmlns:adec="http://schemas.microsoft.com/office/drawing/2017/decorative" val="1"/>
              </a:ext>
            </a:extLst>
          </p:cNvPr>
          <p:cNvSpPr/>
          <p:nvPr userDrawn="1"/>
        </p:nvSpPr>
        <p:spPr>
          <a:xfrm>
            <a:off x="8928728" y="4744937"/>
            <a:ext cx="1576388" cy="1572768"/>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19">
            <a:extLst>
              <a:ext uri="{FF2B5EF4-FFF2-40B4-BE49-F238E27FC236}">
                <a16:creationId xmlns:a16="http://schemas.microsoft.com/office/drawing/2014/main" id="{0EB495D4-165D-1D97-941A-DF6328D17FEF}"/>
              </a:ext>
              <a:ext uri="{C183D7F6-B498-43B3-948B-1728B52AA6E4}">
                <adec:decorative xmlns="" xmlns:adec="http://schemas.microsoft.com/office/drawing/2017/decorative" val="1"/>
              </a:ext>
            </a:extLst>
          </p:cNvPr>
          <p:cNvSpPr/>
          <p:nvPr userDrawn="1"/>
        </p:nvSpPr>
        <p:spPr>
          <a:xfrm rot="2700000">
            <a:off x="3145265" y="-755509"/>
            <a:ext cx="3647766" cy="10430735"/>
          </a:xfrm>
          <a:custGeom>
            <a:avLst/>
            <a:gdLst>
              <a:gd name="connsiteX0" fmla="*/ 534203 w 3647766"/>
              <a:gd name="connsiteY0" fmla="*/ 534203 h 10430735"/>
              <a:gd name="connsiteX1" fmla="*/ 1823883 w 3647766"/>
              <a:gd name="connsiteY1" fmla="*/ 0 h 10430735"/>
              <a:gd name="connsiteX2" fmla="*/ 3647766 w 3647766"/>
              <a:gd name="connsiteY2" fmla="*/ 1823883 h 10430735"/>
              <a:gd name="connsiteX3" fmla="*/ 3647766 w 3647766"/>
              <a:gd name="connsiteY3" fmla="*/ 6782970 h 10430735"/>
              <a:gd name="connsiteX4" fmla="*/ 0 w 3647766"/>
              <a:gd name="connsiteY4" fmla="*/ 10430735 h 10430735"/>
              <a:gd name="connsiteX5" fmla="*/ 0 w 3647766"/>
              <a:gd name="connsiteY5" fmla="*/ 1823883 h 10430735"/>
              <a:gd name="connsiteX6" fmla="*/ 534203 w 3647766"/>
              <a:gd name="connsiteY6" fmla="*/ 534203 h 10430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47766" h="10430735">
                <a:moveTo>
                  <a:pt x="534203" y="534203"/>
                </a:moveTo>
                <a:cubicBezTo>
                  <a:pt x="864261" y="204145"/>
                  <a:pt x="1320232" y="0"/>
                  <a:pt x="1823883" y="0"/>
                </a:cubicBezTo>
                <a:cubicBezTo>
                  <a:pt x="2831186" y="0"/>
                  <a:pt x="3647766" y="816580"/>
                  <a:pt x="3647766" y="1823883"/>
                </a:cubicBezTo>
                <a:lnTo>
                  <a:pt x="3647766" y="6782970"/>
                </a:lnTo>
                <a:lnTo>
                  <a:pt x="0" y="10430735"/>
                </a:lnTo>
                <a:lnTo>
                  <a:pt x="0" y="1823883"/>
                </a:lnTo>
                <a:cubicBezTo>
                  <a:pt x="0" y="1320232"/>
                  <a:pt x="204145" y="864261"/>
                  <a:pt x="534203" y="53420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FEC3CAC6-583F-07D1-4F38-5C4AFAA6D248}"/>
              </a:ext>
              <a:ext uri="{C183D7F6-B498-43B3-948B-1728B52AA6E4}">
                <adec:decorative xmlns="" xmlns:adec="http://schemas.microsoft.com/office/drawing/2017/decorative" val="1"/>
              </a:ext>
            </a:extLst>
          </p:cNvPr>
          <p:cNvSpPr/>
          <p:nvPr userDrawn="1"/>
        </p:nvSpPr>
        <p:spPr>
          <a:xfrm rot="2700000">
            <a:off x="-226263" y="3580387"/>
            <a:ext cx="1576388" cy="3165770"/>
          </a:xfrm>
          <a:custGeom>
            <a:avLst/>
            <a:gdLst>
              <a:gd name="connsiteX0" fmla="*/ 230857 w 1576388"/>
              <a:gd name="connsiteY0" fmla="*/ 230857 h 3165770"/>
              <a:gd name="connsiteX1" fmla="*/ 788194 w 1576388"/>
              <a:gd name="connsiteY1" fmla="*/ 0 h 3165770"/>
              <a:gd name="connsiteX2" fmla="*/ 1576388 w 1576388"/>
              <a:gd name="connsiteY2" fmla="*/ 788194 h 3165770"/>
              <a:gd name="connsiteX3" fmla="*/ 1576388 w 1576388"/>
              <a:gd name="connsiteY3" fmla="*/ 3165770 h 3165770"/>
              <a:gd name="connsiteX4" fmla="*/ 0 w 1576388"/>
              <a:gd name="connsiteY4" fmla="*/ 1589383 h 3165770"/>
              <a:gd name="connsiteX5" fmla="*/ 0 w 1576388"/>
              <a:gd name="connsiteY5" fmla="*/ 788194 h 3165770"/>
              <a:gd name="connsiteX6" fmla="*/ 230857 w 1576388"/>
              <a:gd name="connsiteY6" fmla="*/ 230857 h 316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388" h="3165770">
                <a:moveTo>
                  <a:pt x="230857" y="230857"/>
                </a:moveTo>
                <a:cubicBezTo>
                  <a:pt x="373492" y="88222"/>
                  <a:pt x="570540" y="0"/>
                  <a:pt x="788194" y="0"/>
                </a:cubicBezTo>
                <a:cubicBezTo>
                  <a:pt x="1223502" y="0"/>
                  <a:pt x="1576388" y="352886"/>
                  <a:pt x="1576388" y="788194"/>
                </a:cubicBezTo>
                <a:lnTo>
                  <a:pt x="1576388" y="3165770"/>
                </a:lnTo>
                <a:lnTo>
                  <a:pt x="0" y="1589383"/>
                </a:lnTo>
                <a:lnTo>
                  <a:pt x="0" y="788194"/>
                </a:lnTo>
                <a:cubicBezTo>
                  <a:pt x="0" y="570540"/>
                  <a:pt x="88222" y="373492"/>
                  <a:pt x="230857" y="230857"/>
                </a:cubicBezTo>
                <a:close/>
              </a:path>
            </a:pathLst>
          </a:cu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Rounded Rectangle 15">
            <a:extLst>
              <a:ext uri="{FF2B5EF4-FFF2-40B4-BE49-F238E27FC236}">
                <a16:creationId xmlns:a16="http://schemas.microsoft.com/office/drawing/2014/main" id="{A8EE820E-E5BD-B48E-CD48-33690FF1E30B}"/>
              </a:ext>
              <a:ext uri="{C183D7F6-B498-43B3-948B-1728B52AA6E4}">
                <adec:decorative xmlns="" xmlns:adec="http://schemas.microsoft.com/office/drawing/2017/decorative" val="1"/>
              </a:ext>
            </a:extLst>
          </p:cNvPr>
          <p:cNvSpPr/>
          <p:nvPr userDrawn="1"/>
        </p:nvSpPr>
        <p:spPr>
          <a:xfrm>
            <a:off x="4122835" y="315152"/>
            <a:ext cx="906031" cy="903950"/>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30286" y="1221103"/>
            <a:ext cx="5428878" cy="4415795"/>
          </a:xfrm>
        </p:spPr>
        <p:txBody>
          <a:bodyPr anchor="ctr">
            <a:normAutofit/>
          </a:bodyPr>
          <a:lstStyle>
            <a:lvl1pPr algn="l">
              <a:lnSpc>
                <a:spcPct val="100000"/>
              </a:lnSpc>
              <a:defRPr sz="5400" b="1" cap="all" baseline="0"/>
            </a:lvl1pPr>
          </a:lstStyle>
          <a:p>
            <a:r>
              <a:rPr lang="en-US" dirty="0"/>
              <a:t>Click to add title</a:t>
            </a:r>
          </a:p>
        </p:txBody>
      </p:sp>
      <p:sp>
        <p:nvSpPr>
          <p:cNvPr id="14" name="Picture Placeholder 13">
            <a:extLst>
              <a:ext uri="{FF2B5EF4-FFF2-40B4-BE49-F238E27FC236}">
                <a16:creationId xmlns:a16="http://schemas.microsoft.com/office/drawing/2014/main" id="{1F678F28-657B-EB5D-2122-E904530003C6}"/>
              </a:ext>
            </a:extLst>
          </p:cNvPr>
          <p:cNvSpPr>
            <a:spLocks noGrp="1"/>
          </p:cNvSpPr>
          <p:nvPr>
            <p:ph type="pic" sz="quarter" idx="10" hasCustomPrompt="1"/>
          </p:nvPr>
        </p:nvSpPr>
        <p:spPr>
          <a:xfrm>
            <a:off x="6500366" y="1112107"/>
            <a:ext cx="4617720" cy="4617720"/>
          </a:xfrm>
          <a:prstGeom prst="ellipse">
            <a:avLst/>
          </a:prstGeom>
          <a:noFill/>
        </p:spPr>
        <p:txBody>
          <a:bodyPr>
            <a:normAutofit/>
          </a:bodyPr>
          <a:lstStyle>
            <a:lvl1pPr marL="0" indent="0" algn="ctr">
              <a:buNone/>
              <a:defRPr sz="2000"/>
            </a:lvl1pPr>
          </a:lstStyle>
          <a:p>
            <a:r>
              <a:rPr lang="en-US" dirty="0"/>
              <a:t>Click icon to add picture </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959CC860-7AD2-181E-8740-F1A23EEF8BDC}"/>
              </a:ext>
              <a:ext uri="{C183D7F6-B498-43B3-948B-1728B52AA6E4}">
                <adec:decorative xmlns="" xmlns:adec="http://schemas.microsoft.com/office/drawing/2017/decorative" val="1"/>
              </a:ext>
            </a:extLst>
          </p:cNvPr>
          <p:cNvSpPr/>
          <p:nvPr userDrawn="1"/>
        </p:nvSpPr>
        <p:spPr>
          <a:xfrm>
            <a:off x="4951533" y="4056446"/>
            <a:ext cx="2496416" cy="2490682"/>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7281C8DE-1CE0-D1C2-FDF9-18B9C3D69E28}"/>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b="41026"/>
          <a:stretch/>
        </p:blipFill>
        <p:spPr>
          <a:xfrm>
            <a:off x="8045068" y="3116724"/>
            <a:ext cx="4328419" cy="3741276"/>
          </a:xfrm>
          <a:prstGeom prst="rect">
            <a:avLst/>
          </a:prstGeom>
        </p:spPr>
      </p:pic>
      <p:sp>
        <p:nvSpPr>
          <p:cNvPr id="16" name="Rounded Rectangle 14">
            <a:extLst>
              <a:ext uri="{FF2B5EF4-FFF2-40B4-BE49-F238E27FC236}">
                <a16:creationId xmlns:a16="http://schemas.microsoft.com/office/drawing/2014/main" id="{F2CFC212-BD96-550A-AC95-A514C6417141}"/>
              </a:ext>
              <a:ext uri="{C183D7F6-B498-43B3-948B-1728B52AA6E4}">
                <adec:decorative xmlns="" xmlns:adec="http://schemas.microsoft.com/office/drawing/2017/decorative" val="1"/>
              </a:ext>
            </a:extLst>
          </p:cNvPr>
          <p:cNvSpPr/>
          <p:nvPr userDrawn="1"/>
        </p:nvSpPr>
        <p:spPr>
          <a:xfrm>
            <a:off x="512510" y="4485800"/>
            <a:ext cx="1387442" cy="1384255"/>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15">
            <a:extLst>
              <a:ext uri="{FF2B5EF4-FFF2-40B4-BE49-F238E27FC236}">
                <a16:creationId xmlns:a16="http://schemas.microsoft.com/office/drawing/2014/main" id="{F99AEEAC-FF4A-0E33-26A8-2D963A6BAC0D}"/>
              </a:ext>
              <a:ext uri="{C183D7F6-B498-43B3-948B-1728B52AA6E4}">
                <adec:decorative xmlns="" xmlns:adec="http://schemas.microsoft.com/office/drawing/2017/decorative" val="1"/>
              </a:ext>
            </a:extLst>
          </p:cNvPr>
          <p:cNvSpPr/>
          <p:nvPr userDrawn="1"/>
        </p:nvSpPr>
        <p:spPr>
          <a:xfrm>
            <a:off x="2862900" y="3712319"/>
            <a:ext cx="3059474" cy="3145681"/>
          </a:xfrm>
          <a:custGeom>
            <a:avLst/>
            <a:gdLst>
              <a:gd name="connsiteX0" fmla="*/ 2216294 w 3059474"/>
              <a:gd name="connsiteY0" fmla="*/ 1963 h 3145681"/>
              <a:gd name="connsiteX1" fmla="*/ 2665245 w 3059474"/>
              <a:gd name="connsiteY1" fmla="*/ 105730 h 3145681"/>
              <a:gd name="connsiteX2" fmla="*/ 2953745 w 3059474"/>
              <a:gd name="connsiteY2" fmla="*/ 1182423 h 3145681"/>
              <a:gd name="connsiteX3" fmla="*/ 1820257 w 3059474"/>
              <a:gd name="connsiteY3" fmla="*/ 3145681 h 3145681"/>
              <a:gd name="connsiteX4" fmla="*/ 0 w 3059474"/>
              <a:gd name="connsiteY4" fmla="*/ 3145681 h 3145681"/>
              <a:gd name="connsiteX5" fmla="*/ 1588552 w 3059474"/>
              <a:gd name="connsiteY5" fmla="*/ 394229 h 3145681"/>
              <a:gd name="connsiteX6" fmla="*/ 2216294 w 3059474"/>
              <a:gd name="connsiteY6" fmla="*/ 1963 h 31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474" h="3145681">
                <a:moveTo>
                  <a:pt x="2216294" y="1963"/>
                </a:moveTo>
                <a:cubicBezTo>
                  <a:pt x="2367730" y="-8739"/>
                  <a:pt x="2523875" y="24110"/>
                  <a:pt x="2665245" y="105730"/>
                </a:cubicBezTo>
                <a:cubicBezTo>
                  <a:pt x="3042233" y="323384"/>
                  <a:pt x="3171399" y="805435"/>
                  <a:pt x="2953745" y="1182423"/>
                </a:cubicBezTo>
                <a:lnTo>
                  <a:pt x="1820257" y="3145681"/>
                </a:lnTo>
                <a:lnTo>
                  <a:pt x="0" y="3145681"/>
                </a:lnTo>
                <a:lnTo>
                  <a:pt x="1588552" y="394229"/>
                </a:lnTo>
                <a:cubicBezTo>
                  <a:pt x="1724586" y="158612"/>
                  <a:pt x="1963900" y="19800"/>
                  <a:pt x="2216294" y="196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6643512" y="34509"/>
            <a:ext cx="4042719" cy="2771343"/>
          </a:xfrm>
        </p:spPr>
        <p:txBody>
          <a:bodyPr anchor="b">
            <a:noAutofit/>
          </a:bodyPr>
          <a:lstStyle>
            <a:lvl1pPr algn="ctr">
              <a:lnSpc>
                <a:spcPct val="100000"/>
              </a:lnSpc>
              <a:defRPr sz="3600" b="1" cap="all" baseline="0"/>
            </a:lvl1pPr>
          </a:lstStyle>
          <a:p>
            <a:endParaRPr lang="en-US" dirty="0"/>
          </a:p>
        </p:txBody>
      </p:sp>
      <p:sp>
        <p:nvSpPr>
          <p:cNvPr id="41" name="Picture Placeholder 40">
            <a:extLst>
              <a:ext uri="{FF2B5EF4-FFF2-40B4-BE49-F238E27FC236}">
                <a16:creationId xmlns:a16="http://schemas.microsoft.com/office/drawing/2014/main" id="{397632CB-D12B-61D5-AE6C-29B888CF5189}"/>
              </a:ext>
            </a:extLst>
          </p:cNvPr>
          <p:cNvSpPr>
            <a:spLocks noGrp="1"/>
          </p:cNvSpPr>
          <p:nvPr>
            <p:ph type="pic" sz="quarter" idx="11" hasCustomPrompt="1"/>
          </p:nvPr>
        </p:nvSpPr>
        <p:spPr>
          <a:xfrm>
            <a:off x="1021742" y="0"/>
            <a:ext cx="5455978" cy="4833388"/>
          </a:xfrm>
          <a:custGeom>
            <a:avLst/>
            <a:gdLst>
              <a:gd name="connsiteX0" fmla="*/ 5053562 w 5455978"/>
              <a:gd name="connsiteY0" fmla="*/ 697005 h 4833388"/>
              <a:gd name="connsiteX1" fmla="*/ 4555554 w 5455978"/>
              <a:gd name="connsiteY1" fmla="*/ 1559581 h 4833388"/>
              <a:gd name="connsiteX2" fmla="*/ 4520518 w 5455978"/>
              <a:gd name="connsiteY2" fmla="*/ 1446747 h 4833388"/>
              <a:gd name="connsiteX3" fmla="*/ 4507691 w 5455978"/>
              <a:gd name="connsiteY3" fmla="*/ 1319547 h 4833388"/>
              <a:gd name="connsiteX4" fmla="*/ 5011792 w 5455978"/>
              <a:gd name="connsiteY4" fmla="*/ 701215 h 4833388"/>
              <a:gd name="connsiteX5" fmla="*/ 1553707 w 5455978"/>
              <a:gd name="connsiteY5" fmla="*/ 0 h 4833388"/>
              <a:gd name="connsiteX6" fmla="*/ 5455978 w 5455978"/>
              <a:gd name="connsiteY6" fmla="*/ 0 h 4833388"/>
              <a:gd name="connsiteX7" fmla="*/ 5100963 w 5455978"/>
              <a:gd name="connsiteY7" fmla="*/ 614906 h 4833388"/>
              <a:gd name="connsiteX8" fmla="*/ 4996209 w 5455978"/>
              <a:gd name="connsiteY8" fmla="*/ 625463 h 4833388"/>
              <a:gd name="connsiteX9" fmla="*/ 4430368 w 5455978"/>
              <a:gd name="connsiteY9" fmla="*/ 1319547 h 4833388"/>
              <a:gd name="connsiteX10" fmla="*/ 4486058 w 5455978"/>
              <a:gd name="connsiteY10" fmla="*/ 1595319 h 4833388"/>
              <a:gd name="connsiteX11" fmla="*/ 4509739 w 5455978"/>
              <a:gd name="connsiteY11" fmla="*/ 1638936 h 4833388"/>
              <a:gd name="connsiteX12" fmla="*/ 3153367 w 5455978"/>
              <a:gd name="connsiteY12" fmla="*/ 3988240 h 4833388"/>
              <a:gd name="connsiteX13" fmla="*/ 845150 w 5455978"/>
              <a:gd name="connsiteY13" fmla="*/ 4606725 h 4833388"/>
              <a:gd name="connsiteX14" fmla="*/ 226664 w 5455978"/>
              <a:gd name="connsiteY14" fmla="*/ 2298507 h 4833388"/>
              <a:gd name="connsiteX15" fmla="*/ 329235 w 5455978"/>
              <a:gd name="connsiteY15" fmla="*/ 2120849 h 4833388"/>
              <a:gd name="connsiteX16" fmla="*/ 371252 w 5455978"/>
              <a:gd name="connsiteY16" fmla="*/ 2229458 h 4833388"/>
              <a:gd name="connsiteX17" fmla="*/ 559552 w 5455978"/>
              <a:gd name="connsiteY17" fmla="*/ 2626762 h 4833388"/>
              <a:gd name="connsiteX18" fmla="*/ 957839 w 5455978"/>
              <a:gd name="connsiteY18" fmla="*/ 2993841 h 4833388"/>
              <a:gd name="connsiteX19" fmla="*/ 995878 w 5455978"/>
              <a:gd name="connsiteY19" fmla="*/ 3008734 h 4833388"/>
              <a:gd name="connsiteX20" fmla="*/ 1019279 w 5455978"/>
              <a:gd name="connsiteY20" fmla="*/ 2937771 h 4833388"/>
              <a:gd name="connsiteX21" fmla="*/ 626913 w 5455978"/>
              <a:gd name="connsiteY21" fmla="*/ 1958089 h 4833388"/>
              <a:gd name="connsiteX22" fmla="*/ 521718 w 5455978"/>
              <a:gd name="connsiteY22" fmla="*/ 1853095 h 4833388"/>
              <a:gd name="connsiteX23" fmla="*/ 497773 w 5455978"/>
              <a:gd name="connsiteY23" fmla="*/ 1828933 h 4833388"/>
              <a:gd name="connsiteX24" fmla="*/ 723060 w 5455978"/>
              <a:gd name="connsiteY24" fmla="*/ 1438724 h 4833388"/>
              <a:gd name="connsiteX25" fmla="*/ 730945 w 5455978"/>
              <a:gd name="connsiteY25" fmla="*/ 1446043 h 4833388"/>
              <a:gd name="connsiteX26" fmla="*/ 813264 w 5455978"/>
              <a:gd name="connsiteY26" fmla="*/ 1496390 h 4833388"/>
              <a:gd name="connsiteX27" fmla="*/ 1064353 w 5455978"/>
              <a:gd name="connsiteY27" fmla="*/ 1518729 h 4833388"/>
              <a:gd name="connsiteX28" fmla="*/ 1103267 w 5455978"/>
              <a:gd name="connsiteY28" fmla="*/ 1237288 h 4833388"/>
              <a:gd name="connsiteX29" fmla="*/ 985448 w 5455978"/>
              <a:gd name="connsiteY29" fmla="*/ 1135252 h 4833388"/>
              <a:gd name="connsiteX30" fmla="*/ 915960 w 5455978"/>
              <a:gd name="connsiteY30" fmla="*/ 1104611 h 483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55978" h="4833388">
                <a:moveTo>
                  <a:pt x="5053562" y="697005"/>
                </a:moveTo>
                <a:lnTo>
                  <a:pt x="4555554" y="1559581"/>
                </a:lnTo>
                <a:lnTo>
                  <a:pt x="4520518" y="1446747"/>
                </a:lnTo>
                <a:cubicBezTo>
                  <a:pt x="4512108" y="1405660"/>
                  <a:pt x="4507691" y="1363119"/>
                  <a:pt x="4507691" y="1319547"/>
                </a:cubicBezTo>
                <a:cubicBezTo>
                  <a:pt x="4507691" y="1014542"/>
                  <a:pt x="4724102" y="760068"/>
                  <a:pt x="5011792" y="701215"/>
                </a:cubicBezTo>
                <a:close/>
                <a:moveTo>
                  <a:pt x="1553707" y="0"/>
                </a:moveTo>
                <a:lnTo>
                  <a:pt x="5455978" y="0"/>
                </a:lnTo>
                <a:lnTo>
                  <a:pt x="5100963" y="614906"/>
                </a:lnTo>
                <a:lnTo>
                  <a:pt x="4996209" y="625463"/>
                </a:lnTo>
                <a:cubicBezTo>
                  <a:pt x="4673284" y="691526"/>
                  <a:pt x="4430368" y="977175"/>
                  <a:pt x="4430368" y="1319547"/>
                </a:cubicBezTo>
                <a:cubicBezTo>
                  <a:pt x="4430368" y="1417368"/>
                  <a:pt x="4450198" y="1510558"/>
                  <a:pt x="4486058" y="1595319"/>
                </a:cubicBezTo>
                <a:lnTo>
                  <a:pt x="4509739" y="1638936"/>
                </a:lnTo>
                <a:lnTo>
                  <a:pt x="3153367" y="3988240"/>
                </a:lnTo>
                <a:cubicBezTo>
                  <a:pt x="2686760" y="4796427"/>
                  <a:pt x="1653336" y="5073332"/>
                  <a:pt x="845150" y="4606725"/>
                </a:cubicBezTo>
                <a:cubicBezTo>
                  <a:pt x="36963" y="4140118"/>
                  <a:pt x="-239943" y="3106694"/>
                  <a:pt x="226664" y="2298507"/>
                </a:cubicBezTo>
                <a:lnTo>
                  <a:pt x="329235" y="2120849"/>
                </a:lnTo>
                <a:lnTo>
                  <a:pt x="371252" y="2229458"/>
                </a:lnTo>
                <a:cubicBezTo>
                  <a:pt x="422650" y="2367223"/>
                  <a:pt x="474920" y="2506739"/>
                  <a:pt x="559552" y="2626762"/>
                </a:cubicBezTo>
                <a:cubicBezTo>
                  <a:pt x="664100" y="2775040"/>
                  <a:pt x="812390" y="2885864"/>
                  <a:pt x="957839" y="2993841"/>
                </a:cubicBezTo>
                <a:cubicBezTo>
                  <a:pt x="968982" y="3002164"/>
                  <a:pt x="982113" y="3010924"/>
                  <a:pt x="995878" y="3008734"/>
                </a:cubicBezTo>
                <a:cubicBezTo>
                  <a:pt x="1023452" y="3004135"/>
                  <a:pt x="1024981" y="2965150"/>
                  <a:pt x="1019279" y="2937771"/>
                </a:cubicBezTo>
                <a:cubicBezTo>
                  <a:pt x="947330" y="2588870"/>
                  <a:pt x="866401" y="2221571"/>
                  <a:pt x="626913" y="1958089"/>
                </a:cubicBezTo>
                <a:cubicBezTo>
                  <a:pt x="593561" y="1921403"/>
                  <a:pt x="557585" y="1887290"/>
                  <a:pt x="521718" y="1853095"/>
                </a:cubicBezTo>
                <a:lnTo>
                  <a:pt x="497773" y="1828933"/>
                </a:lnTo>
                <a:lnTo>
                  <a:pt x="723060" y="1438724"/>
                </a:lnTo>
                <a:lnTo>
                  <a:pt x="730945" y="1446043"/>
                </a:lnTo>
                <a:cubicBezTo>
                  <a:pt x="756833" y="1465071"/>
                  <a:pt x="784718" y="1481607"/>
                  <a:pt x="813264" y="1496390"/>
                </a:cubicBezTo>
                <a:cubicBezTo>
                  <a:pt x="891352" y="1536689"/>
                  <a:pt x="988887" y="1563849"/>
                  <a:pt x="1064353" y="1518729"/>
                </a:cubicBezTo>
                <a:cubicBezTo>
                  <a:pt x="1155333" y="1464192"/>
                  <a:pt x="1162980" y="1324896"/>
                  <a:pt x="1103267" y="1237288"/>
                </a:cubicBezTo>
                <a:cubicBezTo>
                  <a:pt x="1073421" y="1193484"/>
                  <a:pt x="1032143" y="1160466"/>
                  <a:pt x="985448" y="1135252"/>
                </a:cubicBezTo>
                <a:lnTo>
                  <a:pt x="915960" y="1104611"/>
                </a:lnTo>
                <a:close/>
              </a:path>
            </a:pathLst>
          </a:custGeom>
          <a:noFill/>
        </p:spPr>
        <p:txBody>
          <a:bodyPr wrap="square">
            <a:noAutofit/>
          </a:bodyPr>
          <a:lstStyle>
            <a:lvl1pPr marL="0" indent="0" algn="ctr">
              <a:buNone/>
              <a:defRPr sz="1800"/>
            </a:lvl1pPr>
          </a:lstStyle>
          <a:p>
            <a:r>
              <a:rPr lang="en-US" dirty="0"/>
              <a:t>Click to add picture</a:t>
            </a:r>
          </a:p>
        </p:txBody>
      </p:sp>
      <p:sp>
        <p:nvSpPr>
          <p:cNvPr id="15" name="Content Placeholder 2">
            <a:extLst>
              <a:ext uri="{FF2B5EF4-FFF2-40B4-BE49-F238E27FC236}">
                <a16:creationId xmlns:a16="http://schemas.microsoft.com/office/drawing/2014/main" id="{673E1CDE-B1E9-C63B-80D3-45CB15FC2671}"/>
              </a:ext>
            </a:extLst>
          </p:cNvPr>
          <p:cNvSpPr>
            <a:spLocks noGrp="1"/>
          </p:cNvSpPr>
          <p:nvPr>
            <p:ph idx="1" hasCustomPrompt="1"/>
          </p:nvPr>
        </p:nvSpPr>
        <p:spPr>
          <a:xfrm>
            <a:off x="6643512" y="2907616"/>
            <a:ext cx="4042719" cy="3216688"/>
          </a:xfrm>
        </p:spPr>
        <p:txBody>
          <a:bodyPr vert="horz" lIns="91440" tIns="45720" rIns="91440" bIns="45720" rtlCol="0" anchor="t">
            <a:normAutofit/>
          </a:bodyPr>
          <a:lstStyle>
            <a:lvl1pPr marL="0" indent="0" algn="ctr">
              <a:buNone/>
              <a:defRPr sz="2400"/>
            </a:lvl1pPr>
            <a:lvl2pPr marL="0" indent="0" algn="ctr">
              <a:buNone/>
              <a:defRPr sz="2000"/>
            </a:lvl2pPr>
            <a:lvl3pPr marL="0" indent="0" algn="ctr">
              <a:buNone/>
              <a:defRPr sz="1800"/>
            </a:lvl3pPr>
            <a:lvl4pPr marL="0" indent="0" algn="ctr">
              <a:buNone/>
              <a:defRPr sz="1600"/>
            </a:lvl4pPr>
            <a:lvl5pPr marL="0" indent="0" algn="ctr">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ircle: Hollow 3">
            <a:extLst>
              <a:ext uri="{FF2B5EF4-FFF2-40B4-BE49-F238E27FC236}">
                <a16:creationId xmlns:a16="http://schemas.microsoft.com/office/drawing/2014/main" id="{BB9B4C44-DD5A-5344-2D5C-F08BAC8BD011}"/>
              </a:ext>
            </a:extLst>
          </p:cNvPr>
          <p:cNvSpPr/>
          <p:nvPr userDrawn="1"/>
        </p:nvSpPr>
        <p:spPr>
          <a:xfrm>
            <a:off x="5452110" y="613411"/>
            <a:ext cx="1417320" cy="1416956"/>
          </a:xfrm>
          <a:prstGeom prst="donut">
            <a:avLst>
              <a:gd name="adj" fmla="val 545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Freeform: Shape 46">
            <a:extLst>
              <a:ext uri="{FF2B5EF4-FFF2-40B4-BE49-F238E27FC236}">
                <a16:creationId xmlns:a16="http://schemas.microsoft.com/office/drawing/2014/main" id="{7486F694-E877-CFAD-29E0-B4E6CBEFF61F}"/>
              </a:ext>
            </a:extLst>
          </p:cNvPr>
          <p:cNvSpPr/>
          <p:nvPr userDrawn="1"/>
        </p:nvSpPr>
        <p:spPr>
          <a:xfrm rot="10800000" flipH="1">
            <a:off x="0" y="0"/>
            <a:ext cx="2163417" cy="3009075"/>
          </a:xfrm>
          <a:custGeom>
            <a:avLst/>
            <a:gdLst>
              <a:gd name="connsiteX0" fmla="*/ 1493017 w 2163417"/>
              <a:gd name="connsiteY0" fmla="*/ 3009075 h 3009075"/>
              <a:gd name="connsiteX1" fmla="*/ 1872777 w 2163417"/>
              <a:gd name="connsiteY1" fmla="*/ 3009075 h 3009075"/>
              <a:gd name="connsiteX2" fmla="*/ 1913900 w 2163417"/>
              <a:gd name="connsiteY2" fmla="*/ 2952775 h 3009075"/>
              <a:gd name="connsiteX3" fmla="*/ 2084325 w 2163417"/>
              <a:gd name="connsiteY3" fmla="*/ 2522160 h 3009075"/>
              <a:gd name="connsiteX4" fmla="*/ 1761963 w 2163417"/>
              <a:gd name="connsiteY4" fmla="*/ 2620279 h 3009075"/>
              <a:gd name="connsiteX5" fmla="*/ 1555926 w 2163417"/>
              <a:gd name="connsiteY5" fmla="*/ 2902372 h 3009075"/>
              <a:gd name="connsiteX6" fmla="*/ 834010 w 2163417"/>
              <a:gd name="connsiteY6" fmla="*/ 3009075 h 3009075"/>
              <a:gd name="connsiteX7" fmla="*/ 948009 w 2163417"/>
              <a:gd name="connsiteY7" fmla="*/ 3009075 h 3009075"/>
              <a:gd name="connsiteX8" fmla="*/ 989692 w 2163417"/>
              <a:gd name="connsiteY8" fmla="*/ 2797901 h 3009075"/>
              <a:gd name="connsiteX9" fmla="*/ 986849 w 2163417"/>
              <a:gd name="connsiteY9" fmla="*/ 2611518 h 3009075"/>
              <a:gd name="connsiteX10" fmla="*/ 1262642 w 2163417"/>
              <a:gd name="connsiteY10" fmla="*/ 2219239 h 3009075"/>
              <a:gd name="connsiteX11" fmla="*/ 1549153 w 2163417"/>
              <a:gd name="connsiteY11" fmla="*/ 2007013 h 3009075"/>
              <a:gd name="connsiteX12" fmla="*/ 1856876 w 2163417"/>
              <a:gd name="connsiteY12" fmla="*/ 1929045 h 3009075"/>
              <a:gd name="connsiteX13" fmla="*/ 2125008 w 2163417"/>
              <a:gd name="connsiteY13" fmla="*/ 1771787 h 3009075"/>
              <a:gd name="connsiteX14" fmla="*/ 2086094 w 2163417"/>
              <a:gd name="connsiteY14" fmla="*/ 1490346 h 3009075"/>
              <a:gd name="connsiteX15" fmla="*/ 1835005 w 2163417"/>
              <a:gd name="connsiteY15" fmla="*/ 1512685 h 3009075"/>
              <a:gd name="connsiteX16" fmla="*/ 1682345 w 2163417"/>
              <a:gd name="connsiteY16" fmla="*/ 1628328 h 3009075"/>
              <a:gd name="connsiteX17" fmla="*/ 1575831 w 2163417"/>
              <a:gd name="connsiteY17" fmla="*/ 1813181 h 3009075"/>
              <a:gd name="connsiteX18" fmla="*/ 1151755 w 2163417"/>
              <a:gd name="connsiteY18" fmla="*/ 2268518 h 3009075"/>
              <a:gd name="connsiteX19" fmla="*/ 1084611 w 2163417"/>
              <a:gd name="connsiteY19" fmla="*/ 2294800 h 3009075"/>
              <a:gd name="connsiteX20" fmla="*/ 1438920 w 2163417"/>
              <a:gd name="connsiteY20" fmla="*/ 1261465 h 3009075"/>
              <a:gd name="connsiteX21" fmla="*/ 1648654 w 2163417"/>
              <a:gd name="connsiteY21" fmla="*/ 1050986 h 3009075"/>
              <a:gd name="connsiteX22" fmla="*/ 2041020 w 2163417"/>
              <a:gd name="connsiteY22" fmla="*/ 71304 h 3009075"/>
              <a:gd name="connsiteX23" fmla="*/ 2017619 w 2163417"/>
              <a:gd name="connsiteY23" fmla="*/ 341 h 3009075"/>
              <a:gd name="connsiteX24" fmla="*/ 1979580 w 2163417"/>
              <a:gd name="connsiteY24" fmla="*/ 15234 h 3009075"/>
              <a:gd name="connsiteX25" fmla="*/ 1581293 w 2163417"/>
              <a:gd name="connsiteY25" fmla="*/ 382313 h 3009075"/>
              <a:gd name="connsiteX26" fmla="*/ 1392993 w 2163417"/>
              <a:gd name="connsiteY26" fmla="*/ 779617 h 3009075"/>
              <a:gd name="connsiteX27" fmla="*/ 1164880 w 2163417"/>
              <a:gd name="connsiteY27" fmla="*/ 1442374 h 3009075"/>
              <a:gd name="connsiteX28" fmla="*/ 1048527 w 2163417"/>
              <a:gd name="connsiteY28" fmla="*/ 2002632 h 3009075"/>
              <a:gd name="connsiteX29" fmla="*/ 913146 w 2163417"/>
              <a:gd name="connsiteY29" fmla="*/ 2268080 h 3009075"/>
              <a:gd name="connsiteX30" fmla="*/ 856937 w 2163417"/>
              <a:gd name="connsiteY30" fmla="*/ 2219896 h 3009075"/>
              <a:gd name="connsiteX31" fmla="*/ 370747 w 2163417"/>
              <a:gd name="connsiteY31" fmla="*/ 856053 h 3009075"/>
              <a:gd name="connsiteX32" fmla="*/ 110511 w 2163417"/>
              <a:gd name="connsiteY32" fmla="*/ 404268 h 3009075"/>
              <a:gd name="connsiteX33" fmla="*/ 0 w 2163417"/>
              <a:gd name="connsiteY33" fmla="*/ 276682 h 3009075"/>
              <a:gd name="connsiteX34" fmla="*/ 0 w 2163417"/>
              <a:gd name="connsiteY34" fmla="*/ 1089858 h 3009075"/>
              <a:gd name="connsiteX35" fmla="*/ 70976 w 2163417"/>
              <a:gd name="connsiteY35" fmla="*/ 1225338 h 3009075"/>
              <a:gd name="connsiteX36" fmla="*/ 295948 w 2163417"/>
              <a:gd name="connsiteY36" fmla="*/ 1566999 h 3009075"/>
              <a:gd name="connsiteX37" fmla="*/ 514658 w 2163417"/>
              <a:gd name="connsiteY37" fmla="*/ 1845813 h 3009075"/>
              <a:gd name="connsiteX38" fmla="*/ 825662 w 2163417"/>
              <a:gd name="connsiteY38" fmla="*/ 2764392 h 3009075"/>
              <a:gd name="connsiteX39" fmla="*/ 837091 w 2163417"/>
              <a:gd name="connsiteY39" fmla="*/ 2992607 h 3009075"/>
              <a:gd name="connsiteX40" fmla="*/ 496733 w 2163417"/>
              <a:gd name="connsiteY40" fmla="*/ 3009075 h 3009075"/>
              <a:gd name="connsiteX41" fmla="*/ 596226 w 2163417"/>
              <a:gd name="connsiteY41" fmla="*/ 3009075 h 3009075"/>
              <a:gd name="connsiteX42" fmla="*/ 569498 w 2163417"/>
              <a:gd name="connsiteY42" fmla="*/ 2969555 h 3009075"/>
              <a:gd name="connsiteX43" fmla="*/ 434172 w 2163417"/>
              <a:gd name="connsiteY43" fmla="*/ 2684451 h 3009075"/>
              <a:gd name="connsiteX44" fmla="*/ 11408 w 2163417"/>
              <a:gd name="connsiteY44" fmla="*/ 2260195 h 3009075"/>
              <a:gd name="connsiteX45" fmla="*/ 0 w 2163417"/>
              <a:gd name="connsiteY45" fmla="*/ 2259556 h 3009075"/>
              <a:gd name="connsiteX46" fmla="*/ 0 w 2163417"/>
              <a:gd name="connsiteY46" fmla="*/ 2700555 h 3009075"/>
              <a:gd name="connsiteX47" fmla="*/ 95610 w 2163417"/>
              <a:gd name="connsiteY47" fmla="*/ 2774247 h 3009075"/>
              <a:gd name="connsiteX48" fmla="*/ 409240 w 2163417"/>
              <a:gd name="connsiteY48" fmla="*/ 2928873 h 3009075"/>
              <a:gd name="connsiteX49" fmla="*/ 477743 w 2163417"/>
              <a:gd name="connsiteY49" fmla="*/ 2986594 h 300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163417" h="3009075">
                <a:moveTo>
                  <a:pt x="1493017" y="3009075"/>
                </a:moveTo>
                <a:lnTo>
                  <a:pt x="1872777" y="3009075"/>
                </a:lnTo>
                <a:lnTo>
                  <a:pt x="1913900" y="2952775"/>
                </a:lnTo>
                <a:cubicBezTo>
                  <a:pt x="1999195" y="2822759"/>
                  <a:pt x="2058412" y="2675581"/>
                  <a:pt x="2084325" y="2522160"/>
                </a:cubicBezTo>
                <a:cubicBezTo>
                  <a:pt x="1970819" y="2493907"/>
                  <a:pt x="1849447" y="2542748"/>
                  <a:pt x="1761963" y="2620279"/>
                </a:cubicBezTo>
                <a:cubicBezTo>
                  <a:pt x="1674480" y="2697811"/>
                  <a:pt x="1614329" y="2801186"/>
                  <a:pt x="1555926" y="2902372"/>
                </a:cubicBezTo>
                <a:close/>
                <a:moveTo>
                  <a:pt x="834010" y="3009075"/>
                </a:moveTo>
                <a:lnTo>
                  <a:pt x="948009" y="3009075"/>
                </a:lnTo>
                <a:lnTo>
                  <a:pt x="989692" y="2797901"/>
                </a:lnTo>
                <a:cubicBezTo>
                  <a:pt x="1003033" y="2732853"/>
                  <a:pt x="973508" y="2676566"/>
                  <a:pt x="986849" y="2611518"/>
                </a:cubicBezTo>
                <a:cubicBezTo>
                  <a:pt x="1019219" y="2452294"/>
                  <a:pt x="1144102" y="2330521"/>
                  <a:pt x="1262642" y="2219239"/>
                </a:cubicBezTo>
                <a:cubicBezTo>
                  <a:pt x="1349907" y="2137546"/>
                  <a:pt x="1439359" y="2054101"/>
                  <a:pt x="1549153" y="2007013"/>
                </a:cubicBezTo>
                <a:cubicBezTo>
                  <a:pt x="1646469" y="1964964"/>
                  <a:pt x="1753857" y="1954234"/>
                  <a:pt x="1856876" y="1929045"/>
                </a:cubicBezTo>
                <a:cubicBezTo>
                  <a:pt x="1959894" y="1903856"/>
                  <a:pt x="2065316" y="1859396"/>
                  <a:pt x="2125008" y="1771787"/>
                </a:cubicBezTo>
                <a:cubicBezTo>
                  <a:pt x="2184721" y="1684179"/>
                  <a:pt x="2177074" y="1544883"/>
                  <a:pt x="2086094" y="1490346"/>
                </a:cubicBezTo>
                <a:cubicBezTo>
                  <a:pt x="2010628" y="1445226"/>
                  <a:pt x="1913093" y="1472386"/>
                  <a:pt x="1835005" y="1512685"/>
                </a:cubicBezTo>
                <a:cubicBezTo>
                  <a:pt x="1777913" y="1542252"/>
                  <a:pt x="1723465" y="1578828"/>
                  <a:pt x="1682345" y="1628328"/>
                </a:cubicBezTo>
                <a:cubicBezTo>
                  <a:pt x="1636855" y="1683084"/>
                  <a:pt x="1610178" y="1750760"/>
                  <a:pt x="1575831" y="1813181"/>
                </a:cubicBezTo>
                <a:cubicBezTo>
                  <a:pt x="1475445" y="1996281"/>
                  <a:pt x="1311850" y="2134480"/>
                  <a:pt x="1151755" y="2268518"/>
                </a:cubicBezTo>
                <a:cubicBezTo>
                  <a:pt x="1132509" y="2284506"/>
                  <a:pt x="1108669" y="2301808"/>
                  <a:pt x="1084611" y="2294800"/>
                </a:cubicBezTo>
                <a:cubicBezTo>
                  <a:pt x="1133601" y="1928167"/>
                  <a:pt x="1193092" y="1537651"/>
                  <a:pt x="1438920" y="1261465"/>
                </a:cubicBezTo>
                <a:cubicBezTo>
                  <a:pt x="1504751" y="1187438"/>
                  <a:pt x="1581949" y="1124359"/>
                  <a:pt x="1648654" y="1050986"/>
                </a:cubicBezTo>
                <a:cubicBezTo>
                  <a:pt x="1888142" y="787504"/>
                  <a:pt x="1969071" y="420205"/>
                  <a:pt x="2041020" y="71304"/>
                </a:cubicBezTo>
                <a:cubicBezTo>
                  <a:pt x="2046722" y="43925"/>
                  <a:pt x="2045193" y="4940"/>
                  <a:pt x="2017619" y="341"/>
                </a:cubicBezTo>
                <a:cubicBezTo>
                  <a:pt x="2003854" y="-1849"/>
                  <a:pt x="1990723" y="6911"/>
                  <a:pt x="1979580" y="15234"/>
                </a:cubicBezTo>
                <a:cubicBezTo>
                  <a:pt x="1834131" y="123211"/>
                  <a:pt x="1685841" y="234035"/>
                  <a:pt x="1581293" y="382313"/>
                </a:cubicBezTo>
                <a:cubicBezTo>
                  <a:pt x="1496661" y="502336"/>
                  <a:pt x="1444391" y="641852"/>
                  <a:pt x="1392993" y="779617"/>
                </a:cubicBezTo>
                <a:cubicBezTo>
                  <a:pt x="1311634" y="997761"/>
                  <a:pt x="1212341" y="1214372"/>
                  <a:pt x="1164880" y="1442374"/>
                </a:cubicBezTo>
                <a:cubicBezTo>
                  <a:pt x="1126170" y="1629199"/>
                  <a:pt x="1087239" y="1815805"/>
                  <a:pt x="1048527" y="2002632"/>
                </a:cubicBezTo>
                <a:cubicBezTo>
                  <a:pt x="1027749" y="2102723"/>
                  <a:pt x="999756" y="2213764"/>
                  <a:pt x="913146" y="2268080"/>
                </a:cubicBezTo>
                <a:cubicBezTo>
                  <a:pt x="888430" y="2263042"/>
                  <a:pt x="871154" y="2240922"/>
                  <a:pt x="856937" y="2219896"/>
                </a:cubicBezTo>
                <a:cubicBezTo>
                  <a:pt x="584863" y="1819090"/>
                  <a:pt x="556650" y="1303514"/>
                  <a:pt x="370747" y="856053"/>
                </a:cubicBezTo>
                <a:cubicBezTo>
                  <a:pt x="303931" y="695074"/>
                  <a:pt x="216010" y="542963"/>
                  <a:pt x="110511" y="404268"/>
                </a:cubicBezTo>
                <a:lnTo>
                  <a:pt x="0" y="276682"/>
                </a:lnTo>
                <a:lnTo>
                  <a:pt x="0" y="1089858"/>
                </a:lnTo>
                <a:lnTo>
                  <a:pt x="70976" y="1225338"/>
                </a:lnTo>
                <a:cubicBezTo>
                  <a:pt x="137808" y="1344185"/>
                  <a:pt x="212019" y="1458638"/>
                  <a:pt x="295948" y="1566999"/>
                </a:cubicBezTo>
                <a:cubicBezTo>
                  <a:pt x="368560" y="1660302"/>
                  <a:pt x="447732" y="1748567"/>
                  <a:pt x="514658" y="1845813"/>
                </a:cubicBezTo>
                <a:cubicBezTo>
                  <a:pt x="699466" y="2114550"/>
                  <a:pt x="781920" y="2440883"/>
                  <a:pt x="825662" y="2764392"/>
                </a:cubicBezTo>
                <a:cubicBezTo>
                  <a:pt x="835833" y="2838967"/>
                  <a:pt x="843160" y="2917430"/>
                  <a:pt x="837091" y="2992607"/>
                </a:cubicBezTo>
                <a:close/>
                <a:moveTo>
                  <a:pt x="496733" y="3009075"/>
                </a:moveTo>
                <a:lnTo>
                  <a:pt x="596226" y="3009075"/>
                </a:lnTo>
                <a:lnTo>
                  <a:pt x="569498" y="2969555"/>
                </a:lnTo>
                <a:cubicBezTo>
                  <a:pt x="518265" y="2878718"/>
                  <a:pt x="477585" y="2778957"/>
                  <a:pt x="434172" y="2684451"/>
                </a:cubicBezTo>
                <a:cubicBezTo>
                  <a:pt x="347346" y="2495440"/>
                  <a:pt x="215681" y="2297209"/>
                  <a:pt x="11408" y="2260195"/>
                </a:cubicBezTo>
                <a:lnTo>
                  <a:pt x="0" y="2259556"/>
                </a:lnTo>
                <a:lnTo>
                  <a:pt x="0" y="2700555"/>
                </a:lnTo>
                <a:lnTo>
                  <a:pt x="95610" y="2774247"/>
                </a:lnTo>
                <a:cubicBezTo>
                  <a:pt x="194905" y="2835572"/>
                  <a:pt x="313227" y="2862511"/>
                  <a:pt x="409240" y="2928873"/>
                </a:cubicBezTo>
                <a:cubicBezTo>
                  <a:pt x="433954" y="2945956"/>
                  <a:pt x="456727" y="2965366"/>
                  <a:pt x="477743" y="2986594"/>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80882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5A99838A-BAEC-33DF-F234-3BE9E19DB860}"/>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b="18292"/>
          <a:stretch/>
        </p:blipFill>
        <p:spPr>
          <a:xfrm rot="16200000">
            <a:off x="8460658" y="2977669"/>
            <a:ext cx="2975009" cy="4487675"/>
          </a:xfrm>
          <a:prstGeom prst="rect">
            <a:avLst/>
          </a:prstGeom>
        </p:spPr>
      </p:pic>
      <p:pic>
        <p:nvPicPr>
          <p:cNvPr id="14" name="Graphic 13">
            <a:extLst>
              <a:ext uri="{FF2B5EF4-FFF2-40B4-BE49-F238E27FC236}">
                <a16:creationId xmlns:a16="http://schemas.microsoft.com/office/drawing/2014/main" id="{97F68367-2C07-B98F-1312-DE9F52974714}"/>
              </a:ext>
              <a:ext uri="{C183D7F6-B498-43B3-948B-1728B52AA6E4}">
                <adec:decorative xmlns=""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l="-1939" t="-1" b="50014"/>
          <a:stretch/>
        </p:blipFill>
        <p:spPr>
          <a:xfrm rot="10800000" flipH="1">
            <a:off x="-1118397" y="0"/>
            <a:ext cx="4787698" cy="3440798"/>
          </a:xfrm>
          <a:prstGeom prst="rect">
            <a:avLst/>
          </a:prstGeom>
        </p:spPr>
      </p:pic>
      <p:sp>
        <p:nvSpPr>
          <p:cNvPr id="15" name="Freeform 5">
            <a:extLst>
              <a:ext uri="{FF2B5EF4-FFF2-40B4-BE49-F238E27FC236}">
                <a16:creationId xmlns:a16="http://schemas.microsoft.com/office/drawing/2014/main" id="{EA4CF3B8-63C6-A7E6-1A16-A517CF1537E6}"/>
              </a:ext>
              <a:ext uri="{C183D7F6-B498-43B3-948B-1728B52AA6E4}">
                <adec:decorative xmlns="" xmlns:adec="http://schemas.microsoft.com/office/drawing/2017/decorative" val="1"/>
              </a:ext>
            </a:extLst>
          </p:cNvPr>
          <p:cNvSpPr/>
          <p:nvPr userDrawn="1"/>
        </p:nvSpPr>
        <p:spPr>
          <a:xfrm rot="8100000">
            <a:off x="8942561" y="-1269021"/>
            <a:ext cx="2169988" cy="3494471"/>
          </a:xfrm>
          <a:custGeom>
            <a:avLst/>
            <a:gdLst>
              <a:gd name="connsiteX0" fmla="*/ 2169988 w 2169988"/>
              <a:gd name="connsiteY0" fmla="*/ 3494471 h 3494471"/>
              <a:gd name="connsiteX1" fmla="*/ 0 w 2169988"/>
              <a:gd name="connsiteY1" fmla="*/ 1324484 h 3494471"/>
              <a:gd name="connsiteX2" fmla="*/ 0 w 2169988"/>
              <a:gd name="connsiteY2" fmla="*/ 1084994 h 3494471"/>
              <a:gd name="connsiteX3" fmla="*/ 1084994 w 2169988"/>
              <a:gd name="connsiteY3" fmla="*/ 0 h 3494471"/>
              <a:gd name="connsiteX4" fmla="*/ 2169988 w 2169988"/>
              <a:gd name="connsiteY4" fmla="*/ 1084994 h 3494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988" h="3494471">
                <a:moveTo>
                  <a:pt x="2169988" y="3494471"/>
                </a:moveTo>
                <a:lnTo>
                  <a:pt x="0" y="1324484"/>
                </a:lnTo>
                <a:lnTo>
                  <a:pt x="0" y="1084994"/>
                </a:lnTo>
                <a:cubicBezTo>
                  <a:pt x="0" y="485768"/>
                  <a:pt x="485768" y="0"/>
                  <a:pt x="1084994" y="0"/>
                </a:cubicBezTo>
                <a:cubicBezTo>
                  <a:pt x="1684220" y="0"/>
                  <a:pt x="2169988" y="485768"/>
                  <a:pt x="2169988" y="1084994"/>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6">
            <a:extLst>
              <a:ext uri="{FF2B5EF4-FFF2-40B4-BE49-F238E27FC236}">
                <a16:creationId xmlns:a16="http://schemas.microsoft.com/office/drawing/2014/main" id="{E30E2D33-308E-4256-37BE-DE3B6C51891A}"/>
              </a:ext>
              <a:ext uri="{C183D7F6-B498-43B3-948B-1728B52AA6E4}">
                <adec:decorative xmlns="" xmlns:adec="http://schemas.microsoft.com/office/drawing/2017/decorative" val="1"/>
              </a:ext>
            </a:extLst>
          </p:cNvPr>
          <p:cNvSpPr/>
          <p:nvPr userDrawn="1"/>
        </p:nvSpPr>
        <p:spPr>
          <a:xfrm>
            <a:off x="314795" y="4285476"/>
            <a:ext cx="5195233" cy="2572525"/>
          </a:xfrm>
          <a:custGeom>
            <a:avLst/>
            <a:gdLst>
              <a:gd name="connsiteX0" fmla="*/ 1854535 w 5195233"/>
              <a:gd name="connsiteY0" fmla="*/ 0 h 2572525"/>
              <a:gd name="connsiteX1" fmla="*/ 3165888 w 5195233"/>
              <a:gd name="connsiteY1" fmla="*/ 543180 h 2572525"/>
              <a:gd name="connsiteX2" fmla="*/ 5195233 w 5195233"/>
              <a:gd name="connsiteY2" fmla="*/ 2572525 h 2572525"/>
              <a:gd name="connsiteX3" fmla="*/ 145137 w 5195233"/>
              <a:gd name="connsiteY3" fmla="*/ 2572525 h 2572525"/>
              <a:gd name="connsiteX4" fmla="*/ 135796 w 5195233"/>
              <a:gd name="connsiteY4" fmla="*/ 2552397 h 2572525"/>
              <a:gd name="connsiteX5" fmla="*/ 543181 w 5195233"/>
              <a:gd name="connsiteY5" fmla="*/ 543180 h 2572525"/>
              <a:gd name="connsiteX6" fmla="*/ 1854535 w 5195233"/>
              <a:gd name="connsiteY6" fmla="*/ 0 h 257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5233" h="2572525">
                <a:moveTo>
                  <a:pt x="1854535" y="0"/>
                </a:moveTo>
                <a:cubicBezTo>
                  <a:pt x="2329151" y="0"/>
                  <a:pt x="2803768" y="181060"/>
                  <a:pt x="3165888" y="543180"/>
                </a:cubicBezTo>
                <a:lnTo>
                  <a:pt x="5195233" y="2572525"/>
                </a:lnTo>
                <a:lnTo>
                  <a:pt x="145137" y="2572525"/>
                </a:lnTo>
                <a:lnTo>
                  <a:pt x="135796" y="2552397"/>
                </a:lnTo>
                <a:cubicBezTo>
                  <a:pt x="-135795" y="1882658"/>
                  <a:pt x="0" y="1086361"/>
                  <a:pt x="543181" y="543180"/>
                </a:cubicBezTo>
                <a:cubicBezTo>
                  <a:pt x="905301" y="181060"/>
                  <a:pt x="1379918" y="0"/>
                  <a:pt x="1854535"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1478280"/>
            <a:ext cx="11430000" cy="1941577"/>
          </a:xfrm>
        </p:spPr>
        <p:txBody>
          <a:bodyPr anchor="b">
            <a:noAutofit/>
          </a:bodyPr>
          <a:lstStyle>
            <a:lvl1pPr algn="ctr">
              <a:defRPr sz="5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524000" y="3566161"/>
            <a:ext cx="9144000" cy="2610802"/>
          </a:xfrm>
        </p:spPr>
        <p:txBody>
          <a:bodyPr>
            <a:normAutofit/>
          </a:bodyPr>
          <a:lstStyle>
            <a:lvl1pPr marL="0" indent="0" algn="ctr">
              <a:buNone/>
              <a:defRPr sz="2400"/>
            </a:lvl1pPr>
            <a:lvl2pPr marL="0" indent="0" algn="ctr">
              <a:buNone/>
              <a:defRPr sz="2000"/>
            </a:lvl2pPr>
            <a:lvl3pPr marL="0" indent="0" algn="ctr">
              <a:buNone/>
              <a:defRPr sz="1800"/>
            </a:lvl3pPr>
            <a:lvl4pPr marL="0" indent="0" algn="ctr">
              <a:buNone/>
              <a:defRPr sz="1600"/>
            </a:lvl4pPr>
            <a:lvl5pPr marL="0" indent="0" algn="ctr">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9A771C6-AE2A-169D-1961-6A9B07F65741}"/>
              </a:ext>
            </a:extLst>
          </p:cNvPr>
          <p:cNvSpPr>
            <a:spLocks noGrp="1"/>
          </p:cNvSpPr>
          <p:nvPr>
            <p:ph type="ftr" sz="quarter" idx="10"/>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B668C91C-57D3-9B9E-10DD-14689B45B716}"/>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ounded Rectangle 7">
            <a:extLst>
              <a:ext uri="{FF2B5EF4-FFF2-40B4-BE49-F238E27FC236}">
                <a16:creationId xmlns:a16="http://schemas.microsoft.com/office/drawing/2014/main" id="{59461A55-24E1-7568-7BA9-8A309336924B}"/>
              </a:ext>
              <a:ext uri="{C183D7F6-B498-43B3-948B-1728B52AA6E4}">
                <adec:decorative xmlns="" xmlns:adec="http://schemas.microsoft.com/office/drawing/2017/decorative" val="1"/>
              </a:ext>
            </a:extLst>
          </p:cNvPr>
          <p:cNvSpPr/>
          <p:nvPr userDrawn="1"/>
        </p:nvSpPr>
        <p:spPr>
          <a:xfrm>
            <a:off x="8343414" y="4494073"/>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5">
            <a:extLst>
              <a:ext uri="{FF2B5EF4-FFF2-40B4-BE49-F238E27FC236}">
                <a16:creationId xmlns:a16="http://schemas.microsoft.com/office/drawing/2014/main" id="{4BAAB243-57F0-D7E3-BD79-EDEAFC03E6D4}"/>
              </a:ext>
              <a:ext uri="{C183D7F6-B498-43B3-948B-1728B52AA6E4}">
                <adec:decorative xmlns="" xmlns:adec="http://schemas.microsoft.com/office/drawing/2017/decorative" val="1"/>
              </a:ext>
            </a:extLst>
          </p:cNvPr>
          <p:cNvSpPr/>
          <p:nvPr userDrawn="1"/>
        </p:nvSpPr>
        <p:spPr>
          <a:xfrm>
            <a:off x="1577145" y="459664"/>
            <a:ext cx="1264173" cy="1222535"/>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F49DBD24-5A22-C1C0-861E-4CDC352F5244}"/>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49177" b="21401"/>
          <a:stretch/>
        </p:blipFill>
        <p:spPr>
          <a:xfrm rot="10800000">
            <a:off x="10330906" y="0"/>
            <a:ext cx="1869610" cy="4237825"/>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93410" y="2103121"/>
            <a:ext cx="9805181" cy="395117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0099172E-C881-44E9-5467-BA33ECCD7A62}"/>
              </a:ext>
            </a:extLst>
          </p:cNvPr>
          <p:cNvSpPr>
            <a:spLocks noGrp="1"/>
          </p:cNvSpPr>
          <p:nvPr>
            <p:ph type="ftr" sz="quarter" idx="10"/>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7FDF938C-5CEB-5C7A-0721-D88C7A8A4531}"/>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55719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Picture 1">
    <p:spTree>
      <p:nvGrpSpPr>
        <p:cNvPr id="1" name=""/>
        <p:cNvGrpSpPr/>
        <p:nvPr/>
      </p:nvGrpSpPr>
      <p:grpSpPr>
        <a:xfrm>
          <a:off x="0" y="0"/>
          <a:ext cx="0" cy="0"/>
          <a:chOff x="0" y="0"/>
          <a:chExt cx="0" cy="0"/>
        </a:xfrm>
      </p:grpSpPr>
      <p:sp>
        <p:nvSpPr>
          <p:cNvPr id="7" name="Freeform 3">
            <a:extLst>
              <a:ext uri="{FF2B5EF4-FFF2-40B4-BE49-F238E27FC236}">
                <a16:creationId xmlns:a16="http://schemas.microsoft.com/office/drawing/2014/main" id="{118CD2E6-847D-7319-53AD-33D7B5F46585}"/>
              </a:ext>
              <a:ext uri="{C183D7F6-B498-43B3-948B-1728B52AA6E4}">
                <adec:decorative xmlns="" xmlns:adec="http://schemas.microsoft.com/office/drawing/2017/decorative" val="1"/>
              </a:ext>
            </a:extLst>
          </p:cNvPr>
          <p:cNvSpPr/>
          <p:nvPr userDrawn="1"/>
        </p:nvSpPr>
        <p:spPr>
          <a:xfrm>
            <a:off x="2535937" y="0"/>
            <a:ext cx="7498230" cy="6858000"/>
          </a:xfrm>
          <a:custGeom>
            <a:avLst/>
            <a:gdLst>
              <a:gd name="connsiteX0" fmla="*/ 3959468 w 7498230"/>
              <a:gd name="connsiteY0" fmla="*/ 0 h 6858000"/>
              <a:gd name="connsiteX1" fmla="*/ 7498230 w 7498230"/>
              <a:gd name="connsiteY1" fmla="*/ 0 h 6858000"/>
              <a:gd name="connsiteX2" fmla="*/ 3538762 w 7498230"/>
              <a:gd name="connsiteY2" fmla="*/ 6858000 h 6858000"/>
              <a:gd name="connsiteX3" fmla="*/ 0 w 74982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230" h="6858000">
                <a:moveTo>
                  <a:pt x="3959468" y="0"/>
                </a:moveTo>
                <a:lnTo>
                  <a:pt x="7498230" y="0"/>
                </a:lnTo>
                <a:lnTo>
                  <a:pt x="3538762" y="6858000"/>
                </a:lnTo>
                <a:lnTo>
                  <a:pt x="0" y="685800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8" name="Graphic 7">
            <a:extLst>
              <a:ext uri="{FF2B5EF4-FFF2-40B4-BE49-F238E27FC236}">
                <a16:creationId xmlns:a16="http://schemas.microsoft.com/office/drawing/2014/main" id="{2ABDF0DF-C2C4-90E3-5019-F4F9496B0BAE}"/>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43700" b="63293"/>
          <a:stretch/>
        </p:blipFill>
        <p:spPr>
          <a:xfrm rot="5400000">
            <a:off x="-439665" y="431782"/>
            <a:ext cx="3388135" cy="2524571"/>
          </a:xfrm>
          <a:prstGeom prst="rect">
            <a:avLst/>
          </a:prstGeom>
        </p:spPr>
      </p:pic>
      <p:pic>
        <p:nvPicPr>
          <p:cNvPr id="10" name="Graphic 9">
            <a:extLst>
              <a:ext uri="{FF2B5EF4-FFF2-40B4-BE49-F238E27FC236}">
                <a16:creationId xmlns:a16="http://schemas.microsoft.com/office/drawing/2014/main" id="{906063E2-8FA6-3FA8-50F0-710C2DABE183}"/>
              </a:ext>
              <a:ext uri="{C183D7F6-B498-43B3-948B-1728B52AA6E4}">
                <adec:decorative xmlns=""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l="39907" b="26473"/>
          <a:stretch/>
        </p:blipFill>
        <p:spPr>
          <a:xfrm flipH="1">
            <a:off x="9858702" y="2673752"/>
            <a:ext cx="2333297" cy="4184248"/>
          </a:xfrm>
          <a:prstGeom prst="rect">
            <a:avLst/>
          </a:prstGeom>
        </p:spPr>
      </p:pic>
      <p:sp>
        <p:nvSpPr>
          <p:cNvPr id="11" name="Rounded Rectangle 7">
            <a:extLst>
              <a:ext uri="{FF2B5EF4-FFF2-40B4-BE49-F238E27FC236}">
                <a16:creationId xmlns:a16="http://schemas.microsoft.com/office/drawing/2014/main" id="{6DA7FCDE-54E0-5546-8AC9-AC281A4748AE}"/>
              </a:ext>
              <a:ext uri="{C183D7F6-B498-43B3-948B-1728B52AA6E4}">
                <adec:decorative xmlns="" xmlns:adec="http://schemas.microsoft.com/office/drawing/2017/decorative" val="1"/>
              </a:ext>
            </a:extLst>
          </p:cNvPr>
          <p:cNvSpPr/>
          <p:nvPr userDrawn="1"/>
        </p:nvSpPr>
        <p:spPr>
          <a:xfrm>
            <a:off x="11234253" y="909530"/>
            <a:ext cx="664855" cy="663328"/>
          </a:xfrm>
          <a:prstGeom prst="roundRect">
            <a:avLst>
              <a:gd name="adj" fmla="val 50000"/>
            </a:avLst>
          </a:prstGeom>
          <a:noFill/>
          <a:ln w="76200">
            <a:solidFill>
              <a:schemeClr val="bg1">
                <a:alpha val="68642"/>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092176" y="1188720"/>
            <a:ext cx="5815519" cy="3685032"/>
          </a:xfrm>
        </p:spPr>
        <p:txBody>
          <a:bodyPr anchor="b">
            <a:noAutofit/>
          </a:bodyPr>
          <a:lstStyle>
            <a:lvl1pPr algn="l">
              <a:defRPr sz="5400"/>
            </a:lvl1p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3307" y="4896517"/>
            <a:ext cx="5814388" cy="1641443"/>
          </a:xfrm>
        </p:spPr>
        <p:txBody>
          <a:bodyPr>
            <a:normAutofit/>
          </a:bodyPr>
          <a:lstStyle>
            <a:lvl1pPr marL="0" indent="0" algn="l">
              <a:lnSpc>
                <a:spcPct val="100000"/>
              </a:lnSpc>
              <a:spcBef>
                <a:spcPts val="1000"/>
              </a:spcBef>
              <a:spcAft>
                <a:spcPts val="800"/>
              </a:spcAft>
              <a:buFont typeface="Arial" panose="020B0604020202020204" pitchFamily="34" charset="0"/>
              <a:buNone/>
              <a:defRPr sz="2400"/>
            </a:lvl1pPr>
            <a:lvl2pPr marL="800100" indent="-342900" algn="l">
              <a:lnSpc>
                <a:spcPct val="100000"/>
              </a:lnSpc>
              <a:spcBef>
                <a:spcPts val="1000"/>
              </a:spcBef>
              <a:spcAft>
                <a:spcPts val="800"/>
              </a:spcAft>
              <a:buFont typeface="Arial" panose="020B0604020202020204" pitchFamily="34" charset="0"/>
              <a:buChar char="•"/>
              <a:defRPr sz="2000"/>
            </a:lvl2pPr>
            <a:lvl3pPr marL="914400" indent="0" algn="l">
              <a:lnSpc>
                <a:spcPct val="100000"/>
              </a:lnSpc>
              <a:spcBef>
                <a:spcPts val="1000"/>
              </a:spcBef>
              <a:spcAft>
                <a:spcPts val="800"/>
              </a:spcAft>
              <a:buFont typeface="Arial" panose="020B0604020202020204" pitchFamily="34" charset="0"/>
              <a:buNone/>
              <a:defRPr sz="1800"/>
            </a:lvl3pPr>
            <a:lvl4pPr marL="1371600" indent="0" algn="l">
              <a:lnSpc>
                <a:spcPct val="100000"/>
              </a:lnSpc>
              <a:spcBef>
                <a:spcPts val="1000"/>
              </a:spcBef>
              <a:spcAft>
                <a:spcPts val="800"/>
              </a:spcAft>
              <a:buNone/>
              <a:defRPr sz="1200"/>
            </a:lvl4pPr>
            <a:lvl5pPr marL="1828800" indent="0" algn="l">
              <a:lnSpc>
                <a:spcPct val="100000"/>
              </a:lnSpc>
              <a:spcBef>
                <a:spcPts val="1000"/>
              </a:spcBef>
              <a:spcAft>
                <a:spcPts val="800"/>
              </a:spcAft>
              <a:buNone/>
              <a:defRPr sz="1200"/>
            </a:lvl5pPr>
          </a:lstStyle>
          <a:p>
            <a:pPr lvl="0"/>
            <a:r>
              <a:rPr lang="en-US" dirty="0"/>
              <a:t>Click to add content</a:t>
            </a:r>
          </a:p>
          <a:p>
            <a:pPr lvl="1"/>
            <a:r>
              <a:rPr lang="en-US" dirty="0"/>
              <a:t>Second level</a:t>
            </a:r>
          </a:p>
          <a:p>
            <a:pPr lvl="2"/>
            <a:endParaRPr lang="en-US" dirty="0"/>
          </a:p>
        </p:txBody>
      </p:sp>
      <p:sp>
        <p:nvSpPr>
          <p:cNvPr id="31" name="Picture Placeholder 30">
            <a:extLst>
              <a:ext uri="{FF2B5EF4-FFF2-40B4-BE49-F238E27FC236}">
                <a16:creationId xmlns:a16="http://schemas.microsoft.com/office/drawing/2014/main" id="{4BE4E254-2D24-97F7-EBB1-212D2F9D9A59}"/>
              </a:ext>
              <a:ext uri="{C183D7F6-B498-43B3-948B-1728B52AA6E4}">
                <adec:decorative xmlns="" xmlns:adec="http://schemas.microsoft.com/office/drawing/2017/decorative" val="0"/>
              </a:ext>
            </a:extLst>
          </p:cNvPr>
          <p:cNvSpPr>
            <a:spLocks noGrp="1"/>
          </p:cNvSpPr>
          <p:nvPr>
            <p:ph type="pic" sz="quarter" idx="10" hasCustomPrompt="1"/>
          </p:nvPr>
        </p:nvSpPr>
        <p:spPr>
          <a:xfrm>
            <a:off x="5627906" y="1709738"/>
            <a:ext cx="5829158" cy="5148262"/>
          </a:xfrm>
          <a:custGeom>
            <a:avLst/>
            <a:gdLst>
              <a:gd name="connsiteX0" fmla="*/ 4066426 w 5829158"/>
              <a:gd name="connsiteY0" fmla="*/ 610 h 5148262"/>
              <a:gd name="connsiteX1" fmla="*/ 4923324 w 5829158"/>
              <a:gd name="connsiteY1" fmla="*/ 242939 h 5148262"/>
              <a:gd name="connsiteX2" fmla="*/ 5586219 w 5829158"/>
              <a:gd name="connsiteY2" fmla="*/ 2716897 h 5148262"/>
              <a:gd name="connsiteX3" fmla="*/ 4182471 w 5829158"/>
              <a:gd name="connsiteY3" fmla="*/ 5148262 h 5148262"/>
              <a:gd name="connsiteX4" fmla="*/ 0 w 5829158"/>
              <a:gd name="connsiteY4" fmla="*/ 5148262 h 5148262"/>
              <a:gd name="connsiteX5" fmla="*/ 2449366 w 5829158"/>
              <a:gd name="connsiteY5" fmla="*/ 905835 h 5148262"/>
              <a:gd name="connsiteX6" fmla="*/ 4066426 w 5829158"/>
              <a:gd name="connsiteY6" fmla="*/ 610 h 514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9158" h="5148262">
                <a:moveTo>
                  <a:pt x="4066426" y="610"/>
                </a:moveTo>
                <a:cubicBezTo>
                  <a:pt x="4358363" y="8192"/>
                  <a:pt x="4652631" y="86654"/>
                  <a:pt x="4923324" y="242939"/>
                </a:cubicBezTo>
                <a:cubicBezTo>
                  <a:pt x="5789542" y="743051"/>
                  <a:pt x="6086331" y="1850680"/>
                  <a:pt x="5586219" y="2716897"/>
                </a:cubicBezTo>
                <a:lnTo>
                  <a:pt x="4182471" y="5148262"/>
                </a:lnTo>
                <a:lnTo>
                  <a:pt x="0" y="5148262"/>
                </a:lnTo>
                <a:lnTo>
                  <a:pt x="2449366" y="905835"/>
                </a:lnTo>
                <a:cubicBezTo>
                  <a:pt x="2793193" y="310309"/>
                  <a:pt x="3424167" y="-16071"/>
                  <a:pt x="4066426" y="610"/>
                </a:cubicBezTo>
                <a:close/>
              </a:path>
            </a:pathLst>
          </a:custGeom>
        </p:spPr>
        <p:txBody>
          <a:bodyPr wrap="square" lIns="2194560" tIns="1005840">
            <a:noAutofit/>
          </a:bodyPr>
          <a:lstStyle>
            <a:lvl1pPr marL="0" indent="0" algn="ctr">
              <a:buNone/>
              <a:defRPr sz="1800"/>
            </a:lvl1pPr>
          </a:lstStyle>
          <a:p>
            <a:r>
              <a:rPr lang="en-US" dirty="0"/>
              <a:t>Click icon to add picture </a:t>
            </a:r>
          </a:p>
        </p:txBody>
      </p:sp>
      <p:sp>
        <p:nvSpPr>
          <p:cNvPr id="4" name="Footer Placeholder 3">
            <a:extLst>
              <a:ext uri="{FF2B5EF4-FFF2-40B4-BE49-F238E27FC236}">
                <a16:creationId xmlns:a16="http://schemas.microsoft.com/office/drawing/2014/main" id="{DD95610F-FEC3-8E4A-0EA8-EE29C1F2D287}"/>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7B67399D-ED8C-5779-C0DF-EDCB9294E114}"/>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4275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E27CF34-9469-9733-919F-E9312CF54519}"/>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13898" b="63293"/>
          <a:stretch/>
        </p:blipFill>
        <p:spPr>
          <a:xfrm rot="5400000" flipV="1">
            <a:off x="8338916" y="2372297"/>
            <a:ext cx="5181600" cy="2524571"/>
          </a:xfrm>
          <a:prstGeom prst="rect">
            <a:avLst/>
          </a:prstGeom>
        </p:spPr>
      </p:pic>
      <p:sp>
        <p:nvSpPr>
          <p:cNvPr id="8" name="Rounded Rectangle 10">
            <a:extLst>
              <a:ext uri="{FF2B5EF4-FFF2-40B4-BE49-F238E27FC236}">
                <a16:creationId xmlns:a16="http://schemas.microsoft.com/office/drawing/2014/main" id="{4D009256-DF45-9756-82A0-864EE4B56F1A}"/>
              </a:ext>
              <a:ext uri="{C183D7F6-B498-43B3-948B-1728B52AA6E4}">
                <adec:decorative xmlns="" xmlns:adec="http://schemas.microsoft.com/office/drawing/2017/decorative" val="1"/>
              </a:ext>
            </a:extLst>
          </p:cNvPr>
          <p:cNvSpPr/>
          <p:nvPr userDrawn="1"/>
        </p:nvSpPr>
        <p:spPr>
          <a:xfrm>
            <a:off x="1988182" y="4494073"/>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6" y="2148841"/>
            <a:ext cx="9805181" cy="1563623"/>
          </a:xfrm>
        </p:spPr>
        <p:txBody>
          <a:bodyPr>
            <a:normAutofit/>
          </a:bodyPr>
          <a:lstStyle>
            <a:lvl1pPr marL="228600" indent="-228600" algn="l">
              <a:lnSpc>
                <a:spcPct val="100000"/>
              </a:lnSpc>
              <a:spcBef>
                <a:spcPts val="1000"/>
              </a:spcBef>
              <a:spcAft>
                <a:spcPts val="800"/>
              </a:spcAft>
              <a:buFont typeface="Arial" panose="020B0604020202020204" pitchFamily="34" charset="0"/>
              <a:buChar char="•"/>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7A9B7174-F745-1118-0FC3-785D2D913E0A}"/>
              </a:ext>
            </a:extLst>
          </p:cNvPr>
          <p:cNvSpPr>
            <a:spLocks noGrp="1"/>
          </p:cNvSpPr>
          <p:nvPr>
            <p:ph sz="quarter" idx="10" hasCustomPrompt="1"/>
          </p:nvPr>
        </p:nvSpPr>
        <p:spPr>
          <a:xfrm>
            <a:off x="1198563" y="3843338"/>
            <a:ext cx="9699625" cy="1982787"/>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9008BE64-1ED0-01C3-D968-D9BD086534DE}"/>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89C90BF0-A318-491B-96D3-12A05A22DB19}"/>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0714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Picture 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F43DDC4-8BB2-AA02-91FD-EAE7DEAA2DD1}"/>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22486" b="42766"/>
          <a:stretch/>
        </p:blipFill>
        <p:spPr>
          <a:xfrm rot="10800000" flipH="1">
            <a:off x="0" y="16066"/>
            <a:ext cx="2354118" cy="3209000"/>
          </a:xfrm>
          <a:prstGeom prst="rect">
            <a:avLst/>
          </a:prstGeom>
        </p:spPr>
      </p:pic>
      <p:pic>
        <p:nvPicPr>
          <p:cNvPr id="8" name="Graphic 7">
            <a:extLst>
              <a:ext uri="{FF2B5EF4-FFF2-40B4-BE49-F238E27FC236}">
                <a16:creationId xmlns:a16="http://schemas.microsoft.com/office/drawing/2014/main" id="{32E19359-DD62-C6C3-FEF4-EEA0F835B8C9}"/>
              </a:ext>
              <a:ext uri="{C183D7F6-B498-43B3-948B-1728B52AA6E4}">
                <adec:decorative xmlns=""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b="41026"/>
          <a:stretch/>
        </p:blipFill>
        <p:spPr>
          <a:xfrm>
            <a:off x="8045068" y="3116724"/>
            <a:ext cx="4328419" cy="3741276"/>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5" name="Picture Placeholder 4">
            <a:extLst>
              <a:ext uri="{FF2B5EF4-FFF2-40B4-BE49-F238E27FC236}">
                <a16:creationId xmlns:a16="http://schemas.microsoft.com/office/drawing/2014/main" id="{0AFD7DD8-34E5-E7A6-C7E1-DF8BA895A4FF}"/>
              </a:ext>
            </a:extLst>
          </p:cNvPr>
          <p:cNvSpPr>
            <a:spLocks noGrp="1"/>
          </p:cNvSpPr>
          <p:nvPr>
            <p:ph type="pic" sz="quarter" idx="10" hasCustomPrompt="1"/>
          </p:nvPr>
        </p:nvSpPr>
        <p:spPr>
          <a:xfrm>
            <a:off x="452402" y="1709738"/>
            <a:ext cx="5829158" cy="5148262"/>
          </a:xfrm>
          <a:custGeom>
            <a:avLst/>
            <a:gdLst>
              <a:gd name="connsiteX0" fmla="*/ 4066426 w 5829158"/>
              <a:gd name="connsiteY0" fmla="*/ 610 h 5148262"/>
              <a:gd name="connsiteX1" fmla="*/ 4923324 w 5829158"/>
              <a:gd name="connsiteY1" fmla="*/ 242939 h 5148262"/>
              <a:gd name="connsiteX2" fmla="*/ 5586219 w 5829158"/>
              <a:gd name="connsiteY2" fmla="*/ 2716897 h 5148262"/>
              <a:gd name="connsiteX3" fmla="*/ 5535066 w 5829158"/>
              <a:gd name="connsiteY3" fmla="*/ 2805497 h 5148262"/>
              <a:gd name="connsiteX4" fmla="*/ 5509490 w 5829158"/>
              <a:gd name="connsiteY4" fmla="*/ 2815395 h 5148262"/>
              <a:gd name="connsiteX5" fmla="*/ 5155416 w 5829158"/>
              <a:gd name="connsiteY5" fmla="*/ 3137832 h 5148262"/>
              <a:gd name="connsiteX6" fmla="*/ 3994693 w 5829158"/>
              <a:gd name="connsiteY6" fmla="*/ 5148262 h 5148262"/>
              <a:gd name="connsiteX7" fmla="*/ 0 w 5829158"/>
              <a:gd name="connsiteY7" fmla="*/ 5148262 h 5148262"/>
              <a:gd name="connsiteX8" fmla="*/ 2449366 w 5829158"/>
              <a:gd name="connsiteY8" fmla="*/ 905835 h 5148262"/>
              <a:gd name="connsiteX9" fmla="*/ 4066426 w 5829158"/>
              <a:gd name="connsiteY9" fmla="*/ 610 h 514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29158" h="5148262">
                <a:moveTo>
                  <a:pt x="4066426" y="610"/>
                </a:moveTo>
                <a:cubicBezTo>
                  <a:pt x="4358363" y="8192"/>
                  <a:pt x="4652631" y="86654"/>
                  <a:pt x="4923324" y="242939"/>
                </a:cubicBezTo>
                <a:cubicBezTo>
                  <a:pt x="5789542" y="743051"/>
                  <a:pt x="6086331" y="1850680"/>
                  <a:pt x="5586219" y="2716897"/>
                </a:cubicBezTo>
                <a:lnTo>
                  <a:pt x="5535066" y="2805497"/>
                </a:lnTo>
                <a:lnTo>
                  <a:pt x="5509490" y="2815395"/>
                </a:lnTo>
                <a:cubicBezTo>
                  <a:pt x="5365803" y="2881125"/>
                  <a:pt x="5240438" y="2990572"/>
                  <a:pt x="5155416" y="3137832"/>
                </a:cubicBezTo>
                <a:lnTo>
                  <a:pt x="3994693" y="5148262"/>
                </a:lnTo>
                <a:lnTo>
                  <a:pt x="0" y="5148262"/>
                </a:lnTo>
                <a:lnTo>
                  <a:pt x="2449366" y="905835"/>
                </a:lnTo>
                <a:cubicBezTo>
                  <a:pt x="2793193" y="310309"/>
                  <a:pt x="3424167" y="-16071"/>
                  <a:pt x="4066426" y="610"/>
                </a:cubicBezTo>
                <a:close/>
              </a:path>
            </a:pathLst>
          </a:custGeom>
          <a:noFill/>
        </p:spPr>
        <p:txBody>
          <a:bodyPr wrap="square" lIns="2194560" tIns="1005840">
            <a:noAutofit/>
          </a:bodyPr>
          <a:lstStyle>
            <a:lvl1pPr marL="0" indent="0" algn="ctr">
              <a:buNone/>
              <a:defRPr sz="18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7022928" y="2162976"/>
            <a:ext cx="4090549" cy="4438991"/>
          </a:xfrm>
        </p:spPr>
        <p:txBody>
          <a:bodyPr>
            <a:normAutofit/>
          </a:bodyPr>
          <a:lstStyle>
            <a:lvl1pPr marL="228600" indent="-228600" algn="l">
              <a:lnSpc>
                <a:spcPct val="100000"/>
              </a:lnSpc>
              <a:spcBef>
                <a:spcPts val="1000"/>
              </a:spcBef>
              <a:spcAft>
                <a:spcPts val="800"/>
              </a:spcAft>
              <a:buFont typeface="Arial" panose="020B0604020202020204" pitchFamily="34" charset="0"/>
              <a:buChar char="•"/>
              <a:defRPr sz="1800"/>
            </a:lvl1pPr>
            <a:lvl2pPr marL="742950" indent="-228600" algn="l">
              <a:lnSpc>
                <a:spcPct val="100000"/>
              </a:lnSpc>
              <a:spcBef>
                <a:spcPts val="1000"/>
              </a:spcBef>
              <a:spcAft>
                <a:spcPts val="800"/>
              </a:spcAft>
              <a:buFont typeface="Arial" panose="020B0604020202020204" pitchFamily="34" charset="0"/>
              <a:buChar char="•"/>
              <a:defRPr sz="1600"/>
            </a:lvl2pPr>
            <a:lvl3pPr marL="1200150" indent="-228600" algn="l">
              <a:lnSpc>
                <a:spcPct val="100000"/>
              </a:lnSpc>
              <a:spcBef>
                <a:spcPts val="1000"/>
              </a:spcBef>
              <a:spcAft>
                <a:spcPts val="800"/>
              </a:spcAft>
              <a:buFont typeface="Arial" panose="020B0604020202020204" pitchFamily="34" charset="0"/>
              <a:buChar char="•"/>
              <a:defRPr sz="1400"/>
            </a:lvl3pPr>
            <a:lvl4pPr marL="1543050" indent="-228600" algn="l">
              <a:lnSpc>
                <a:spcPct val="100000"/>
              </a:lnSpc>
              <a:spcBef>
                <a:spcPts val="1000"/>
              </a:spcBef>
              <a:spcAft>
                <a:spcPts val="800"/>
              </a:spcAft>
              <a:buFont typeface="Arial" panose="020B0604020202020204" pitchFamily="34" charset="0"/>
              <a:buChar char="•"/>
              <a:defRPr sz="1200"/>
            </a:lvl4pPr>
            <a:lvl5pPr marL="2000250" indent="-22860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reeform 14">
            <a:extLst>
              <a:ext uri="{FF2B5EF4-FFF2-40B4-BE49-F238E27FC236}">
                <a16:creationId xmlns:a16="http://schemas.microsoft.com/office/drawing/2014/main" id="{439C7FB7-7536-309C-3DB4-92ECAE60965B}"/>
              </a:ext>
              <a:ext uri="{C183D7F6-B498-43B3-948B-1728B52AA6E4}">
                <adec:decorative xmlns="" xmlns:adec="http://schemas.microsoft.com/office/drawing/2017/decorative" val="1"/>
              </a:ext>
            </a:extLst>
          </p:cNvPr>
          <p:cNvSpPr/>
          <p:nvPr userDrawn="1"/>
        </p:nvSpPr>
        <p:spPr>
          <a:xfrm>
            <a:off x="4447095" y="4453341"/>
            <a:ext cx="2631645" cy="2404659"/>
          </a:xfrm>
          <a:custGeom>
            <a:avLst/>
            <a:gdLst>
              <a:gd name="connsiteX0" fmla="*/ 1788465 w 2631645"/>
              <a:gd name="connsiteY0" fmla="*/ 1963 h 2404659"/>
              <a:gd name="connsiteX1" fmla="*/ 2237416 w 2631645"/>
              <a:gd name="connsiteY1" fmla="*/ 105730 h 2404659"/>
              <a:gd name="connsiteX2" fmla="*/ 2525916 w 2631645"/>
              <a:gd name="connsiteY2" fmla="*/ 1182423 h 2404659"/>
              <a:gd name="connsiteX3" fmla="*/ 1820258 w 2631645"/>
              <a:gd name="connsiteY3" fmla="*/ 2404659 h 2404659"/>
              <a:gd name="connsiteX4" fmla="*/ 0 w 2631645"/>
              <a:gd name="connsiteY4" fmla="*/ 2404659 h 2404659"/>
              <a:gd name="connsiteX5" fmla="*/ 1160723 w 2631645"/>
              <a:gd name="connsiteY5" fmla="*/ 394229 h 2404659"/>
              <a:gd name="connsiteX6" fmla="*/ 1788465 w 2631645"/>
              <a:gd name="connsiteY6" fmla="*/ 1963 h 240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645" h="2404659">
                <a:moveTo>
                  <a:pt x="1788465" y="1963"/>
                </a:moveTo>
                <a:cubicBezTo>
                  <a:pt x="1939901" y="-8739"/>
                  <a:pt x="2096046" y="24110"/>
                  <a:pt x="2237416" y="105730"/>
                </a:cubicBezTo>
                <a:cubicBezTo>
                  <a:pt x="2614404" y="323384"/>
                  <a:pt x="2743570" y="805435"/>
                  <a:pt x="2525916" y="1182423"/>
                </a:cubicBezTo>
                <a:lnTo>
                  <a:pt x="1820258" y="2404659"/>
                </a:lnTo>
                <a:lnTo>
                  <a:pt x="0" y="2404659"/>
                </a:lnTo>
                <a:lnTo>
                  <a:pt x="1160723" y="394229"/>
                </a:lnTo>
                <a:cubicBezTo>
                  <a:pt x="1296757" y="158612"/>
                  <a:pt x="1536071" y="19800"/>
                  <a:pt x="1788465" y="1963"/>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63188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1">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75CECFB8-0CE3-408B-9CC5-1A38ADFC8D17}"/>
              </a:ext>
              <a:ext uri="{C183D7F6-B498-43B3-948B-1728B52AA6E4}">
                <adec:decorative xmlns="" xmlns:adec="http://schemas.microsoft.com/office/drawing/2017/decorative" val="1"/>
              </a:ext>
            </a:extLst>
          </p:cNvPr>
          <p:cNvSpPr/>
          <p:nvPr userDrawn="1"/>
        </p:nvSpPr>
        <p:spPr>
          <a:xfrm>
            <a:off x="1779105" y="3006726"/>
            <a:ext cx="1987492" cy="1982927"/>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2B44AE87-6B2D-BEFC-BB5E-B20A5A75A581}"/>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13898" b="63293"/>
          <a:stretch/>
        </p:blipFill>
        <p:spPr>
          <a:xfrm>
            <a:off x="5893135" y="4333429"/>
            <a:ext cx="5181600" cy="2524571"/>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6" y="2154034"/>
            <a:ext cx="4714785" cy="398834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F92E9A95-2BF4-99BE-F73A-A74D783CE446}"/>
              </a:ext>
            </a:extLst>
          </p:cNvPr>
          <p:cNvSpPr>
            <a:spLocks noGrp="1"/>
          </p:cNvSpPr>
          <p:nvPr>
            <p:ph idx="10" hasCustomPrompt="1"/>
          </p:nvPr>
        </p:nvSpPr>
        <p:spPr>
          <a:xfrm>
            <a:off x="6425417" y="2154033"/>
            <a:ext cx="4714785" cy="3988349"/>
          </a:xfrm>
        </p:spPr>
        <p:txBody>
          <a:bodyPr>
            <a:normAutofit/>
          </a:bodyPr>
          <a:lstStyle>
            <a:lvl1pPr marL="0" indent="0" algn="l">
              <a:lnSpc>
                <a:spcPct val="100000"/>
              </a:lnSpc>
              <a:spcBef>
                <a:spcPts val="1000"/>
              </a:spcBef>
              <a:spcAft>
                <a:spcPts val="800"/>
              </a:spcAft>
              <a:buNone/>
              <a:defRPr sz="1800"/>
            </a:lvl1pPr>
            <a:lvl2pPr marL="742950" indent="-285750" algn="l">
              <a:lnSpc>
                <a:spcPct val="100000"/>
              </a:lnSpc>
              <a:spcBef>
                <a:spcPts val="1000"/>
              </a:spcBef>
              <a:spcAft>
                <a:spcPts val="800"/>
              </a:spcAft>
              <a:buFont typeface="Arial" panose="020B0604020202020204" pitchFamily="34" charset="0"/>
              <a:buChar char="•"/>
              <a:defRPr sz="1600"/>
            </a:lvl2pPr>
            <a:lvl3pPr marL="1200150" indent="-285750" algn="l">
              <a:lnSpc>
                <a:spcPct val="100000"/>
              </a:lnSpc>
              <a:spcBef>
                <a:spcPts val="1000"/>
              </a:spcBef>
              <a:spcAft>
                <a:spcPts val="800"/>
              </a:spcAft>
              <a:buFont typeface="Arial" panose="020B0604020202020204" pitchFamily="34" charset="0"/>
              <a:buChar char="•"/>
              <a:defRPr sz="1400"/>
            </a:lvl3pPr>
            <a:lvl4pPr marL="1543050" indent="-171450" algn="l">
              <a:lnSpc>
                <a:spcPct val="100000"/>
              </a:lnSpc>
              <a:spcBef>
                <a:spcPts val="1000"/>
              </a:spcBef>
              <a:spcAft>
                <a:spcPts val="800"/>
              </a:spcAft>
              <a:buFont typeface="Arial" panose="020B0604020202020204" pitchFamily="34" charset="0"/>
              <a:buChar char="•"/>
              <a:defRPr sz="1200"/>
            </a:lvl4pPr>
            <a:lvl5pPr marL="2000250" indent="-171450" algn="l">
              <a:lnSpc>
                <a:spcPct val="10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CAAC286E-C3C5-BAF8-4E8F-9FEA0BB0195D}"/>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4C561ED0-675C-92F8-9C64-A3276393E5F2}"/>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5822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92827" y="2154034"/>
            <a:ext cx="2977342" cy="3988349"/>
          </a:xfrm>
        </p:spPr>
        <p:txBody>
          <a:bodyPr>
            <a:normAutofit/>
          </a:bodyPr>
          <a:lstStyle>
            <a:lvl1pPr marL="228600" indent="-228600" algn="l">
              <a:lnSpc>
                <a:spcPct val="90000"/>
              </a:lnSpc>
              <a:spcBef>
                <a:spcPts val="1000"/>
              </a:spcBef>
              <a:spcAft>
                <a:spcPts val="800"/>
              </a:spcAft>
              <a:buFont typeface="Arial" panose="020B0604020202020204" pitchFamily="34" charset="0"/>
              <a:buChar char="•"/>
              <a:defRPr sz="1800"/>
            </a:lvl1pPr>
            <a:lvl2pPr marL="742950" indent="-228600" algn="l">
              <a:lnSpc>
                <a:spcPct val="90000"/>
              </a:lnSpc>
              <a:spcBef>
                <a:spcPts val="1000"/>
              </a:spcBef>
              <a:spcAft>
                <a:spcPts val="800"/>
              </a:spcAft>
              <a:buFont typeface="Arial" panose="020B0604020202020204" pitchFamily="34" charset="0"/>
              <a:buChar char="•"/>
              <a:defRPr sz="1600"/>
            </a:lvl2pPr>
            <a:lvl3pPr marL="1200150" indent="-228600" algn="l">
              <a:lnSpc>
                <a:spcPct val="90000"/>
              </a:lnSpc>
              <a:spcBef>
                <a:spcPts val="1000"/>
              </a:spcBef>
              <a:spcAft>
                <a:spcPts val="800"/>
              </a:spcAft>
              <a:buFont typeface="Arial" panose="020B0604020202020204" pitchFamily="34" charset="0"/>
              <a:buChar char="•"/>
              <a:defRPr sz="1400"/>
            </a:lvl3pPr>
            <a:lvl4pPr marL="1543050" indent="-228600" algn="l">
              <a:lnSpc>
                <a:spcPct val="90000"/>
              </a:lnSpc>
              <a:spcBef>
                <a:spcPts val="1000"/>
              </a:spcBef>
              <a:spcAft>
                <a:spcPts val="800"/>
              </a:spcAft>
              <a:buFont typeface="Arial" panose="020B0604020202020204" pitchFamily="34" charset="0"/>
              <a:buChar char="•"/>
              <a:defRPr sz="1200"/>
            </a:lvl4pPr>
            <a:lvl5pPr marL="2000250" indent="-228600" algn="l">
              <a:lnSpc>
                <a:spcPct val="9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5F1C082A-519B-82D4-8400-4B8B18A60894}"/>
              </a:ext>
            </a:extLst>
          </p:cNvPr>
          <p:cNvSpPr>
            <a:spLocks noGrp="1"/>
          </p:cNvSpPr>
          <p:nvPr>
            <p:ph type="tbl" sz="quarter" idx="10"/>
          </p:nvPr>
        </p:nvSpPr>
        <p:spPr>
          <a:xfrm>
            <a:off x="4283075" y="2147888"/>
            <a:ext cx="7070725" cy="3957637"/>
          </a:xfrm>
        </p:spPr>
        <p:txBody>
          <a:bodyPr>
            <a:normAutofit/>
          </a:bodyPr>
          <a:lstStyle>
            <a:lvl1pPr marL="0" indent="0" algn="ctr">
              <a:buNone/>
              <a:defRPr sz="2000"/>
            </a:lvl1pPr>
          </a:lstStyle>
          <a:p>
            <a:endParaRPr lang="en-US" dirty="0"/>
          </a:p>
        </p:txBody>
      </p:sp>
      <p:sp>
        <p:nvSpPr>
          <p:cNvPr id="4" name="Footer Placeholder 3">
            <a:extLst>
              <a:ext uri="{FF2B5EF4-FFF2-40B4-BE49-F238E27FC236}">
                <a16:creationId xmlns:a16="http://schemas.microsoft.com/office/drawing/2014/main" id="{1527E877-BE1A-AA4C-671E-9D8452925BFD}"/>
              </a:ext>
            </a:extLst>
          </p:cNvPr>
          <p:cNvSpPr>
            <a:spLocks noGrp="1"/>
          </p:cNvSpPr>
          <p:nvPr>
            <p:ph type="ftr" sz="quarter" idx="11"/>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C717DD65-3907-1BC6-7EB8-E6248DFAA8DA}"/>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58417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7" name="Table Placeholder 6">
            <a:extLst>
              <a:ext uri="{FF2B5EF4-FFF2-40B4-BE49-F238E27FC236}">
                <a16:creationId xmlns:a16="http://schemas.microsoft.com/office/drawing/2014/main" id="{5F1C082A-519B-82D4-8400-4B8B18A60894}"/>
              </a:ext>
            </a:extLst>
          </p:cNvPr>
          <p:cNvSpPr>
            <a:spLocks noGrp="1"/>
          </p:cNvSpPr>
          <p:nvPr>
            <p:ph type="tbl" sz="quarter" idx="10"/>
          </p:nvPr>
        </p:nvSpPr>
        <p:spPr>
          <a:xfrm>
            <a:off x="1088601" y="2138744"/>
            <a:ext cx="10009167" cy="3957637"/>
          </a:xfrm>
        </p:spPr>
        <p:txBody>
          <a:bodyPr>
            <a:normAutofit/>
          </a:bodyPr>
          <a:lstStyle>
            <a:lvl1pPr marL="0" indent="0" algn="ctr">
              <a:buNone/>
              <a:defRPr sz="20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icon to add table</a:t>
            </a:r>
          </a:p>
          <a:p>
            <a:endParaRPr lang="en-US" dirty="0"/>
          </a:p>
        </p:txBody>
      </p:sp>
      <p:sp>
        <p:nvSpPr>
          <p:cNvPr id="3" name="Footer Placeholder 2">
            <a:extLst>
              <a:ext uri="{FF2B5EF4-FFF2-40B4-BE49-F238E27FC236}">
                <a16:creationId xmlns:a16="http://schemas.microsoft.com/office/drawing/2014/main" id="{225DE1B4-D56F-A334-1150-6F7C080AD43B}"/>
              </a:ext>
            </a:extLst>
          </p:cNvPr>
          <p:cNvSpPr>
            <a:spLocks noGrp="1"/>
          </p:cNvSpPr>
          <p:nvPr>
            <p:ph type="ftr" sz="quarter" idx="11"/>
          </p:nvPr>
        </p:nvSpPr>
        <p:spPr/>
        <p:txBody>
          <a:bodyPr/>
          <a:lstStyle/>
          <a:p>
            <a:r>
              <a:rPr lang="en-US"/>
              <a:t>Business marketing meeting</a:t>
            </a:r>
            <a:endParaRPr lang="en-US" dirty="0"/>
          </a:p>
        </p:txBody>
      </p:sp>
      <p:sp>
        <p:nvSpPr>
          <p:cNvPr id="4" name="Slide Number Placeholder 3">
            <a:extLst>
              <a:ext uri="{FF2B5EF4-FFF2-40B4-BE49-F238E27FC236}">
                <a16:creationId xmlns:a16="http://schemas.microsoft.com/office/drawing/2014/main" id="{1306C784-B849-5F60-F6DC-9FBFD28ABE8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2696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3" name="Rounded Rectangle 4">
            <a:extLst>
              <a:ext uri="{FF2B5EF4-FFF2-40B4-BE49-F238E27FC236}">
                <a16:creationId xmlns:a16="http://schemas.microsoft.com/office/drawing/2014/main" id="{6BC515DB-7B1C-3370-8F50-08B8416EB09F}"/>
              </a:ext>
              <a:ext uri="{C183D7F6-B498-43B3-948B-1728B52AA6E4}">
                <adec:decorative xmlns="" xmlns:adec="http://schemas.microsoft.com/office/drawing/2017/decorative" val="1"/>
              </a:ext>
            </a:extLst>
          </p:cNvPr>
          <p:cNvSpPr/>
          <p:nvPr userDrawn="1"/>
        </p:nvSpPr>
        <p:spPr>
          <a:xfrm flipH="1">
            <a:off x="1697071" y="3830795"/>
            <a:ext cx="2496416" cy="2490682"/>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1">
            <a:extLst>
              <a:ext uri="{FF2B5EF4-FFF2-40B4-BE49-F238E27FC236}">
                <a16:creationId xmlns:a16="http://schemas.microsoft.com/office/drawing/2014/main" id="{0D15194A-4B0C-6147-8FF2-BB4E50ECC1F5}"/>
              </a:ext>
              <a:ext uri="{C183D7F6-B498-43B3-948B-1728B52AA6E4}">
                <adec:decorative xmlns="" xmlns:adec="http://schemas.microsoft.com/office/drawing/2017/decorative" val="1"/>
              </a:ext>
            </a:extLst>
          </p:cNvPr>
          <p:cNvSpPr/>
          <p:nvPr userDrawn="1"/>
        </p:nvSpPr>
        <p:spPr>
          <a:xfrm flipH="1">
            <a:off x="3522447" y="0"/>
            <a:ext cx="7498230" cy="6858000"/>
          </a:xfrm>
          <a:custGeom>
            <a:avLst/>
            <a:gdLst>
              <a:gd name="connsiteX0" fmla="*/ 3959468 w 7498230"/>
              <a:gd name="connsiteY0" fmla="*/ 0 h 6858000"/>
              <a:gd name="connsiteX1" fmla="*/ 7498230 w 7498230"/>
              <a:gd name="connsiteY1" fmla="*/ 0 h 6858000"/>
              <a:gd name="connsiteX2" fmla="*/ 3538762 w 7498230"/>
              <a:gd name="connsiteY2" fmla="*/ 6858000 h 6858000"/>
              <a:gd name="connsiteX3" fmla="*/ 0 w 74982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230" h="6858000">
                <a:moveTo>
                  <a:pt x="3959468" y="0"/>
                </a:moveTo>
                <a:lnTo>
                  <a:pt x="7498230" y="0"/>
                </a:lnTo>
                <a:lnTo>
                  <a:pt x="3538762" y="6858000"/>
                </a:lnTo>
                <a:lnTo>
                  <a:pt x="0" y="6858000"/>
                </a:ln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 name="Graphic 9">
            <a:extLst>
              <a:ext uri="{FF2B5EF4-FFF2-40B4-BE49-F238E27FC236}">
                <a16:creationId xmlns:a16="http://schemas.microsoft.com/office/drawing/2014/main" id="{7008052E-C579-D93A-9B03-CA08D7460F9B}"/>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49177" b="21401"/>
          <a:stretch/>
        </p:blipFill>
        <p:spPr>
          <a:xfrm flipV="1">
            <a:off x="0" y="325"/>
            <a:ext cx="1869610" cy="4237825"/>
          </a:xfrm>
          <a:prstGeom prst="rect">
            <a:avLst/>
          </a:prstGeom>
        </p:spPr>
      </p:pic>
      <p:sp>
        <p:nvSpPr>
          <p:cNvPr id="16" name="Freeform 3">
            <a:extLst>
              <a:ext uri="{FF2B5EF4-FFF2-40B4-BE49-F238E27FC236}">
                <a16:creationId xmlns:a16="http://schemas.microsoft.com/office/drawing/2014/main" id="{F2EC93D7-B6B6-D315-CBAC-F2062C650B68}"/>
              </a:ext>
              <a:ext uri="{C183D7F6-B498-43B3-948B-1728B52AA6E4}">
                <adec:decorative xmlns="" xmlns:adec="http://schemas.microsoft.com/office/drawing/2017/decorative" val="1"/>
              </a:ext>
            </a:extLst>
          </p:cNvPr>
          <p:cNvSpPr/>
          <p:nvPr userDrawn="1"/>
        </p:nvSpPr>
        <p:spPr>
          <a:xfrm flipH="1">
            <a:off x="5435134" y="3712319"/>
            <a:ext cx="3059474" cy="3145681"/>
          </a:xfrm>
          <a:custGeom>
            <a:avLst/>
            <a:gdLst>
              <a:gd name="connsiteX0" fmla="*/ 2216294 w 3059474"/>
              <a:gd name="connsiteY0" fmla="*/ 1963 h 3145681"/>
              <a:gd name="connsiteX1" fmla="*/ 2665245 w 3059474"/>
              <a:gd name="connsiteY1" fmla="*/ 105730 h 3145681"/>
              <a:gd name="connsiteX2" fmla="*/ 2953745 w 3059474"/>
              <a:gd name="connsiteY2" fmla="*/ 1182423 h 3145681"/>
              <a:gd name="connsiteX3" fmla="*/ 1820257 w 3059474"/>
              <a:gd name="connsiteY3" fmla="*/ 3145681 h 3145681"/>
              <a:gd name="connsiteX4" fmla="*/ 0 w 3059474"/>
              <a:gd name="connsiteY4" fmla="*/ 3145681 h 3145681"/>
              <a:gd name="connsiteX5" fmla="*/ 1588552 w 3059474"/>
              <a:gd name="connsiteY5" fmla="*/ 394229 h 3145681"/>
              <a:gd name="connsiteX6" fmla="*/ 2216294 w 3059474"/>
              <a:gd name="connsiteY6" fmla="*/ 1963 h 314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474" h="3145681">
                <a:moveTo>
                  <a:pt x="2216294" y="1963"/>
                </a:moveTo>
                <a:cubicBezTo>
                  <a:pt x="2367730" y="-8739"/>
                  <a:pt x="2523875" y="24110"/>
                  <a:pt x="2665245" y="105730"/>
                </a:cubicBezTo>
                <a:cubicBezTo>
                  <a:pt x="3042233" y="323384"/>
                  <a:pt x="3171399" y="805435"/>
                  <a:pt x="2953745" y="1182423"/>
                </a:cubicBezTo>
                <a:lnTo>
                  <a:pt x="1820257" y="3145681"/>
                </a:lnTo>
                <a:lnTo>
                  <a:pt x="0" y="3145681"/>
                </a:lnTo>
                <a:lnTo>
                  <a:pt x="1588552" y="394229"/>
                </a:lnTo>
                <a:cubicBezTo>
                  <a:pt x="1724586" y="158612"/>
                  <a:pt x="1963900" y="19800"/>
                  <a:pt x="2216294" y="196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04605" y="1868489"/>
            <a:ext cx="5832907" cy="4415795"/>
          </a:xfrm>
        </p:spPr>
        <p:txBody>
          <a:bodyPr anchor="ctr">
            <a:normAutofit/>
          </a:bodyPr>
          <a:lstStyle>
            <a:lvl1pPr algn="l">
              <a:lnSpc>
                <a:spcPct val="90000"/>
              </a:lnSpc>
              <a:defRPr sz="5400" b="1" cap="all" baseline="0"/>
            </a:lvl1pPr>
          </a:lstStyle>
          <a:p>
            <a:endParaRPr lang="en-US" dirty="0"/>
          </a:p>
        </p:txBody>
      </p:sp>
      <p:sp>
        <p:nvSpPr>
          <p:cNvPr id="30" name="Picture Placeholder 29">
            <a:extLst>
              <a:ext uri="{FF2B5EF4-FFF2-40B4-BE49-F238E27FC236}">
                <a16:creationId xmlns:a16="http://schemas.microsoft.com/office/drawing/2014/main" id="{4E53CBB4-E97E-0645-ABD7-E16233BA0541}"/>
              </a:ext>
            </a:extLst>
          </p:cNvPr>
          <p:cNvSpPr>
            <a:spLocks noGrp="1"/>
          </p:cNvSpPr>
          <p:nvPr>
            <p:ph type="pic" sz="quarter" idx="11"/>
          </p:nvPr>
        </p:nvSpPr>
        <p:spPr>
          <a:xfrm>
            <a:off x="5480723" y="0"/>
            <a:ext cx="5406113" cy="4800932"/>
          </a:xfrm>
          <a:custGeom>
            <a:avLst/>
            <a:gdLst>
              <a:gd name="connsiteX0" fmla="*/ 4382284 w 5406113"/>
              <a:gd name="connsiteY0" fmla="*/ 910336 h 4800932"/>
              <a:gd name="connsiteX1" fmla="*/ 4955350 w 5406113"/>
              <a:gd name="connsiteY1" fmla="*/ 1902915 h 4800932"/>
              <a:gd name="connsiteX2" fmla="*/ 4913686 w 5406113"/>
              <a:gd name="connsiteY2" fmla="*/ 1907115 h 4800932"/>
              <a:gd name="connsiteX3" fmla="*/ 4273606 w 5406113"/>
              <a:gd name="connsiteY3" fmla="*/ 1267035 h 4800932"/>
              <a:gd name="connsiteX4" fmla="*/ 4323907 w 5406113"/>
              <a:gd name="connsiteY4" fmla="*/ 1017887 h 4800932"/>
              <a:gd name="connsiteX5" fmla="*/ 0 w 5406113"/>
              <a:gd name="connsiteY5" fmla="*/ 0 h 4800932"/>
              <a:gd name="connsiteX6" fmla="*/ 3856701 w 5406113"/>
              <a:gd name="connsiteY6" fmla="*/ 0 h 4800932"/>
              <a:gd name="connsiteX7" fmla="*/ 4345712 w 5406113"/>
              <a:gd name="connsiteY7" fmla="*/ 846991 h 4800932"/>
              <a:gd name="connsiteX8" fmla="*/ 4326054 w 5406113"/>
              <a:gd name="connsiteY8" fmla="*/ 870817 h 4800932"/>
              <a:gd name="connsiteX9" fmla="*/ 4205026 w 5406113"/>
              <a:gd name="connsiteY9" fmla="*/ 1267035 h 4800932"/>
              <a:gd name="connsiteX10" fmla="*/ 4913686 w 5406113"/>
              <a:gd name="connsiteY10" fmla="*/ 1975695 h 4800932"/>
              <a:gd name="connsiteX11" fmla="*/ 4992767 w 5406113"/>
              <a:gd name="connsiteY11" fmla="*/ 1967723 h 4800932"/>
              <a:gd name="connsiteX12" fmla="*/ 5182097 w 5406113"/>
              <a:gd name="connsiteY12" fmla="*/ 2295653 h 4800932"/>
              <a:gd name="connsiteX13" fmla="*/ 4570835 w 5406113"/>
              <a:gd name="connsiteY13" fmla="*/ 4576916 h 4800932"/>
              <a:gd name="connsiteX14" fmla="*/ 2289571 w 5406113"/>
              <a:gd name="connsiteY14" fmla="*/ 3965654 h 480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06113" h="4800932">
                <a:moveTo>
                  <a:pt x="4382284" y="910336"/>
                </a:moveTo>
                <a:lnTo>
                  <a:pt x="4955350" y="1902915"/>
                </a:lnTo>
                <a:lnTo>
                  <a:pt x="4913686" y="1907115"/>
                </a:lnTo>
                <a:cubicBezTo>
                  <a:pt x="4560180" y="1907115"/>
                  <a:pt x="4273606" y="1620541"/>
                  <a:pt x="4273606" y="1267035"/>
                </a:cubicBezTo>
                <a:cubicBezTo>
                  <a:pt x="4273606" y="1178659"/>
                  <a:pt x="4291517" y="1094465"/>
                  <a:pt x="4323907" y="1017887"/>
                </a:cubicBezTo>
                <a:close/>
                <a:moveTo>
                  <a:pt x="0" y="0"/>
                </a:moveTo>
                <a:lnTo>
                  <a:pt x="3856701" y="0"/>
                </a:lnTo>
                <a:lnTo>
                  <a:pt x="4345712" y="846991"/>
                </a:lnTo>
                <a:lnTo>
                  <a:pt x="4326054" y="870817"/>
                </a:lnTo>
                <a:cubicBezTo>
                  <a:pt x="4249643" y="983919"/>
                  <a:pt x="4205026" y="1120267"/>
                  <a:pt x="4205026" y="1267035"/>
                </a:cubicBezTo>
                <a:cubicBezTo>
                  <a:pt x="4205026" y="1658417"/>
                  <a:pt x="4522304" y="1975695"/>
                  <a:pt x="4913686" y="1975695"/>
                </a:cubicBezTo>
                <a:lnTo>
                  <a:pt x="4992767" y="1967723"/>
                </a:lnTo>
                <a:lnTo>
                  <a:pt x="5182097" y="2295653"/>
                </a:lnTo>
                <a:cubicBezTo>
                  <a:pt x="5643255" y="3094402"/>
                  <a:pt x="5369584" y="4115758"/>
                  <a:pt x="4570835" y="4576916"/>
                </a:cubicBezTo>
                <a:cubicBezTo>
                  <a:pt x="3772085" y="5038074"/>
                  <a:pt x="2750729" y="4764403"/>
                  <a:pt x="2289571" y="3965654"/>
                </a:cubicBezTo>
                <a:close/>
              </a:path>
            </a:pathLst>
          </a:custGeom>
        </p:spPr>
        <p:txBody>
          <a:bodyPr wrap="square">
            <a:noAutofit/>
          </a:bodyPr>
          <a:lstStyle>
            <a:lvl1pPr algn="ctr">
              <a:defRPr sz="1600"/>
            </a:lvl1pPr>
          </a:lstStyle>
          <a:p>
            <a:endParaRPr lang="en-US"/>
          </a:p>
        </p:txBody>
      </p:sp>
      <p:sp>
        <p:nvSpPr>
          <p:cNvPr id="31" name="Freeform: Shape 30">
            <a:extLst>
              <a:ext uri="{FF2B5EF4-FFF2-40B4-BE49-F238E27FC236}">
                <a16:creationId xmlns:a16="http://schemas.microsoft.com/office/drawing/2014/main" id="{2DB6AD51-A029-8ED4-DB6D-6563C25C9280}"/>
              </a:ext>
            </a:extLst>
          </p:cNvPr>
          <p:cNvSpPr/>
          <p:nvPr userDrawn="1"/>
        </p:nvSpPr>
        <p:spPr>
          <a:xfrm>
            <a:off x="9685749" y="558375"/>
            <a:ext cx="1417320" cy="1417320"/>
          </a:xfrm>
          <a:custGeom>
            <a:avLst/>
            <a:gdLst>
              <a:gd name="connsiteX0" fmla="*/ 708660 w 1417320"/>
              <a:gd name="connsiteY0" fmla="*/ 68580 h 1417320"/>
              <a:gd name="connsiteX1" fmla="*/ 68580 w 1417320"/>
              <a:gd name="connsiteY1" fmla="*/ 708660 h 1417320"/>
              <a:gd name="connsiteX2" fmla="*/ 708660 w 1417320"/>
              <a:gd name="connsiteY2" fmla="*/ 1348740 h 1417320"/>
              <a:gd name="connsiteX3" fmla="*/ 1348740 w 1417320"/>
              <a:gd name="connsiteY3" fmla="*/ 708660 h 1417320"/>
              <a:gd name="connsiteX4" fmla="*/ 708660 w 1417320"/>
              <a:gd name="connsiteY4" fmla="*/ 68580 h 1417320"/>
              <a:gd name="connsiteX5" fmla="*/ 708660 w 1417320"/>
              <a:gd name="connsiteY5" fmla="*/ 0 h 1417320"/>
              <a:gd name="connsiteX6" fmla="*/ 1417320 w 1417320"/>
              <a:gd name="connsiteY6" fmla="*/ 708660 h 1417320"/>
              <a:gd name="connsiteX7" fmla="*/ 708660 w 1417320"/>
              <a:gd name="connsiteY7" fmla="*/ 1417320 h 1417320"/>
              <a:gd name="connsiteX8" fmla="*/ 0 w 1417320"/>
              <a:gd name="connsiteY8" fmla="*/ 708660 h 1417320"/>
              <a:gd name="connsiteX9" fmla="*/ 708660 w 1417320"/>
              <a:gd name="connsiteY9" fmla="*/ 0 h 1417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7320" h="1417320">
                <a:moveTo>
                  <a:pt x="708660" y="68580"/>
                </a:moveTo>
                <a:cubicBezTo>
                  <a:pt x="355154" y="68580"/>
                  <a:pt x="68580" y="355154"/>
                  <a:pt x="68580" y="708660"/>
                </a:cubicBezTo>
                <a:cubicBezTo>
                  <a:pt x="68580" y="1062166"/>
                  <a:pt x="355154" y="1348740"/>
                  <a:pt x="708660" y="1348740"/>
                </a:cubicBezTo>
                <a:cubicBezTo>
                  <a:pt x="1062166" y="1348740"/>
                  <a:pt x="1348740" y="1062166"/>
                  <a:pt x="1348740" y="708660"/>
                </a:cubicBezTo>
                <a:cubicBezTo>
                  <a:pt x="1348740" y="355154"/>
                  <a:pt x="1062166" y="68580"/>
                  <a:pt x="708660" y="68580"/>
                </a:cubicBezTo>
                <a:close/>
                <a:moveTo>
                  <a:pt x="708660" y="0"/>
                </a:moveTo>
                <a:cubicBezTo>
                  <a:pt x="1100042" y="0"/>
                  <a:pt x="1417320" y="317278"/>
                  <a:pt x="1417320" y="708660"/>
                </a:cubicBezTo>
                <a:cubicBezTo>
                  <a:pt x="1417320" y="1100042"/>
                  <a:pt x="1100042" y="1417320"/>
                  <a:pt x="708660" y="1417320"/>
                </a:cubicBezTo>
                <a:cubicBezTo>
                  <a:pt x="317278" y="1417320"/>
                  <a:pt x="0" y="1100042"/>
                  <a:pt x="0" y="708660"/>
                </a:cubicBezTo>
                <a:cubicBezTo>
                  <a:pt x="0" y="317278"/>
                  <a:pt x="317278" y="0"/>
                  <a:pt x="708660" y="0"/>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86827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240BB4C-6B8F-357F-ED6F-F587D1FE7DE7}"/>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13898" b="63293"/>
          <a:stretch/>
        </p:blipFill>
        <p:spPr>
          <a:xfrm rot="5400000" flipV="1">
            <a:off x="8334734" y="2739009"/>
            <a:ext cx="5181600" cy="2524571"/>
          </a:xfrm>
          <a:prstGeom prst="rect">
            <a:avLst/>
          </a:prstGeom>
        </p:spPr>
      </p:pic>
      <p:sp>
        <p:nvSpPr>
          <p:cNvPr id="5" name="Freeform 5">
            <a:extLst>
              <a:ext uri="{FF2B5EF4-FFF2-40B4-BE49-F238E27FC236}">
                <a16:creationId xmlns:a16="http://schemas.microsoft.com/office/drawing/2014/main" id="{EC29CEAF-3197-2C9C-F10A-BC9C1D5E707E}"/>
              </a:ext>
              <a:ext uri="{C183D7F6-B498-43B3-948B-1728B52AA6E4}">
                <adec:decorative xmlns="" xmlns:adec="http://schemas.microsoft.com/office/drawing/2017/decorative" val="1"/>
              </a:ext>
            </a:extLst>
          </p:cNvPr>
          <p:cNvSpPr/>
          <p:nvPr userDrawn="1"/>
        </p:nvSpPr>
        <p:spPr>
          <a:xfrm rot="13500000" flipV="1">
            <a:off x="4934806" y="4647063"/>
            <a:ext cx="2169988" cy="3494471"/>
          </a:xfrm>
          <a:custGeom>
            <a:avLst/>
            <a:gdLst>
              <a:gd name="connsiteX0" fmla="*/ 2169988 w 2169988"/>
              <a:gd name="connsiteY0" fmla="*/ 3494471 h 3494471"/>
              <a:gd name="connsiteX1" fmla="*/ 0 w 2169988"/>
              <a:gd name="connsiteY1" fmla="*/ 1324484 h 3494471"/>
              <a:gd name="connsiteX2" fmla="*/ 0 w 2169988"/>
              <a:gd name="connsiteY2" fmla="*/ 1084994 h 3494471"/>
              <a:gd name="connsiteX3" fmla="*/ 1084994 w 2169988"/>
              <a:gd name="connsiteY3" fmla="*/ 0 h 3494471"/>
              <a:gd name="connsiteX4" fmla="*/ 2169988 w 2169988"/>
              <a:gd name="connsiteY4" fmla="*/ 1084994 h 3494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988" h="3494471">
                <a:moveTo>
                  <a:pt x="2169988" y="3494471"/>
                </a:moveTo>
                <a:lnTo>
                  <a:pt x="0" y="1324484"/>
                </a:lnTo>
                <a:lnTo>
                  <a:pt x="0" y="1084994"/>
                </a:lnTo>
                <a:cubicBezTo>
                  <a:pt x="0" y="485768"/>
                  <a:pt x="485768" y="0"/>
                  <a:pt x="1084994" y="0"/>
                </a:cubicBezTo>
                <a:cubicBezTo>
                  <a:pt x="1684220" y="0"/>
                  <a:pt x="2169988" y="485768"/>
                  <a:pt x="2169988" y="1084994"/>
                </a:cubicBez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ounded Rectangle 6">
            <a:extLst>
              <a:ext uri="{FF2B5EF4-FFF2-40B4-BE49-F238E27FC236}">
                <a16:creationId xmlns:a16="http://schemas.microsoft.com/office/drawing/2014/main" id="{990D998F-6A53-4D78-E05B-B6F861387F05}"/>
              </a:ext>
              <a:ext uri="{C183D7F6-B498-43B3-948B-1728B52AA6E4}">
                <adec:decorative xmlns="" xmlns:adec="http://schemas.microsoft.com/office/drawing/2017/decorative" val="1"/>
              </a:ext>
            </a:extLst>
          </p:cNvPr>
          <p:cNvSpPr/>
          <p:nvPr userDrawn="1"/>
        </p:nvSpPr>
        <p:spPr>
          <a:xfrm flipH="1" flipV="1">
            <a:off x="1203067" y="591806"/>
            <a:ext cx="906031" cy="903950"/>
          </a:xfrm>
          <a:prstGeom prst="roundRect">
            <a:avLst>
              <a:gd name="adj" fmla="val 50000"/>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42672"/>
            <a:ext cx="11430000" cy="1941577"/>
          </a:xfrm>
        </p:spPr>
        <p:txBody>
          <a:bodyPr anchor="ctr">
            <a:noAutofit/>
          </a:bodyPr>
          <a:lstStyle>
            <a:lvl1pPr algn="ctr">
              <a:defRPr sz="4400"/>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089092" y="2208897"/>
            <a:ext cx="4714785" cy="3988349"/>
          </a:xfrm>
        </p:spPr>
        <p:txBody>
          <a:bodyPr>
            <a:normAutofit/>
          </a:bodyPr>
          <a:lstStyle>
            <a:lvl1pPr marL="512064" indent="-512064" algn="l">
              <a:lnSpc>
                <a:spcPct val="100000"/>
              </a:lnSpc>
              <a:spcBef>
                <a:spcPts val="1000"/>
              </a:spcBef>
              <a:spcAft>
                <a:spcPts val="800"/>
              </a:spcAft>
              <a:buFont typeface="+mj-lt"/>
              <a:buAutoNum type="arabicPeriod"/>
              <a:defRPr sz="1800"/>
            </a:lvl1pPr>
            <a:lvl2pPr marL="800100" indent="-512064" algn="l">
              <a:lnSpc>
                <a:spcPct val="100000"/>
              </a:lnSpc>
              <a:spcBef>
                <a:spcPts val="1000"/>
              </a:spcBef>
              <a:spcAft>
                <a:spcPts val="800"/>
              </a:spcAft>
              <a:buFont typeface="+mj-lt"/>
              <a:buAutoNum type="alphaLcPeriod"/>
              <a:defRPr sz="1600"/>
            </a:lvl2pPr>
            <a:lvl3pPr marL="1257300" indent="-512064" algn="l">
              <a:lnSpc>
                <a:spcPct val="100000"/>
              </a:lnSpc>
              <a:spcBef>
                <a:spcPts val="1000"/>
              </a:spcBef>
              <a:spcAft>
                <a:spcPts val="800"/>
              </a:spcAft>
              <a:buFont typeface="+mj-lt"/>
              <a:buAutoNum type="arabicParenR"/>
              <a:defRPr sz="1400"/>
            </a:lvl3pPr>
            <a:lvl4pPr marL="1600200" indent="-512064" algn="l">
              <a:lnSpc>
                <a:spcPct val="100000"/>
              </a:lnSpc>
              <a:spcBef>
                <a:spcPts val="1000"/>
              </a:spcBef>
              <a:spcAft>
                <a:spcPts val="800"/>
              </a:spcAft>
              <a:buFont typeface="+mj-lt"/>
              <a:buAutoNum type="alphaLcParenR"/>
              <a:defRPr sz="1200"/>
            </a:lvl4pPr>
            <a:lvl5pPr marL="2057400" indent="-512064" algn="l">
              <a:lnSpc>
                <a:spcPct val="100000"/>
              </a:lnSpc>
              <a:spcBef>
                <a:spcPts val="1000"/>
              </a:spcBef>
              <a:spcAft>
                <a:spcPts val="800"/>
              </a:spcAft>
              <a:buFont typeface="+mj-lt"/>
              <a:buAutoNum type="romanLcPeriod"/>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F92E9A95-2BF4-99BE-F73A-A74D783CE446}"/>
              </a:ext>
            </a:extLst>
          </p:cNvPr>
          <p:cNvSpPr>
            <a:spLocks noGrp="1"/>
          </p:cNvSpPr>
          <p:nvPr>
            <p:ph idx="10" hasCustomPrompt="1"/>
          </p:nvPr>
        </p:nvSpPr>
        <p:spPr>
          <a:xfrm>
            <a:off x="6425417" y="2208897"/>
            <a:ext cx="4714785" cy="3988349"/>
          </a:xfrm>
        </p:spPr>
        <p:txBody>
          <a:bodyPr>
            <a:normAutofit/>
          </a:bodyPr>
          <a:lstStyle>
            <a:lvl1pPr marL="0" indent="0" algn="l">
              <a:lnSpc>
                <a:spcPct val="90000"/>
              </a:lnSpc>
              <a:spcBef>
                <a:spcPts val="1000"/>
              </a:spcBef>
              <a:spcAft>
                <a:spcPts val="800"/>
              </a:spcAft>
              <a:buNone/>
              <a:defRPr sz="1800"/>
            </a:lvl1pPr>
            <a:lvl2pPr marL="742950" indent="-285750" algn="l">
              <a:lnSpc>
                <a:spcPct val="90000"/>
              </a:lnSpc>
              <a:spcBef>
                <a:spcPts val="1000"/>
              </a:spcBef>
              <a:spcAft>
                <a:spcPts val="800"/>
              </a:spcAft>
              <a:buFont typeface="Arial" panose="020B0604020202020204" pitchFamily="34" charset="0"/>
              <a:buChar char="•"/>
              <a:defRPr sz="1600"/>
            </a:lvl2pPr>
            <a:lvl3pPr marL="1200150" indent="-285750" algn="l">
              <a:lnSpc>
                <a:spcPct val="90000"/>
              </a:lnSpc>
              <a:spcBef>
                <a:spcPts val="1000"/>
              </a:spcBef>
              <a:spcAft>
                <a:spcPts val="800"/>
              </a:spcAft>
              <a:buFont typeface="Arial" panose="020B0604020202020204" pitchFamily="34" charset="0"/>
              <a:buChar char="•"/>
              <a:defRPr sz="1400"/>
            </a:lvl3pPr>
            <a:lvl4pPr marL="1543050" indent="-171450" algn="l">
              <a:lnSpc>
                <a:spcPct val="90000"/>
              </a:lnSpc>
              <a:spcBef>
                <a:spcPts val="1000"/>
              </a:spcBef>
              <a:spcAft>
                <a:spcPts val="800"/>
              </a:spcAft>
              <a:buFont typeface="Arial" panose="020B0604020202020204" pitchFamily="34" charset="0"/>
              <a:buChar char="•"/>
              <a:defRPr sz="1200"/>
            </a:lvl4pPr>
            <a:lvl5pPr marL="2000250" indent="-171450" algn="l">
              <a:lnSpc>
                <a:spcPct val="90000"/>
              </a:lnSpc>
              <a:spcBef>
                <a:spcPts val="1000"/>
              </a:spcBef>
              <a:spcAft>
                <a:spcPts val="8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2565D73C-F16A-968B-391B-24CB7EEB3F1B}"/>
              </a:ext>
            </a:extLst>
          </p:cNvPr>
          <p:cNvSpPr>
            <a:spLocks noGrp="1"/>
          </p:cNvSpPr>
          <p:nvPr>
            <p:ph type="ftr" sz="quarter" idx="11"/>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BCDC7A41-1D00-F1B1-08B5-F7E01122C58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6363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E00F4D10-3ADA-D113-BD21-4AB95DE7F60E}"/>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l="18897" t="4055" b="11876"/>
          <a:stretch/>
        </p:blipFill>
        <p:spPr>
          <a:xfrm>
            <a:off x="0" y="-1"/>
            <a:ext cx="3103614" cy="6858001"/>
          </a:xfrm>
          <a:prstGeom prst="rect">
            <a:avLst/>
          </a:prstGeom>
        </p:spPr>
      </p:pic>
      <p:sp>
        <p:nvSpPr>
          <p:cNvPr id="4" name="Freeform 10">
            <a:extLst>
              <a:ext uri="{FF2B5EF4-FFF2-40B4-BE49-F238E27FC236}">
                <a16:creationId xmlns:a16="http://schemas.microsoft.com/office/drawing/2014/main" id="{BDBCB359-3984-96FE-AB0E-B343069078E9}"/>
              </a:ext>
              <a:ext uri="{C183D7F6-B498-43B3-948B-1728B52AA6E4}">
                <adec:decorative xmlns="" xmlns:adec="http://schemas.microsoft.com/office/drawing/2017/decorative" val="1"/>
              </a:ext>
            </a:extLst>
          </p:cNvPr>
          <p:cNvSpPr/>
          <p:nvPr userDrawn="1"/>
        </p:nvSpPr>
        <p:spPr>
          <a:xfrm>
            <a:off x="10510883" y="4918500"/>
            <a:ext cx="1681117" cy="1939500"/>
          </a:xfrm>
          <a:custGeom>
            <a:avLst/>
            <a:gdLst>
              <a:gd name="connsiteX0" fmla="*/ 788195 w 1681117"/>
              <a:gd name="connsiteY0" fmla="*/ 0 h 1939500"/>
              <a:gd name="connsiteX1" fmla="*/ 1345532 w 1681117"/>
              <a:gd name="connsiteY1" fmla="*/ 230856 h 1939500"/>
              <a:gd name="connsiteX2" fmla="*/ 1681117 w 1681117"/>
              <a:gd name="connsiteY2" fmla="*/ 566441 h 1939500"/>
              <a:gd name="connsiteX3" fmla="*/ 1681117 w 1681117"/>
              <a:gd name="connsiteY3" fmla="*/ 1939500 h 1939500"/>
              <a:gd name="connsiteX4" fmla="*/ 824828 w 1681117"/>
              <a:gd name="connsiteY4" fmla="*/ 1939500 h 1939500"/>
              <a:gd name="connsiteX5" fmla="*/ 230858 w 1681117"/>
              <a:gd name="connsiteY5" fmla="*/ 1345531 h 1939500"/>
              <a:gd name="connsiteX6" fmla="*/ 230858 w 1681117"/>
              <a:gd name="connsiteY6" fmla="*/ 230856 h 1939500"/>
              <a:gd name="connsiteX7" fmla="*/ 788195 w 1681117"/>
              <a:gd name="connsiteY7" fmla="*/ 0 h 193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1117" h="1939500">
                <a:moveTo>
                  <a:pt x="788195" y="0"/>
                </a:moveTo>
                <a:cubicBezTo>
                  <a:pt x="989911" y="0"/>
                  <a:pt x="1191628" y="76952"/>
                  <a:pt x="1345532" y="230856"/>
                </a:cubicBezTo>
                <a:lnTo>
                  <a:pt x="1681117" y="566441"/>
                </a:lnTo>
                <a:lnTo>
                  <a:pt x="1681117" y="1939500"/>
                </a:lnTo>
                <a:lnTo>
                  <a:pt x="824828" y="1939500"/>
                </a:lnTo>
                <a:lnTo>
                  <a:pt x="230858" y="1345531"/>
                </a:lnTo>
                <a:cubicBezTo>
                  <a:pt x="-76952" y="1037722"/>
                  <a:pt x="-76952" y="538666"/>
                  <a:pt x="230858" y="230856"/>
                </a:cubicBezTo>
                <a:cubicBezTo>
                  <a:pt x="384763" y="76952"/>
                  <a:pt x="586479" y="0"/>
                  <a:pt x="788195" y="0"/>
                </a:cubicBezTo>
                <a:close/>
              </a:path>
            </a:pathLst>
          </a:cu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8">
            <a:extLst>
              <a:ext uri="{FF2B5EF4-FFF2-40B4-BE49-F238E27FC236}">
                <a16:creationId xmlns:a16="http://schemas.microsoft.com/office/drawing/2014/main" id="{5E68A3D6-C483-F214-27BA-8B35BF732B19}"/>
              </a:ext>
              <a:ext uri="{C183D7F6-B498-43B3-948B-1728B52AA6E4}">
                <adec:decorative xmlns="" xmlns:adec="http://schemas.microsoft.com/office/drawing/2017/decorative" val="1"/>
              </a:ext>
            </a:extLst>
          </p:cNvPr>
          <p:cNvSpPr/>
          <p:nvPr userDrawn="1"/>
        </p:nvSpPr>
        <p:spPr>
          <a:xfrm>
            <a:off x="6119850" y="3462203"/>
            <a:ext cx="5975159" cy="3395799"/>
          </a:xfrm>
          <a:custGeom>
            <a:avLst/>
            <a:gdLst>
              <a:gd name="connsiteX0" fmla="*/ 1823885 w 5975159"/>
              <a:gd name="connsiteY0" fmla="*/ 0 h 3395799"/>
              <a:gd name="connsiteX1" fmla="*/ 3113564 w 5975159"/>
              <a:gd name="connsiteY1" fmla="*/ 534203 h 3395799"/>
              <a:gd name="connsiteX2" fmla="*/ 5975159 w 5975159"/>
              <a:gd name="connsiteY2" fmla="*/ 3395799 h 3395799"/>
              <a:gd name="connsiteX3" fmla="*/ 816439 w 5975159"/>
              <a:gd name="connsiteY3" fmla="*/ 3395799 h 3395799"/>
              <a:gd name="connsiteX4" fmla="*/ 534204 w 5975159"/>
              <a:gd name="connsiteY4" fmla="*/ 3113564 h 3395799"/>
              <a:gd name="connsiteX5" fmla="*/ 534204 w 5975159"/>
              <a:gd name="connsiteY5" fmla="*/ 534203 h 3395799"/>
              <a:gd name="connsiteX6" fmla="*/ 1823885 w 5975159"/>
              <a:gd name="connsiteY6" fmla="*/ 0 h 339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5159" h="3395799">
                <a:moveTo>
                  <a:pt x="1823885" y="0"/>
                </a:moveTo>
                <a:cubicBezTo>
                  <a:pt x="2290657" y="0"/>
                  <a:pt x="2757429" y="178068"/>
                  <a:pt x="3113564" y="534203"/>
                </a:cubicBezTo>
                <a:lnTo>
                  <a:pt x="5975159" y="3395799"/>
                </a:lnTo>
                <a:lnTo>
                  <a:pt x="816439" y="3395799"/>
                </a:lnTo>
                <a:lnTo>
                  <a:pt x="534204" y="3113564"/>
                </a:lnTo>
                <a:cubicBezTo>
                  <a:pt x="-178067" y="2401293"/>
                  <a:pt x="-178067" y="1246475"/>
                  <a:pt x="534204" y="534203"/>
                </a:cubicBezTo>
                <a:cubicBezTo>
                  <a:pt x="890340" y="178068"/>
                  <a:pt x="1357112" y="0"/>
                  <a:pt x="1823885"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Graphic 5">
            <a:extLst>
              <a:ext uri="{FF2B5EF4-FFF2-40B4-BE49-F238E27FC236}">
                <a16:creationId xmlns:a16="http://schemas.microsoft.com/office/drawing/2014/main" id="{DE2FBD89-DA8F-ADF1-13DC-2B2C87C370D2}"/>
              </a:ext>
              <a:ext uri="{C183D7F6-B498-43B3-948B-1728B52AA6E4}">
                <adec:decorative xmlns=""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l="49177" b="21401"/>
          <a:stretch/>
        </p:blipFill>
        <p:spPr>
          <a:xfrm rot="16200000" flipH="1">
            <a:off x="9138285" y="-1184108"/>
            <a:ext cx="1869610" cy="4237825"/>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6766024" y="422771"/>
            <a:ext cx="4874773" cy="3685032"/>
          </a:xfrm>
        </p:spPr>
        <p:txBody>
          <a:bodyPr anchor="b">
            <a:noAutofit/>
          </a:bodyPr>
          <a:lstStyle>
            <a:lvl1pPr algn="l">
              <a:defRPr sz="4400"/>
            </a:lvl1pPr>
          </a:lstStyle>
          <a:p>
            <a:endParaRPr lang="en-US" dirty="0"/>
          </a:p>
        </p:txBody>
      </p:sp>
      <p:sp>
        <p:nvSpPr>
          <p:cNvPr id="10" name="Picture Placeholder 8">
            <a:extLst>
              <a:ext uri="{FF2B5EF4-FFF2-40B4-BE49-F238E27FC236}">
                <a16:creationId xmlns:a16="http://schemas.microsoft.com/office/drawing/2014/main" id="{DC8F6DBF-00CE-377D-5D93-8039CDB5B3A6}"/>
              </a:ext>
            </a:extLst>
          </p:cNvPr>
          <p:cNvSpPr>
            <a:spLocks noGrp="1"/>
          </p:cNvSpPr>
          <p:nvPr>
            <p:ph type="pic" sz="quarter" idx="10" hasCustomPrompt="1"/>
          </p:nvPr>
        </p:nvSpPr>
        <p:spPr>
          <a:xfrm>
            <a:off x="958680" y="888652"/>
            <a:ext cx="4846320" cy="4846320"/>
          </a:xfrm>
          <a:custGeom>
            <a:avLst/>
            <a:gdLst>
              <a:gd name="connsiteX0" fmla="*/ 3465617 w 4846320"/>
              <a:gd name="connsiteY0" fmla="*/ 238237 h 4846320"/>
              <a:gd name="connsiteX1" fmla="*/ 3578182 w 4846320"/>
              <a:gd name="connsiteY1" fmla="*/ 292463 h 4846320"/>
              <a:gd name="connsiteX2" fmla="*/ 4655896 w 4846320"/>
              <a:gd name="connsiteY2" fmla="*/ 1479957 h 4846320"/>
              <a:gd name="connsiteX3" fmla="*/ 4705729 w 4846320"/>
              <a:gd name="connsiteY3" fmla="*/ 1616111 h 4846320"/>
              <a:gd name="connsiteX4" fmla="*/ 4661850 w 4846320"/>
              <a:gd name="connsiteY4" fmla="*/ 1627271 h 4846320"/>
              <a:gd name="connsiteX5" fmla="*/ 4449615 w 4846320"/>
              <a:gd name="connsiteY5" fmla="*/ 1648434 h 4846320"/>
              <a:gd name="connsiteX6" fmla="*/ 3396523 w 4846320"/>
              <a:gd name="connsiteY6" fmla="*/ 606773 h 4846320"/>
              <a:gd name="connsiteX7" fmla="*/ 3443868 w 4846320"/>
              <a:gd name="connsiteY7" fmla="*/ 297015 h 4846320"/>
              <a:gd name="connsiteX8" fmla="*/ 2423160 w 4846320"/>
              <a:gd name="connsiteY8" fmla="*/ 0 h 4846320"/>
              <a:gd name="connsiteX9" fmla="*/ 3366363 w 4846320"/>
              <a:gd name="connsiteY9" fmla="*/ 190424 h 4846320"/>
              <a:gd name="connsiteX10" fmla="*/ 3392938 w 4846320"/>
              <a:gd name="connsiteY10" fmla="*/ 203226 h 4846320"/>
              <a:gd name="connsiteX11" fmla="*/ 3367099 w 4846320"/>
              <a:gd name="connsiteY11" fmla="*/ 273111 h 4846320"/>
              <a:gd name="connsiteX12" fmla="*/ 3316140 w 4846320"/>
              <a:gd name="connsiteY12" fmla="*/ 606773 h 4846320"/>
              <a:gd name="connsiteX13" fmla="*/ 4449615 w 4846320"/>
              <a:gd name="connsiteY13" fmla="*/ 1728818 h 4846320"/>
              <a:gd name="connsiteX14" fmla="*/ 4678050 w 4846320"/>
              <a:gd name="connsiteY14" fmla="*/ 1706022 h 4846320"/>
              <a:gd name="connsiteX15" fmla="*/ 4733474 w 4846320"/>
              <a:gd name="connsiteY15" fmla="*/ 1691915 h 4846320"/>
              <a:gd name="connsiteX16" fmla="*/ 4737380 w 4846320"/>
              <a:gd name="connsiteY16" fmla="*/ 1702587 h 4846320"/>
              <a:gd name="connsiteX17" fmla="*/ 4846320 w 4846320"/>
              <a:gd name="connsiteY17" fmla="*/ 2423160 h 4846320"/>
              <a:gd name="connsiteX18" fmla="*/ 2423160 w 4846320"/>
              <a:gd name="connsiteY18" fmla="*/ 4846320 h 4846320"/>
              <a:gd name="connsiteX19" fmla="*/ 0 w 4846320"/>
              <a:gd name="connsiteY19" fmla="*/ 2423160 h 4846320"/>
              <a:gd name="connsiteX20" fmla="*/ 2423160 w 4846320"/>
              <a:gd name="connsiteY20" fmla="*/ 0 h 484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46320" h="4846320">
                <a:moveTo>
                  <a:pt x="3465617" y="238237"/>
                </a:moveTo>
                <a:lnTo>
                  <a:pt x="3578182" y="292463"/>
                </a:lnTo>
                <a:cubicBezTo>
                  <a:pt x="4058866" y="553586"/>
                  <a:pt x="4441314" y="972627"/>
                  <a:pt x="4655896" y="1479957"/>
                </a:cubicBezTo>
                <a:lnTo>
                  <a:pt x="4705729" y="1616111"/>
                </a:lnTo>
                <a:lnTo>
                  <a:pt x="4661850" y="1627271"/>
                </a:lnTo>
                <a:cubicBezTo>
                  <a:pt x="4593296" y="1641147"/>
                  <a:pt x="4522316" y="1648434"/>
                  <a:pt x="4449615" y="1648434"/>
                </a:cubicBezTo>
                <a:cubicBezTo>
                  <a:pt x="3868008" y="1648434"/>
                  <a:pt x="3396523" y="1182066"/>
                  <a:pt x="3396523" y="606773"/>
                </a:cubicBezTo>
                <a:cubicBezTo>
                  <a:pt x="3396523" y="498906"/>
                  <a:pt x="3413099" y="394868"/>
                  <a:pt x="3443868" y="297015"/>
                </a:cubicBezTo>
                <a:close/>
                <a:moveTo>
                  <a:pt x="2423160" y="0"/>
                </a:moveTo>
                <a:cubicBezTo>
                  <a:pt x="2757729" y="0"/>
                  <a:pt x="3076460" y="67805"/>
                  <a:pt x="3366363" y="190424"/>
                </a:cubicBezTo>
                <a:lnTo>
                  <a:pt x="3392938" y="203226"/>
                </a:lnTo>
                <a:lnTo>
                  <a:pt x="3367099" y="273111"/>
                </a:lnTo>
                <a:cubicBezTo>
                  <a:pt x="3333981" y="378515"/>
                  <a:pt x="3316140" y="490582"/>
                  <a:pt x="3316140" y="606773"/>
                </a:cubicBezTo>
                <a:cubicBezTo>
                  <a:pt x="3316140" y="1226461"/>
                  <a:pt x="3823614" y="1728818"/>
                  <a:pt x="4449615" y="1728818"/>
                </a:cubicBezTo>
                <a:cubicBezTo>
                  <a:pt x="4527865" y="1728818"/>
                  <a:pt x="4604263" y="1720969"/>
                  <a:pt x="4678050" y="1706022"/>
                </a:cubicBezTo>
                <a:lnTo>
                  <a:pt x="4733474" y="1691915"/>
                </a:lnTo>
                <a:lnTo>
                  <a:pt x="4737380" y="1702587"/>
                </a:lnTo>
                <a:cubicBezTo>
                  <a:pt x="4808180" y="1930216"/>
                  <a:pt x="4846320" y="2172234"/>
                  <a:pt x="4846320" y="2423160"/>
                </a:cubicBezTo>
                <a:cubicBezTo>
                  <a:pt x="4846320" y="3761434"/>
                  <a:pt x="3761434" y="4846320"/>
                  <a:pt x="2423160" y="4846320"/>
                </a:cubicBezTo>
                <a:cubicBezTo>
                  <a:pt x="1084886" y="4846320"/>
                  <a:pt x="0" y="3761434"/>
                  <a:pt x="0" y="2423160"/>
                </a:cubicBezTo>
                <a:cubicBezTo>
                  <a:pt x="0" y="1084886"/>
                  <a:pt x="1084886" y="0"/>
                  <a:pt x="2423160" y="0"/>
                </a:cubicBezTo>
                <a:close/>
              </a:path>
            </a:pathLst>
          </a:custGeom>
          <a:noFill/>
        </p:spPr>
        <p:txBody>
          <a:bodyPr wrap="square">
            <a:noAutofit/>
          </a:bodyPr>
          <a:lstStyle>
            <a:lvl1pPr marL="0" indent="0" algn="ctr">
              <a:buNone/>
              <a:defRPr/>
            </a:lvl1pPr>
          </a:lstStyle>
          <a:p>
            <a:r>
              <a:rPr lang="en-US" dirty="0"/>
              <a:t>Click icon </a:t>
            </a:r>
            <a:br>
              <a:rPr lang="en-US" dirty="0"/>
            </a:br>
            <a:r>
              <a:rPr lang="en-US" dirty="0"/>
              <a:t>to add picture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766025" y="4204801"/>
            <a:ext cx="4889044" cy="2230428"/>
          </a:xfrm>
        </p:spPr>
        <p:txBody>
          <a:bodyPr>
            <a:normAutofit/>
          </a:bodyPr>
          <a:lstStyle>
            <a:lvl1pPr marL="0" indent="0" algn="l">
              <a:lnSpc>
                <a:spcPct val="120000"/>
              </a:lnSpc>
              <a:spcBef>
                <a:spcPts val="1000"/>
              </a:spcBef>
              <a:spcAft>
                <a:spcPts val="0"/>
              </a:spcAft>
              <a:buFont typeface="Arial" panose="020B0604020202020204" pitchFamily="34" charset="0"/>
              <a:buNone/>
              <a:defRPr sz="1800">
                <a:solidFill>
                  <a:schemeClr val="accent6">
                    <a:lumMod val="50000"/>
                  </a:schemeClr>
                </a:solidFill>
              </a:defRPr>
            </a:lvl1pPr>
            <a:lvl2pPr marL="0" indent="0" algn="l">
              <a:lnSpc>
                <a:spcPct val="120000"/>
              </a:lnSpc>
              <a:spcBef>
                <a:spcPts val="1000"/>
              </a:spcBef>
              <a:spcAft>
                <a:spcPts val="0"/>
              </a:spcAft>
              <a:buFont typeface="Arial" panose="020B0604020202020204" pitchFamily="34" charset="0"/>
              <a:buNone/>
              <a:defRPr sz="1800"/>
            </a:lvl2pPr>
            <a:lvl3pPr marL="914400" indent="0" algn="l">
              <a:lnSpc>
                <a:spcPct val="120000"/>
              </a:lnSpc>
              <a:spcBef>
                <a:spcPts val="1000"/>
              </a:spcBef>
              <a:spcAft>
                <a:spcPts val="0"/>
              </a:spcAft>
              <a:buFont typeface="Arial" panose="020B0604020202020204" pitchFamily="34" charset="0"/>
              <a:buNone/>
              <a:defRPr sz="1800"/>
            </a:lvl3pPr>
            <a:lvl4pPr marL="1371600" indent="0" algn="l">
              <a:lnSpc>
                <a:spcPct val="100000"/>
              </a:lnSpc>
              <a:spcBef>
                <a:spcPts val="1000"/>
              </a:spcBef>
              <a:spcAft>
                <a:spcPts val="800"/>
              </a:spcAft>
              <a:buNone/>
              <a:defRPr sz="1200"/>
            </a:lvl4pPr>
            <a:lvl5pPr marL="1828800" indent="0" algn="l">
              <a:lnSpc>
                <a:spcPct val="100000"/>
              </a:lnSpc>
              <a:spcBef>
                <a:spcPts val="1000"/>
              </a:spcBef>
              <a:spcAft>
                <a:spcPts val="800"/>
              </a:spcAft>
              <a:buNone/>
              <a:defRPr sz="1200"/>
            </a:lvl5pPr>
          </a:lstStyle>
          <a:p>
            <a:pPr lvl="0"/>
            <a:r>
              <a:rPr lang="en-US" dirty="0"/>
              <a:t>Click to add content</a:t>
            </a:r>
          </a:p>
          <a:p>
            <a:pPr lvl="1"/>
            <a:r>
              <a:rPr lang="en-US" dirty="0"/>
              <a:t>Second level</a:t>
            </a:r>
          </a:p>
          <a:p>
            <a:pPr lvl="2"/>
            <a:endParaRPr lang="en-US" dirty="0"/>
          </a:p>
        </p:txBody>
      </p:sp>
      <p:sp>
        <p:nvSpPr>
          <p:cNvPr id="11" name="Circle: Hollow 10">
            <a:extLst>
              <a:ext uri="{FF2B5EF4-FFF2-40B4-BE49-F238E27FC236}">
                <a16:creationId xmlns:a16="http://schemas.microsoft.com/office/drawing/2014/main" id="{B2F8D782-06EC-940C-F17F-0CED2CF68886}"/>
              </a:ext>
            </a:extLst>
          </p:cNvPr>
          <p:cNvSpPr/>
          <p:nvPr userDrawn="1"/>
        </p:nvSpPr>
        <p:spPr>
          <a:xfrm>
            <a:off x="4274820" y="373380"/>
            <a:ext cx="2266950" cy="2244089"/>
          </a:xfrm>
          <a:prstGeom prst="donut">
            <a:avLst>
              <a:gd name="adj" fmla="val 35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Footer Placeholder 6">
            <a:extLst>
              <a:ext uri="{FF2B5EF4-FFF2-40B4-BE49-F238E27FC236}">
                <a16:creationId xmlns:a16="http://schemas.microsoft.com/office/drawing/2014/main" id="{F42E7812-2B15-FAFC-B703-798C9302B2EF}"/>
              </a:ext>
            </a:extLst>
          </p:cNvPr>
          <p:cNvSpPr>
            <a:spLocks noGrp="1"/>
          </p:cNvSpPr>
          <p:nvPr>
            <p:ph type="ftr" sz="quarter" idx="11"/>
          </p:nvPr>
        </p:nvSpPr>
        <p:spPr/>
        <p:txBody>
          <a:bodyPr/>
          <a:lstStyle/>
          <a:p>
            <a:r>
              <a:rPr lang="en-US"/>
              <a:t>Business marketing meeting</a:t>
            </a:r>
            <a:endParaRPr lang="en-US" dirty="0"/>
          </a:p>
        </p:txBody>
      </p:sp>
      <p:sp>
        <p:nvSpPr>
          <p:cNvPr id="8" name="Slide Number Placeholder 7">
            <a:extLst>
              <a:ext uri="{FF2B5EF4-FFF2-40B4-BE49-F238E27FC236}">
                <a16:creationId xmlns:a16="http://schemas.microsoft.com/office/drawing/2014/main" id="{CDDCB7C6-FF8A-F130-CFBB-79DEA452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87512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lstStyle/>
          <a:p>
            <a:r>
              <a:rPr lang="en-US" dirty="0"/>
              <a:t>Click to add title</a:t>
            </a:r>
          </a:p>
        </p:txBody>
      </p:sp>
      <p:sp>
        <p:nvSpPr>
          <p:cNvPr id="3" name="Footer Placeholder 2">
            <a:extLst>
              <a:ext uri="{FF2B5EF4-FFF2-40B4-BE49-F238E27FC236}">
                <a16:creationId xmlns:a16="http://schemas.microsoft.com/office/drawing/2014/main" id="{05EC44D7-9AAD-F106-CAD2-04794BDF76E3}"/>
              </a:ext>
            </a:extLst>
          </p:cNvPr>
          <p:cNvSpPr>
            <a:spLocks noGrp="1"/>
          </p:cNvSpPr>
          <p:nvPr>
            <p:ph type="ftr" sz="quarter" idx="10"/>
          </p:nvPr>
        </p:nvSpPr>
        <p:spPr/>
        <p:txBody>
          <a:bodyPr/>
          <a:lstStyle/>
          <a:p>
            <a:r>
              <a:rPr lang="en-US"/>
              <a:t>Business marketing meeting</a:t>
            </a:r>
            <a:endParaRPr lang="en-US" dirty="0"/>
          </a:p>
        </p:txBody>
      </p:sp>
      <p:sp>
        <p:nvSpPr>
          <p:cNvPr id="6" name="Slide Number Placeholder 5">
            <a:extLst>
              <a:ext uri="{FF2B5EF4-FFF2-40B4-BE49-F238E27FC236}">
                <a16:creationId xmlns:a16="http://schemas.microsoft.com/office/drawing/2014/main" id="{91F7369F-CCA5-249D-9978-6BEE7F7AA740}"/>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BFC298-BCBF-9536-D950-DEB35893F370}"/>
              </a:ext>
            </a:extLst>
          </p:cNvPr>
          <p:cNvSpPr>
            <a:spLocks noGrp="1"/>
          </p:cNvSpPr>
          <p:nvPr>
            <p:ph type="ftr" sz="quarter" idx="10"/>
          </p:nvPr>
        </p:nvSpPr>
        <p:spPr/>
        <p:txBody>
          <a:bodyPr/>
          <a:lstStyle/>
          <a:p>
            <a:r>
              <a:rPr lang="en-US"/>
              <a:t>Business marketing meeting</a:t>
            </a:r>
            <a:endParaRPr lang="en-US" dirty="0"/>
          </a:p>
        </p:txBody>
      </p:sp>
      <p:sp>
        <p:nvSpPr>
          <p:cNvPr id="5" name="Slide Number Placeholder 4">
            <a:extLst>
              <a:ext uri="{FF2B5EF4-FFF2-40B4-BE49-F238E27FC236}">
                <a16:creationId xmlns:a16="http://schemas.microsoft.com/office/drawing/2014/main" id="{D39FBDF3-67E1-9C77-E43E-2F80B364EEF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2845222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A97309-2E1F-F812-D384-402EC7900D26}"/>
              </a:ext>
            </a:extLst>
          </p:cNvPr>
          <p:cNvSpPr/>
          <p:nvPr userDrawn="1"/>
        </p:nvSpPr>
        <p:spPr>
          <a:xfrm>
            <a:off x="0" y="0"/>
            <a:ext cx="12192000" cy="6858000"/>
          </a:xfrm>
          <a:prstGeom prst="rect">
            <a:avLst/>
          </a:prstGeom>
          <a:solidFill>
            <a:schemeClr val="accent6">
              <a:lumMod val="20000"/>
              <a:lumOff val="80000"/>
              <a:alpha val="46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3658517" cy="365125"/>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pPr algn="l"/>
            <a:r>
              <a:rPr lang="en-US" dirty="0"/>
              <a:t>Business marketing meeting</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50"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4" r:id="rId14"/>
    <p:sldLayoutId id="2147483655" r:id="rId15"/>
    <p:sldLayoutId id="2147483676" r:id="rId16"/>
  </p:sldLayoutIdLst>
  <p:hf hdr="0" ftr="0" dt="0"/>
  <p:txStyles>
    <p:titleStyle>
      <a:lvl1pPr algn="l" defTabSz="914400" rtl="0" eaLnBrk="1" latinLnBrk="0" hangingPunct="1">
        <a:lnSpc>
          <a:spcPct val="90000"/>
        </a:lnSpc>
        <a:spcBef>
          <a:spcPct val="0"/>
        </a:spcBef>
        <a:buNone/>
        <a:defRPr sz="4400" b="1" kern="1200" cap="all" spc="150"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gif"/><Relationship Id="rId1" Type="http://schemas.openxmlformats.org/officeDocument/2006/relationships/slideLayout" Target="../slideLayouts/slideLayout4.xml"/><Relationship Id="rId4" Type="http://schemas.openxmlformats.org/officeDocument/2006/relationships/image" Target="../media/image18.gif"/></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16.xml"/><Relationship Id="rId5" Type="http://schemas.openxmlformats.org/officeDocument/2006/relationships/image" Target="../media/image30.png"/><Relationship Id="rId4" Type="http://schemas.openxmlformats.org/officeDocument/2006/relationships/image" Target="../media/image29.gif"/></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jpeg"/><Relationship Id="rId1" Type="http://schemas.openxmlformats.org/officeDocument/2006/relationships/slideLayout" Target="../slideLayouts/slideLayout16.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gif"/><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42.gif"/></Relationships>
</file>

<file path=ppt/slides/_rels/slide2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8" Type="http://schemas.openxmlformats.org/officeDocument/2006/relationships/hyperlink" Target="https://www.youtube.com/watch?v=r5cqJTU5D5I" TargetMode="External"/><Relationship Id="rId3" Type="http://schemas.openxmlformats.org/officeDocument/2006/relationships/notesSlide" Target="../notesSlides/notesSlide17.xml"/><Relationship Id="rId7" Type="http://schemas.openxmlformats.org/officeDocument/2006/relationships/hyperlink" Target="https://youtu.be/gzm7yD-JuyM" TargetMode="External"/><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48.png"/><Relationship Id="rId5" Type="http://schemas.openxmlformats.org/officeDocument/2006/relationships/hyperlink" Target="https://tinyurl.com/5csv6abr" TargetMode="External"/><Relationship Id="rId10" Type="http://schemas.openxmlformats.org/officeDocument/2006/relationships/image" Target="../media/image46.wmf"/><Relationship Id="rId4" Type="http://schemas.openxmlformats.org/officeDocument/2006/relationships/image" Target="../media/image47.jpeg"/><Relationship Id="rId9"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694099" y="464185"/>
            <a:ext cx="5428878" cy="4415795"/>
          </a:xfrm>
        </p:spPr>
        <p:txBody>
          <a:bodyPr anchor="ctr">
            <a:normAutofit/>
          </a:bodyPr>
          <a:lstStyle/>
          <a:p>
            <a:r>
              <a:rPr lang="en-US" dirty="0" smtClean="0"/>
              <a:t>Lesson #1: Chemistry of Life</a:t>
            </a:r>
            <a:endParaRPr lang="en-US" dirty="0"/>
          </a:p>
        </p:txBody>
      </p:sp>
      <p:pic>
        <p:nvPicPr>
          <p:cNvPr id="7174" name="Picture 6" descr="Bioch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4104" y="2901961"/>
            <a:ext cx="6092300" cy="395603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4011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Learning goals</a:t>
            </a:r>
            <a:endParaRPr lang="en-US" dirty="0"/>
          </a:p>
        </p:txBody>
      </p:sp>
      <p:sp>
        <p:nvSpPr>
          <p:cNvPr id="3" name="Content Placeholder 2"/>
          <p:cNvSpPr>
            <a:spLocks noGrp="1"/>
          </p:cNvSpPr>
          <p:nvPr>
            <p:ph idx="1"/>
          </p:nvPr>
        </p:nvSpPr>
        <p:spPr/>
        <p:txBody>
          <a:bodyPr>
            <a:normAutofit fontScale="92500" lnSpcReduction="20000"/>
          </a:bodyPr>
          <a:lstStyle/>
          <a:p>
            <a:pPr fontAlgn="base">
              <a:buFont typeface="Wingdings" panose="05000000000000000000" pitchFamily="2" charset="2"/>
              <a:buChar char="ü"/>
            </a:pPr>
            <a:r>
              <a:rPr lang="en-US" dirty="0" smtClean="0"/>
              <a:t>Be able to list the different parts of an atom </a:t>
            </a:r>
          </a:p>
          <a:p>
            <a:pPr fontAlgn="base">
              <a:buFont typeface="Wingdings" panose="05000000000000000000" pitchFamily="2" charset="2"/>
              <a:buChar char="ü"/>
            </a:pPr>
            <a:r>
              <a:rPr lang="en-US" dirty="0" smtClean="0"/>
              <a:t>Be able to explain the relationship between electron arrangement and chemical reactivity </a:t>
            </a:r>
          </a:p>
          <a:p>
            <a:pPr fontAlgn="base">
              <a:buFont typeface="Wingdings" panose="05000000000000000000" pitchFamily="2" charset="2"/>
              <a:buChar char="ü"/>
            </a:pPr>
            <a:r>
              <a:rPr lang="en-US" dirty="0" smtClean="0"/>
              <a:t>Be able to differentiate between an ionic and covalent bond</a:t>
            </a:r>
          </a:p>
          <a:p>
            <a:pPr fontAlgn="base">
              <a:buFont typeface="Wingdings" panose="05000000000000000000" pitchFamily="2" charset="2"/>
              <a:buChar char="ü"/>
            </a:pPr>
            <a:r>
              <a:rPr lang="en-US" dirty="0" smtClean="0"/>
              <a:t>Be </a:t>
            </a:r>
            <a:r>
              <a:rPr lang="en-US" dirty="0"/>
              <a:t>able to identify whether a </a:t>
            </a:r>
            <a:r>
              <a:rPr lang="en-US" dirty="0" smtClean="0"/>
              <a:t>bond will </a:t>
            </a:r>
            <a:r>
              <a:rPr lang="en-US" dirty="0"/>
              <a:t>be </a:t>
            </a:r>
            <a:r>
              <a:rPr lang="en-US" dirty="0" smtClean="0"/>
              <a:t>polar, non-polar, or ionic </a:t>
            </a:r>
            <a:r>
              <a:rPr lang="en-US" dirty="0"/>
              <a:t>based on </a:t>
            </a:r>
            <a:r>
              <a:rPr lang="en-US" dirty="0" smtClean="0"/>
              <a:t>electronegativity </a:t>
            </a:r>
          </a:p>
          <a:p>
            <a:pPr fontAlgn="base">
              <a:buFont typeface="Wingdings" panose="05000000000000000000" pitchFamily="2" charset="2"/>
              <a:buChar char="ü"/>
            </a:pPr>
            <a:r>
              <a:rPr lang="en-US" dirty="0" smtClean="0"/>
              <a:t>Be able to differentiate between the different types of intermolecular forces </a:t>
            </a:r>
            <a:endParaRPr lang="en-US" dirty="0"/>
          </a:p>
          <a:p>
            <a:pPr fontAlgn="base">
              <a:buFont typeface="Wingdings" panose="05000000000000000000" pitchFamily="2" charset="2"/>
              <a:buChar char="ü"/>
            </a:pPr>
            <a:r>
              <a:rPr lang="en-US" dirty="0" smtClean="0"/>
              <a:t>Be able to predict </a:t>
            </a:r>
            <a:r>
              <a:rPr lang="en-US" dirty="0"/>
              <a:t>the type of intermolecular force that would occur between different molecules</a:t>
            </a:r>
          </a:p>
          <a:p>
            <a:pPr fontAlgn="base">
              <a:buFont typeface="Wingdings" panose="05000000000000000000" pitchFamily="2" charset="2"/>
              <a:buChar char="ü"/>
            </a:pPr>
            <a:r>
              <a:rPr lang="en-US" dirty="0"/>
              <a:t>Be able to rank all forces in terms of relative strength of attraction</a:t>
            </a:r>
          </a:p>
          <a:p>
            <a:pPr fontAlgn="base">
              <a:buFont typeface="Wingdings" panose="05000000000000000000" pitchFamily="2" charset="2"/>
              <a:buChar char="ü"/>
            </a:pPr>
            <a:r>
              <a:rPr lang="en-US" dirty="0" smtClean="0"/>
              <a:t>Be able to explain </a:t>
            </a:r>
            <a:r>
              <a:rPr lang="en-US" dirty="0"/>
              <a:t>how geckos are able to climb vertical surfaces</a:t>
            </a:r>
          </a:p>
          <a:p>
            <a:endParaRPr lang="en-US" dirty="0"/>
          </a:p>
        </p:txBody>
      </p:sp>
    </p:spTree>
    <p:extLst>
      <p:ext uri="{BB962C8B-B14F-4D97-AF65-F5344CB8AC3E}">
        <p14:creationId xmlns:p14="http://schemas.microsoft.com/office/powerpoint/2010/main" val="6290862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What’s the </a:t>
            </a:r>
            <a:r>
              <a:rPr lang="en-US" i="1" dirty="0" smtClean="0"/>
              <a:t>matter</a:t>
            </a:r>
            <a:r>
              <a:rPr lang="en-US" dirty="0" smtClean="0"/>
              <a:t> with you? </a:t>
            </a:r>
            <a:endParaRPr lang="en-US" dirty="0"/>
          </a:p>
        </p:txBody>
      </p:sp>
      <p:sp>
        <p:nvSpPr>
          <p:cNvPr id="3" name="Content Placeholder 2"/>
          <p:cNvSpPr>
            <a:spLocks noGrp="1"/>
          </p:cNvSpPr>
          <p:nvPr>
            <p:ph idx="1"/>
          </p:nvPr>
        </p:nvSpPr>
        <p:spPr>
          <a:xfrm>
            <a:off x="381000" y="1825625"/>
            <a:ext cx="6097621" cy="4351338"/>
          </a:xfrm>
        </p:spPr>
        <p:txBody>
          <a:bodyPr/>
          <a:lstStyle/>
          <a:p>
            <a:r>
              <a:rPr lang="en-US" dirty="0" smtClean="0"/>
              <a:t>Living organisms are composed of an endless assortment of </a:t>
            </a:r>
            <a:r>
              <a:rPr lang="en-US" b="1" u="sng" dirty="0" smtClean="0"/>
              <a:t>matter</a:t>
            </a:r>
          </a:p>
          <a:p>
            <a:endParaRPr lang="en-US" b="1" u="sng" dirty="0" smtClean="0"/>
          </a:p>
          <a:p>
            <a:r>
              <a:rPr lang="en-US" dirty="0" smtClean="0"/>
              <a:t>Matter is made up of </a:t>
            </a:r>
            <a:r>
              <a:rPr lang="en-US" b="1" u="sng" dirty="0" smtClean="0"/>
              <a:t>elements</a:t>
            </a:r>
          </a:p>
          <a:p>
            <a:endParaRPr lang="en-US" b="1" u="sng" dirty="0"/>
          </a:p>
          <a:p>
            <a:r>
              <a:rPr lang="en-US" dirty="0" smtClean="0"/>
              <a:t>20 – 25% are </a:t>
            </a:r>
            <a:r>
              <a:rPr lang="en-US" dirty="0"/>
              <a:t>essential elements that an organism needs to live a healthy life and </a:t>
            </a:r>
            <a:r>
              <a:rPr lang="en-US" dirty="0" smtClean="0"/>
              <a:t>reproduce</a:t>
            </a:r>
            <a:endParaRPr lang="en-US" dirty="0"/>
          </a:p>
        </p:txBody>
      </p:sp>
      <p:pic>
        <p:nvPicPr>
          <p:cNvPr id="4" name="Picture 3"/>
          <p:cNvPicPr>
            <a:picLocks noChangeAspect="1"/>
          </p:cNvPicPr>
          <p:nvPr/>
        </p:nvPicPr>
        <p:blipFill>
          <a:blip r:embed="rId3"/>
          <a:stretch>
            <a:fillRect/>
          </a:stretch>
        </p:blipFill>
        <p:spPr>
          <a:xfrm>
            <a:off x="6863370" y="1706563"/>
            <a:ext cx="5099399" cy="4858155"/>
          </a:xfrm>
          <a:prstGeom prst="rect">
            <a:avLst/>
          </a:prstGeom>
        </p:spPr>
      </p:pic>
    </p:spTree>
    <p:extLst>
      <p:ext uri="{BB962C8B-B14F-4D97-AF65-F5344CB8AC3E}">
        <p14:creationId xmlns:p14="http://schemas.microsoft.com/office/powerpoint/2010/main" val="80480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E8B7A-E552-34ED-FADF-0CCD01F8FA29}"/>
              </a:ext>
            </a:extLst>
          </p:cNvPr>
          <p:cNvSpPr>
            <a:spLocks noGrp="1"/>
          </p:cNvSpPr>
          <p:nvPr>
            <p:ph type="title"/>
          </p:nvPr>
        </p:nvSpPr>
        <p:spPr>
          <a:xfrm>
            <a:off x="381000" y="42672"/>
            <a:ext cx="11430000" cy="1305837"/>
          </a:xfrm>
        </p:spPr>
        <p:txBody>
          <a:bodyPr/>
          <a:lstStyle/>
          <a:p>
            <a:r>
              <a:rPr lang="en-US" dirty="0" smtClean="0"/>
              <a:t>Atomic structure</a:t>
            </a:r>
            <a:endParaRPr lang="en-US" dirty="0"/>
          </a:p>
        </p:txBody>
      </p:sp>
      <p:sp>
        <p:nvSpPr>
          <p:cNvPr id="5" name="Content Placeholder 4">
            <a:extLst>
              <a:ext uri="{FF2B5EF4-FFF2-40B4-BE49-F238E27FC236}">
                <a16:creationId xmlns:a16="http://schemas.microsoft.com/office/drawing/2014/main" id="{AEBFE9FE-79C1-AC5A-B40D-6C6A67749E02}"/>
              </a:ext>
            </a:extLst>
          </p:cNvPr>
          <p:cNvSpPr>
            <a:spLocks noGrp="1"/>
          </p:cNvSpPr>
          <p:nvPr>
            <p:ph idx="1"/>
          </p:nvPr>
        </p:nvSpPr>
        <p:spPr>
          <a:xfrm>
            <a:off x="568747" y="1971032"/>
            <a:ext cx="4051415" cy="4635621"/>
          </a:xfrm>
        </p:spPr>
        <p:txBody>
          <a:bodyPr>
            <a:normAutofit lnSpcReduction="10000"/>
          </a:bodyPr>
          <a:lstStyle/>
          <a:p>
            <a:pPr marL="285750" indent="-285750">
              <a:buFont typeface="Arial" panose="020B0604020202020204" pitchFamily="34" charset="0"/>
              <a:buChar char="•"/>
            </a:pPr>
            <a:r>
              <a:rPr lang="en-US" sz="2400" dirty="0"/>
              <a:t>The </a:t>
            </a:r>
            <a:r>
              <a:rPr lang="en-US" sz="2400" b="1" u="sng" dirty="0"/>
              <a:t>atom</a:t>
            </a:r>
            <a:r>
              <a:rPr lang="en-US" sz="2400" dirty="0"/>
              <a:t> is the smallest unit of </a:t>
            </a:r>
            <a:r>
              <a:rPr lang="en-US" sz="2400" dirty="0" smtClean="0"/>
              <a:t>matter</a:t>
            </a:r>
            <a:endParaRPr lang="en-US" sz="2400" b="1" dirty="0" smtClean="0"/>
          </a:p>
          <a:p>
            <a:pPr marL="285750" indent="-285750">
              <a:buFont typeface="Arial" panose="020B0604020202020204" pitchFamily="34" charset="0"/>
              <a:buChar char="•"/>
            </a:pPr>
            <a:r>
              <a:rPr lang="en-US" sz="2400" b="1" u="sng" dirty="0" smtClean="0"/>
              <a:t>Nucleus</a:t>
            </a:r>
            <a:r>
              <a:rPr lang="en-US" sz="2400" dirty="0" smtClean="0"/>
              <a:t> is composed </a:t>
            </a:r>
            <a:r>
              <a:rPr lang="en-US" sz="2400" dirty="0"/>
              <a:t>of protons (+) and </a:t>
            </a:r>
            <a:r>
              <a:rPr lang="en-US" sz="2400" dirty="0" smtClean="0"/>
              <a:t>neutrons</a:t>
            </a:r>
          </a:p>
          <a:p>
            <a:pPr marL="285750" indent="-285750">
              <a:buFont typeface="Arial" panose="020B0604020202020204" pitchFamily="34" charset="0"/>
              <a:buChar char="•"/>
            </a:pPr>
            <a:r>
              <a:rPr lang="en-US" sz="2400" b="1" u="sng" dirty="0" smtClean="0"/>
              <a:t>Electrons</a:t>
            </a:r>
            <a:r>
              <a:rPr lang="en-US" sz="2400" dirty="0" smtClean="0"/>
              <a:t> (-) outside the nucleus </a:t>
            </a:r>
          </a:p>
          <a:p>
            <a:pPr marL="285750" indent="-285750">
              <a:buFont typeface="Arial" panose="020B0604020202020204" pitchFamily="34" charset="0"/>
              <a:buChar char="•"/>
            </a:pPr>
            <a:r>
              <a:rPr lang="en-US" sz="2400" b="1" u="sng" dirty="0" smtClean="0"/>
              <a:t>Atomic</a:t>
            </a:r>
            <a:r>
              <a:rPr lang="en-US" sz="2400" dirty="0" smtClean="0"/>
              <a:t> </a:t>
            </a:r>
            <a:r>
              <a:rPr lang="en-US" sz="2400" b="1" u="sng" dirty="0"/>
              <a:t>mass</a:t>
            </a:r>
            <a:r>
              <a:rPr lang="en-US" sz="2400" dirty="0"/>
              <a:t> = number of protons and neutrons</a:t>
            </a:r>
          </a:p>
          <a:p>
            <a:pPr marL="285750" indent="-285750">
              <a:buFont typeface="Arial" panose="020B0604020202020204" pitchFamily="34" charset="0"/>
              <a:buChar char="•"/>
            </a:pPr>
            <a:r>
              <a:rPr lang="en-US" sz="2400" b="1" u="sng" dirty="0" smtClean="0"/>
              <a:t>Atomic</a:t>
            </a:r>
            <a:r>
              <a:rPr lang="en-US" sz="2400" dirty="0" smtClean="0"/>
              <a:t> </a:t>
            </a:r>
            <a:r>
              <a:rPr lang="en-US" sz="2400" b="1" u="sng" dirty="0"/>
              <a:t>number</a:t>
            </a:r>
            <a:r>
              <a:rPr lang="en-US" sz="2400" dirty="0"/>
              <a:t> = number of </a:t>
            </a:r>
            <a:r>
              <a:rPr lang="en-US" sz="2400" dirty="0" smtClean="0"/>
              <a:t>protons</a:t>
            </a:r>
            <a:endParaRPr lang="en-US" sz="2400" dirty="0"/>
          </a:p>
        </p:txBody>
      </p:sp>
      <p:pic>
        <p:nvPicPr>
          <p:cNvPr id="1026" name="Picture 2" descr="https://lh7-rt.googleusercontent.com/slidesz/AGV_vUeGX4I3wA-XXPEWNMpQk_IXRk3GQt53lB63v3RYSJBdpfdDOzy27xlySXlaHQ3hNHjzk1g5-yv-ycL6vkiG2WyjjWqpKf74N1n4rpNmS96D7T6yeqJEeURaGXTpOjbCttRphDH0P2VmUKRQ2FKaHt_rqmosOQRp=s2048?key=4gTtITE7n-szuGzqfviho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6061" y="1271900"/>
            <a:ext cx="4165600" cy="258052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https://lh7-rt.googleusercontent.com/slidesz/AGV_vUf8ua0Bl-7Rqq0uByahrjmX_fiBxQEou-bCmRClItV-mH-5lyp62VE0ux1qzdSL7MzA9U-jAnKyXxVRN8u5-k5K6zgeqCrUNPp4sV_aoaARzoVjoa2V0P8QHG-fz5L7uXpi5XtYqjNnCRT34l20aKq9dUbEW9E=s2048?key=4gTtITE7n-szuGzqfviho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4736" y="4012190"/>
            <a:ext cx="5048250" cy="26289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68747" y="1186942"/>
            <a:ext cx="4328808" cy="646331"/>
          </a:xfrm>
          <a:prstGeom prst="rect">
            <a:avLst/>
          </a:prstGeom>
          <a:solidFill>
            <a:schemeClr val="tx2">
              <a:lumMod val="20000"/>
              <a:lumOff val="80000"/>
            </a:schemeClr>
          </a:solidFill>
        </p:spPr>
        <p:txBody>
          <a:bodyPr wrap="square" rtlCol="0">
            <a:spAutoFit/>
          </a:bodyPr>
          <a:lstStyle/>
          <a:p>
            <a:r>
              <a:rPr lang="en-US" i="1" dirty="0">
                <a:solidFill>
                  <a:srgbClr val="002060"/>
                </a:solidFill>
              </a:rPr>
              <a:t>An element’s properties depend </a:t>
            </a:r>
            <a:r>
              <a:rPr lang="en-US" i="1" dirty="0" smtClean="0">
                <a:solidFill>
                  <a:srgbClr val="002060"/>
                </a:solidFill>
              </a:rPr>
              <a:t>on </a:t>
            </a:r>
            <a:r>
              <a:rPr lang="en-US" i="1" dirty="0">
                <a:solidFill>
                  <a:srgbClr val="002060"/>
                </a:solidFill>
              </a:rPr>
              <a:t>the structure of its </a:t>
            </a:r>
            <a:r>
              <a:rPr lang="en-US" i="1" dirty="0" smtClean="0">
                <a:solidFill>
                  <a:srgbClr val="002060"/>
                </a:solidFill>
              </a:rPr>
              <a:t>atoms …</a:t>
            </a:r>
            <a:endParaRPr lang="en-US" i="1" dirty="0">
              <a:solidFill>
                <a:srgbClr val="002060"/>
              </a:solidFill>
            </a:endParaRPr>
          </a:p>
        </p:txBody>
      </p:sp>
    </p:spTree>
    <p:extLst>
      <p:ext uri="{BB962C8B-B14F-4D97-AF65-F5344CB8AC3E}">
        <p14:creationId xmlns:p14="http://schemas.microsoft.com/office/powerpoint/2010/main" val="172096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 arrangement </a:t>
            </a:r>
            <a:endParaRPr lang="en-US" dirty="0"/>
          </a:p>
        </p:txBody>
      </p:sp>
      <p:sp>
        <p:nvSpPr>
          <p:cNvPr id="3" name="Content Placeholder 2"/>
          <p:cNvSpPr>
            <a:spLocks noGrp="1"/>
          </p:cNvSpPr>
          <p:nvPr>
            <p:ph idx="1"/>
          </p:nvPr>
        </p:nvSpPr>
        <p:spPr>
          <a:xfrm>
            <a:off x="765394" y="2041125"/>
            <a:ext cx="6219066" cy="4093398"/>
          </a:xfrm>
        </p:spPr>
        <p:txBody>
          <a:bodyPr>
            <a:normAutofit fontScale="92500" lnSpcReduction="10000"/>
          </a:bodyPr>
          <a:lstStyle/>
          <a:p>
            <a:pPr marL="285750" indent="-285750">
              <a:buFont typeface="Arial" panose="020B0604020202020204" pitchFamily="34" charset="0"/>
              <a:buChar char="•"/>
            </a:pPr>
            <a:r>
              <a:rPr lang="en-US" sz="2400" dirty="0" smtClean="0"/>
              <a:t>Electrons move around the nucleus in specific </a:t>
            </a:r>
            <a:r>
              <a:rPr lang="en-US" sz="2400" b="1" u="sng" dirty="0" smtClean="0"/>
              <a:t>energy</a:t>
            </a:r>
            <a:r>
              <a:rPr lang="en-US" sz="2400" dirty="0" smtClean="0"/>
              <a:t> </a:t>
            </a:r>
            <a:r>
              <a:rPr lang="en-US" sz="2400" b="1" u="sng" dirty="0" smtClean="0"/>
              <a:t>shells</a:t>
            </a:r>
            <a:r>
              <a:rPr lang="en-US" sz="2400" dirty="0" smtClean="0"/>
              <a:t> </a:t>
            </a:r>
            <a:endParaRPr lang="en-US" sz="2400" dirty="0"/>
          </a:p>
          <a:p>
            <a:pPr marL="285750" indent="-285750">
              <a:buFont typeface="Arial" panose="020B0604020202020204" pitchFamily="34" charset="0"/>
              <a:buChar char="•"/>
            </a:pPr>
            <a:r>
              <a:rPr lang="en-US" sz="2400" dirty="0" smtClean="0"/>
              <a:t>The </a:t>
            </a:r>
            <a:r>
              <a:rPr lang="en-US" sz="2400" dirty="0"/>
              <a:t>rapidly moving electrons form a “</a:t>
            </a:r>
            <a:r>
              <a:rPr lang="en-US" sz="2400" b="1" u="sng" dirty="0"/>
              <a:t>cloud</a:t>
            </a:r>
            <a:r>
              <a:rPr lang="en-US" sz="2400" dirty="0"/>
              <a:t>” of </a:t>
            </a:r>
            <a:r>
              <a:rPr lang="en-US" sz="2400" b="1" u="sng" dirty="0"/>
              <a:t>negative</a:t>
            </a:r>
            <a:r>
              <a:rPr lang="en-US" sz="2400" dirty="0"/>
              <a:t> </a:t>
            </a:r>
            <a:r>
              <a:rPr lang="en-US" sz="2400" b="1" u="sng" dirty="0"/>
              <a:t>charge</a:t>
            </a:r>
            <a:r>
              <a:rPr lang="en-US" sz="2400" dirty="0"/>
              <a:t> around the </a:t>
            </a:r>
            <a:r>
              <a:rPr lang="en-US" sz="2400" dirty="0" smtClean="0"/>
              <a:t>nucleus</a:t>
            </a:r>
          </a:p>
          <a:p>
            <a:pPr marL="285750" indent="-285750">
              <a:buFont typeface="Arial" panose="020B0604020202020204" pitchFamily="34" charset="0"/>
              <a:buChar char="•"/>
            </a:pPr>
            <a:r>
              <a:rPr lang="en-US" sz="2400" dirty="0" smtClean="0"/>
              <a:t>It </a:t>
            </a:r>
            <a:r>
              <a:rPr lang="en-US" sz="2400" dirty="0"/>
              <a:t>is the attraction between opposite charges that keeps the electrons </a:t>
            </a:r>
            <a:r>
              <a:rPr lang="en-US" sz="2400" dirty="0" smtClean="0"/>
              <a:t>close to the </a:t>
            </a:r>
            <a:r>
              <a:rPr lang="en-US" sz="2400" dirty="0"/>
              <a:t>nucleus</a:t>
            </a:r>
          </a:p>
          <a:p>
            <a:pPr marL="285750" indent="-285750">
              <a:buFont typeface="Arial" panose="020B0604020202020204" pitchFamily="34" charset="0"/>
              <a:buChar char="•"/>
            </a:pPr>
            <a:r>
              <a:rPr lang="en-US" sz="2400" dirty="0" smtClean="0"/>
              <a:t>Electrons </a:t>
            </a:r>
            <a:r>
              <a:rPr lang="en-US" sz="2400" dirty="0"/>
              <a:t>determine how the </a:t>
            </a:r>
            <a:r>
              <a:rPr lang="en-US" sz="2400" b="1" u="sng" dirty="0"/>
              <a:t>atoms</a:t>
            </a:r>
            <a:r>
              <a:rPr lang="en-US" sz="2400" dirty="0"/>
              <a:t> will </a:t>
            </a:r>
            <a:r>
              <a:rPr lang="en-US" sz="2400" b="1" u="sng" dirty="0"/>
              <a:t>interact</a:t>
            </a:r>
          </a:p>
          <a:p>
            <a:pPr marL="285750" indent="-285750">
              <a:buFont typeface="Arial" panose="020B0604020202020204" pitchFamily="34" charset="0"/>
              <a:buChar char="•"/>
            </a:pPr>
            <a:r>
              <a:rPr lang="en-US" sz="2400" b="1" u="sng" dirty="0"/>
              <a:t>Chemical</a:t>
            </a:r>
            <a:r>
              <a:rPr lang="en-US" sz="2400" dirty="0"/>
              <a:t> </a:t>
            </a:r>
            <a:r>
              <a:rPr lang="en-US" sz="2400" b="1" u="sng" dirty="0"/>
              <a:t>reactions</a:t>
            </a:r>
            <a:r>
              <a:rPr lang="en-US" sz="2400" dirty="0"/>
              <a:t> involve changes in distribution of electrons among </a:t>
            </a:r>
            <a:r>
              <a:rPr lang="en-US" sz="2400" dirty="0" smtClean="0"/>
              <a:t>atoms</a:t>
            </a:r>
          </a:p>
        </p:txBody>
      </p:sp>
      <p:pic>
        <p:nvPicPr>
          <p:cNvPr id="4" name="Picture 3"/>
          <p:cNvPicPr>
            <a:picLocks noChangeAspect="1"/>
          </p:cNvPicPr>
          <p:nvPr/>
        </p:nvPicPr>
        <p:blipFill>
          <a:blip r:embed="rId3"/>
          <a:stretch>
            <a:fillRect/>
          </a:stretch>
        </p:blipFill>
        <p:spPr>
          <a:xfrm>
            <a:off x="7150133" y="2928025"/>
            <a:ext cx="4660867" cy="2556234"/>
          </a:xfrm>
          <a:prstGeom prst="rect">
            <a:avLst/>
          </a:prstGeom>
        </p:spPr>
      </p:pic>
    </p:spTree>
    <p:extLst>
      <p:ext uri="{BB962C8B-B14F-4D97-AF65-F5344CB8AC3E}">
        <p14:creationId xmlns:p14="http://schemas.microsoft.com/office/powerpoint/2010/main" val="280847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Valence electrons</a:t>
            </a:r>
            <a:endParaRPr lang="en-US" dirty="0"/>
          </a:p>
        </p:txBody>
      </p:sp>
      <p:sp>
        <p:nvSpPr>
          <p:cNvPr id="3" name="Content Placeholder 2"/>
          <p:cNvSpPr>
            <a:spLocks noGrp="1"/>
          </p:cNvSpPr>
          <p:nvPr>
            <p:ph idx="1"/>
          </p:nvPr>
        </p:nvSpPr>
        <p:spPr>
          <a:xfrm>
            <a:off x="658390" y="1506104"/>
            <a:ext cx="11073167" cy="4729326"/>
          </a:xfrm>
        </p:spPr>
        <p:txBody>
          <a:bodyPr>
            <a:normAutofit/>
          </a:bodyPr>
          <a:lstStyle/>
          <a:p>
            <a:pPr marL="285750" indent="-285750">
              <a:buFont typeface="Arial" panose="020B0604020202020204" pitchFamily="34" charset="0"/>
              <a:buChar char="•"/>
            </a:pPr>
            <a:r>
              <a:rPr lang="en-US" sz="2400" dirty="0"/>
              <a:t>The </a:t>
            </a:r>
            <a:r>
              <a:rPr lang="en-US" sz="2400" b="1" u="sng" dirty="0"/>
              <a:t>chemical</a:t>
            </a:r>
            <a:r>
              <a:rPr lang="en-US" sz="2400" dirty="0"/>
              <a:t> </a:t>
            </a:r>
            <a:r>
              <a:rPr lang="en-US" sz="2400" b="1" u="sng" dirty="0" err="1"/>
              <a:t>behaviour</a:t>
            </a:r>
            <a:r>
              <a:rPr lang="en-US" sz="2400" dirty="0"/>
              <a:t> of an atom depends mostly on the number of electrons in its outermost shell, </a:t>
            </a:r>
            <a:r>
              <a:rPr lang="en-US" sz="2400" b="1" u="sng" dirty="0"/>
              <a:t>valence</a:t>
            </a:r>
            <a:r>
              <a:rPr lang="en-US" sz="2400" dirty="0"/>
              <a:t> </a:t>
            </a:r>
            <a:r>
              <a:rPr lang="en-US" sz="2400" b="1" u="sng" dirty="0"/>
              <a:t>shell</a:t>
            </a:r>
          </a:p>
          <a:p>
            <a:pPr marL="285750" indent="-285750">
              <a:buFont typeface="Arial" panose="020B0604020202020204" pitchFamily="34" charset="0"/>
              <a:buChar char="•"/>
            </a:pPr>
            <a:r>
              <a:rPr lang="en-US" sz="2400" dirty="0"/>
              <a:t>Atoms with </a:t>
            </a:r>
            <a:r>
              <a:rPr lang="en-US" sz="2400" b="1" u="sng" dirty="0"/>
              <a:t>incomplete</a:t>
            </a:r>
            <a:r>
              <a:rPr lang="en-US" sz="2400" dirty="0"/>
              <a:t> </a:t>
            </a:r>
            <a:r>
              <a:rPr lang="en-US" sz="2400" b="1" u="sng" dirty="0"/>
              <a:t>valence</a:t>
            </a:r>
            <a:r>
              <a:rPr lang="en-US" sz="2400" dirty="0"/>
              <a:t> </a:t>
            </a:r>
            <a:r>
              <a:rPr lang="en-US" sz="2400" b="1" u="sng" dirty="0"/>
              <a:t>shells</a:t>
            </a:r>
            <a:r>
              <a:rPr lang="en-US" sz="2400" dirty="0"/>
              <a:t> can interact with certain other atoms in such a way that each partner atom completes its valence shell: </a:t>
            </a:r>
            <a:r>
              <a:rPr lang="en-US" sz="2400" i="1" dirty="0"/>
              <a:t>The atoms either share or transfer valence electrons</a:t>
            </a:r>
          </a:p>
        </p:txBody>
      </p:sp>
      <p:pic>
        <p:nvPicPr>
          <p:cNvPr id="6" name="Google Shape;58;p11"/>
          <p:cNvPicPr preferRelativeResize="0"/>
          <p:nvPr/>
        </p:nvPicPr>
        <p:blipFill>
          <a:blip r:embed="rId3">
            <a:alphaModFix/>
          </a:blip>
          <a:stretch>
            <a:fillRect/>
          </a:stretch>
        </p:blipFill>
        <p:spPr>
          <a:xfrm>
            <a:off x="9132651" y="3870767"/>
            <a:ext cx="2598906" cy="2568296"/>
          </a:xfrm>
          <a:prstGeom prst="rect">
            <a:avLst/>
          </a:prstGeom>
          <a:noFill/>
          <a:ln>
            <a:noFill/>
          </a:ln>
        </p:spPr>
      </p:pic>
    </p:spTree>
    <p:extLst>
      <p:ext uri="{BB962C8B-B14F-4D97-AF65-F5344CB8AC3E}">
        <p14:creationId xmlns:p14="http://schemas.microsoft.com/office/powerpoint/2010/main" val="228695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bonds</a:t>
            </a:r>
            <a:endParaRPr lang="en-US" dirty="0"/>
          </a:p>
        </p:txBody>
      </p:sp>
      <p:sp>
        <p:nvSpPr>
          <p:cNvPr id="3" name="Content Placeholder 2"/>
          <p:cNvSpPr>
            <a:spLocks noGrp="1"/>
          </p:cNvSpPr>
          <p:nvPr>
            <p:ph idx="1"/>
          </p:nvPr>
        </p:nvSpPr>
        <p:spPr>
          <a:xfrm>
            <a:off x="1154498" y="1791832"/>
            <a:ext cx="9805181" cy="3951179"/>
          </a:xfrm>
        </p:spPr>
        <p:txBody>
          <a:bodyPr>
            <a:normAutofit fontScale="85000" lnSpcReduction="20000"/>
          </a:bodyPr>
          <a:lstStyle/>
          <a:p>
            <a:pPr marL="285750" indent="-285750">
              <a:buFont typeface="Arial" panose="020B0604020202020204" pitchFamily="34" charset="0"/>
              <a:buChar char="•"/>
            </a:pPr>
            <a:r>
              <a:rPr lang="en-US" sz="2800" dirty="0"/>
              <a:t>Electrons can be “</a:t>
            </a:r>
            <a:r>
              <a:rPr lang="en-US" sz="2800" b="1" u="sng" dirty="0"/>
              <a:t>shared</a:t>
            </a:r>
            <a:r>
              <a:rPr lang="en-US" sz="2800" dirty="0"/>
              <a:t>” </a:t>
            </a:r>
            <a:r>
              <a:rPr lang="en-US" sz="2800" dirty="0" smtClean="0"/>
              <a:t>between atoms or “</a:t>
            </a:r>
            <a:r>
              <a:rPr lang="en-US" sz="2800" b="1" u="sng" dirty="0" smtClean="0"/>
              <a:t>transferred</a:t>
            </a:r>
            <a:r>
              <a:rPr lang="en-US" sz="2800" dirty="0" smtClean="0"/>
              <a:t>” </a:t>
            </a:r>
            <a:r>
              <a:rPr lang="en-US" sz="2800" dirty="0"/>
              <a:t>to other atoms </a:t>
            </a:r>
          </a:p>
          <a:p>
            <a:pPr marL="285750" indent="-285750">
              <a:buFont typeface="Arial" panose="020B0604020202020204" pitchFamily="34" charset="0"/>
              <a:buChar char="•"/>
            </a:pPr>
            <a:r>
              <a:rPr lang="en-US" sz="2800" dirty="0" smtClean="0"/>
              <a:t>These </a:t>
            </a:r>
            <a:r>
              <a:rPr lang="en-US" sz="2800" dirty="0"/>
              <a:t>interactions usually result in atoms staying close together, held by attractions called </a:t>
            </a:r>
            <a:r>
              <a:rPr lang="en-US" sz="2800" b="1" u="sng" dirty="0"/>
              <a:t>chemical</a:t>
            </a:r>
            <a:r>
              <a:rPr lang="en-US" sz="2800" dirty="0"/>
              <a:t> </a:t>
            </a:r>
            <a:r>
              <a:rPr lang="en-US" sz="2800" b="1" u="sng" dirty="0" smtClean="0"/>
              <a:t>bonds</a:t>
            </a:r>
          </a:p>
          <a:p>
            <a:pPr marL="285750" indent="-285750">
              <a:buFont typeface="Arial" panose="020B0604020202020204" pitchFamily="34" charset="0"/>
              <a:buChar char="•"/>
            </a:pPr>
            <a:r>
              <a:rPr lang="en-US" sz="2800" dirty="0" smtClean="0"/>
              <a:t>Important for biological molecules:</a:t>
            </a:r>
          </a:p>
          <a:p>
            <a:pPr marL="1085850" lvl="1" indent="-342900">
              <a:buFont typeface="+mj-lt"/>
              <a:buAutoNum type="arabicPeriod"/>
            </a:pPr>
            <a:r>
              <a:rPr lang="en-US" sz="2800" dirty="0" smtClean="0"/>
              <a:t>Ionic bonds</a:t>
            </a:r>
          </a:p>
          <a:p>
            <a:pPr marL="1085850" lvl="1" indent="-342900">
              <a:buFont typeface="+mj-lt"/>
              <a:buAutoNum type="arabicPeriod"/>
            </a:pPr>
            <a:r>
              <a:rPr lang="en-US" sz="2800" dirty="0" smtClean="0"/>
              <a:t>Covalent bonds</a:t>
            </a:r>
          </a:p>
          <a:p>
            <a:pPr marL="1085850" lvl="1" indent="-342900">
              <a:buFont typeface="+mj-lt"/>
              <a:buAutoNum type="arabicPeriod"/>
            </a:pPr>
            <a:r>
              <a:rPr lang="en-US" sz="2800" dirty="0" smtClean="0"/>
              <a:t>Intermolecular forces </a:t>
            </a:r>
          </a:p>
          <a:p>
            <a:endParaRPr lang="en-US" dirty="0"/>
          </a:p>
        </p:txBody>
      </p:sp>
      <p:pic>
        <p:nvPicPr>
          <p:cNvPr id="8196" name="Picture 4" descr="File:NaF.gif - Wikipedia"/>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51409" y="3198427"/>
            <a:ext cx="4140591" cy="181150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7" name="Picture 10" descr="https://lh7-rt.googleusercontent.com/slidesz/AGV_vUdtSuibQbOD6uM-DTEReDWLocPfqAS7HmO018ZOZO6fvAl12XkscBFnMQhlLAUTZ5oFn6GImxf2h3mNoz4MOMNu0IYehohGoYvxu1fXGanYSU1qa5WxeM3dxehxV0MoFPFZ70uUO7s1_ZxnPi-3s-a5eail1S_Z=s2048?key=4gTtITE7n-szuGzqfviho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151" y="4853473"/>
            <a:ext cx="2266950" cy="1905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198" name="Picture 6" descr="World of Molecules -- Hydrogen Bonds"/>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9061101" y="5166400"/>
            <a:ext cx="2962275" cy="16002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57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96"/>
                                        </p:tgtEl>
                                        <p:attrNameLst>
                                          <p:attrName>style.visibility</p:attrName>
                                        </p:attrNameLst>
                                      </p:cBhvr>
                                      <p:to>
                                        <p:strVal val="visible"/>
                                      </p:to>
                                    </p:set>
                                    <p:anim calcmode="lin" valueType="num">
                                      <p:cBhvr additive="base">
                                        <p:cTn id="31" dur="500" fill="hold"/>
                                        <p:tgtEl>
                                          <p:spTgt spid="8196"/>
                                        </p:tgtEl>
                                        <p:attrNameLst>
                                          <p:attrName>ppt_x</p:attrName>
                                        </p:attrNameLst>
                                      </p:cBhvr>
                                      <p:tavLst>
                                        <p:tav tm="0">
                                          <p:val>
                                            <p:strVal val="#ppt_x"/>
                                          </p:val>
                                        </p:tav>
                                        <p:tav tm="100000">
                                          <p:val>
                                            <p:strVal val="#ppt_x"/>
                                          </p:val>
                                        </p:tav>
                                      </p:tavLst>
                                    </p:anim>
                                    <p:anim calcmode="lin" valueType="num">
                                      <p:cBhvr additive="base">
                                        <p:cTn id="32"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additive="base">
                                        <p:cTn id="4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198"/>
                                        </p:tgtEl>
                                        <p:attrNameLst>
                                          <p:attrName>style.visibility</p:attrName>
                                        </p:attrNameLst>
                                      </p:cBhvr>
                                      <p:to>
                                        <p:strVal val="visible"/>
                                      </p:to>
                                    </p:set>
                                    <p:anim calcmode="lin" valueType="num">
                                      <p:cBhvr additive="base">
                                        <p:cTn id="55" dur="500" fill="hold"/>
                                        <p:tgtEl>
                                          <p:spTgt spid="8198"/>
                                        </p:tgtEl>
                                        <p:attrNameLst>
                                          <p:attrName>ppt_x</p:attrName>
                                        </p:attrNameLst>
                                      </p:cBhvr>
                                      <p:tavLst>
                                        <p:tav tm="0">
                                          <p:val>
                                            <p:strVal val="#ppt_x"/>
                                          </p:val>
                                        </p:tav>
                                        <p:tav tm="100000">
                                          <p:val>
                                            <p:strVal val="#ppt_x"/>
                                          </p:val>
                                        </p:tav>
                                      </p:tavLst>
                                    </p:anim>
                                    <p:anim calcmode="lin" valueType="num">
                                      <p:cBhvr additive="base">
                                        <p:cTn id="56" dur="500" fill="hold"/>
                                        <p:tgtEl>
                                          <p:spTgt spid="81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Ionic bonds</a:t>
            </a:r>
            <a:endParaRPr lang="en-US" dirty="0"/>
          </a:p>
        </p:txBody>
      </p:sp>
      <p:sp>
        <p:nvSpPr>
          <p:cNvPr id="3" name="Content Placeholder 2"/>
          <p:cNvSpPr>
            <a:spLocks noGrp="1"/>
          </p:cNvSpPr>
          <p:nvPr>
            <p:ph idx="1"/>
          </p:nvPr>
        </p:nvSpPr>
        <p:spPr>
          <a:xfrm>
            <a:off x="381000" y="1801562"/>
            <a:ext cx="4876650" cy="4521415"/>
          </a:xfrm>
        </p:spPr>
        <p:txBody>
          <a:bodyPr>
            <a:normAutofit fontScale="85000" lnSpcReduction="10000"/>
          </a:bodyPr>
          <a:lstStyle/>
          <a:p>
            <a:pPr marL="285750" indent="-285750">
              <a:buFont typeface="Arial" panose="020B0604020202020204" pitchFamily="34" charset="0"/>
              <a:buChar char="•"/>
            </a:pPr>
            <a:r>
              <a:rPr lang="en-US" sz="2400" dirty="0" smtClean="0"/>
              <a:t>An </a:t>
            </a:r>
            <a:r>
              <a:rPr lang="en-US" sz="2400" b="1" u="sng" dirty="0" smtClean="0"/>
              <a:t>ionic</a:t>
            </a:r>
            <a:r>
              <a:rPr lang="en-US" sz="2400" dirty="0" smtClean="0"/>
              <a:t> </a:t>
            </a:r>
            <a:r>
              <a:rPr lang="en-US" sz="2400" b="1" u="sng" dirty="0" smtClean="0"/>
              <a:t>bond</a:t>
            </a:r>
            <a:r>
              <a:rPr lang="en-US" sz="2400" dirty="0" smtClean="0"/>
              <a:t> forms between atoms that have lost or gained electrons to become charged</a:t>
            </a:r>
          </a:p>
          <a:p>
            <a:pPr marL="285750" indent="-285750">
              <a:buFont typeface="Arial" panose="020B0604020202020204" pitchFamily="34" charset="0"/>
              <a:buChar char="•"/>
            </a:pPr>
            <a:r>
              <a:rPr lang="en-US" sz="2400" dirty="0" smtClean="0"/>
              <a:t>Atoms that have </a:t>
            </a:r>
            <a:r>
              <a:rPr lang="en-US" sz="2400" b="1" u="sng" dirty="0" smtClean="0"/>
              <a:t>lost</a:t>
            </a:r>
            <a:r>
              <a:rPr lang="en-US" sz="2400" dirty="0" smtClean="0"/>
              <a:t> or </a:t>
            </a:r>
            <a:r>
              <a:rPr lang="en-US" sz="2400" b="1" u="sng" dirty="0" smtClean="0"/>
              <a:t>gained</a:t>
            </a:r>
            <a:r>
              <a:rPr lang="en-US" sz="2400" dirty="0" smtClean="0"/>
              <a:t> electrons are called </a:t>
            </a:r>
            <a:r>
              <a:rPr lang="en-US" sz="2400" b="1" u="sng" dirty="0" smtClean="0"/>
              <a:t>ions</a:t>
            </a:r>
          </a:p>
          <a:p>
            <a:pPr marL="285750" indent="-285750">
              <a:buFont typeface="Arial" panose="020B0604020202020204" pitchFamily="34" charset="0"/>
              <a:buChar char="•"/>
            </a:pPr>
            <a:r>
              <a:rPr lang="en-US" sz="2400" dirty="0" smtClean="0"/>
              <a:t>Ions of opposite charge – one positive and the other negative – are strongly attracted to on another, and this attraction leads to an ionic bond (</a:t>
            </a:r>
            <a:r>
              <a:rPr lang="en-US" sz="2400" b="1" u="sng" dirty="0" smtClean="0"/>
              <a:t>electrostatic</a:t>
            </a:r>
            <a:r>
              <a:rPr lang="en-US" sz="2400" dirty="0" smtClean="0"/>
              <a:t> </a:t>
            </a:r>
            <a:r>
              <a:rPr lang="en-US" sz="2400" b="1" u="sng" dirty="0" smtClean="0"/>
              <a:t>forces</a:t>
            </a:r>
            <a:r>
              <a:rPr lang="en-US" sz="2400" dirty="0" smtClean="0"/>
              <a:t>)</a:t>
            </a:r>
          </a:p>
          <a:p>
            <a:pPr marL="285750" indent="-285750">
              <a:buFont typeface="Arial" panose="020B0604020202020204" pitchFamily="34" charset="0"/>
              <a:buChar char="•"/>
            </a:pPr>
            <a:r>
              <a:rPr lang="en-US" sz="2400" dirty="0" smtClean="0"/>
              <a:t>Ionic compounds do not form individuals molecules … they form </a:t>
            </a:r>
            <a:r>
              <a:rPr lang="en-US" sz="2400" b="1" u="sng" dirty="0" smtClean="0"/>
              <a:t>crystal</a:t>
            </a:r>
            <a:r>
              <a:rPr lang="en-US" sz="2400" dirty="0" smtClean="0"/>
              <a:t> </a:t>
            </a:r>
            <a:r>
              <a:rPr lang="en-US" sz="2400" b="1" u="sng" dirty="0" smtClean="0"/>
              <a:t>lattice</a:t>
            </a:r>
            <a:r>
              <a:rPr lang="en-US" sz="2400" dirty="0" smtClean="0"/>
              <a:t> </a:t>
            </a:r>
            <a:r>
              <a:rPr lang="en-US" sz="2400" b="1" u="sng" dirty="0" smtClean="0"/>
              <a:t>networks</a:t>
            </a:r>
            <a:r>
              <a:rPr lang="en-US" sz="2400" dirty="0" smtClean="0"/>
              <a:t>!</a:t>
            </a:r>
            <a:endParaRPr lang="en-US" sz="2400" dirty="0"/>
          </a:p>
        </p:txBody>
      </p:sp>
      <p:pic>
        <p:nvPicPr>
          <p:cNvPr id="4" name="Picture 3"/>
          <p:cNvPicPr>
            <a:picLocks noChangeAspect="1"/>
          </p:cNvPicPr>
          <p:nvPr/>
        </p:nvPicPr>
        <p:blipFill>
          <a:blip r:embed="rId3"/>
          <a:stretch>
            <a:fillRect/>
          </a:stretch>
        </p:blipFill>
        <p:spPr>
          <a:xfrm>
            <a:off x="5458813" y="1801562"/>
            <a:ext cx="6151023" cy="2409213"/>
          </a:xfrm>
          <a:prstGeom prst="rect">
            <a:avLst/>
          </a:prstGeom>
        </p:spPr>
      </p:pic>
      <p:pic>
        <p:nvPicPr>
          <p:cNvPr id="7" name="Picture 6"/>
          <p:cNvPicPr>
            <a:picLocks noChangeAspect="1"/>
          </p:cNvPicPr>
          <p:nvPr/>
        </p:nvPicPr>
        <p:blipFill>
          <a:blip r:embed="rId4"/>
          <a:stretch>
            <a:fillRect/>
          </a:stretch>
        </p:blipFill>
        <p:spPr>
          <a:xfrm>
            <a:off x="6179318" y="4319227"/>
            <a:ext cx="4710011" cy="2003750"/>
          </a:xfrm>
          <a:prstGeom prst="rect">
            <a:avLst/>
          </a:prstGeom>
        </p:spPr>
      </p:pic>
    </p:spTree>
    <p:extLst>
      <p:ext uri="{BB962C8B-B14F-4D97-AF65-F5344CB8AC3E}">
        <p14:creationId xmlns:p14="http://schemas.microsoft.com/office/powerpoint/2010/main" val="2826633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Covalent bonds</a:t>
            </a:r>
            <a:endParaRPr lang="en-US" dirty="0"/>
          </a:p>
        </p:txBody>
      </p:sp>
      <p:sp>
        <p:nvSpPr>
          <p:cNvPr id="3" name="Content Placeholder 2"/>
          <p:cNvSpPr>
            <a:spLocks noGrp="1"/>
          </p:cNvSpPr>
          <p:nvPr>
            <p:ph idx="1"/>
          </p:nvPr>
        </p:nvSpPr>
        <p:spPr>
          <a:xfrm>
            <a:off x="1193410" y="1928022"/>
            <a:ext cx="9805181" cy="3951179"/>
          </a:xfrm>
        </p:spPr>
        <p:txBody>
          <a:bodyPr>
            <a:normAutofit/>
          </a:bodyPr>
          <a:lstStyle/>
          <a:p>
            <a:pPr marL="285750" indent="-285750">
              <a:buFont typeface="Arial" panose="020B0604020202020204" pitchFamily="34" charset="0"/>
              <a:buChar char="•"/>
            </a:pPr>
            <a:r>
              <a:rPr lang="en-US" sz="2400" b="1" u="sng" dirty="0" smtClean="0"/>
              <a:t>Covalent</a:t>
            </a:r>
            <a:r>
              <a:rPr lang="en-US" sz="2400" dirty="0" smtClean="0"/>
              <a:t> </a:t>
            </a:r>
            <a:r>
              <a:rPr lang="en-US" sz="2400" b="1" u="sng" dirty="0" smtClean="0"/>
              <a:t>bonds</a:t>
            </a:r>
            <a:r>
              <a:rPr lang="en-US" sz="2400" dirty="0" smtClean="0"/>
              <a:t> form when atoms </a:t>
            </a:r>
            <a:r>
              <a:rPr lang="en-US" sz="2400" b="1" u="sng" dirty="0" smtClean="0"/>
              <a:t>share</a:t>
            </a:r>
            <a:r>
              <a:rPr lang="en-US" sz="2400" dirty="0" smtClean="0"/>
              <a:t> one or more pairs of </a:t>
            </a:r>
            <a:r>
              <a:rPr lang="en-US" sz="2400" b="1" u="sng" dirty="0" smtClean="0"/>
              <a:t>valence</a:t>
            </a:r>
            <a:r>
              <a:rPr lang="en-US" sz="2400" dirty="0" smtClean="0"/>
              <a:t> </a:t>
            </a:r>
            <a:r>
              <a:rPr lang="en-US" sz="2400" b="1" u="sng" dirty="0" smtClean="0"/>
              <a:t>electrons</a:t>
            </a:r>
            <a:endParaRPr lang="en-US" sz="2400" b="1" u="sng" dirty="0"/>
          </a:p>
          <a:p>
            <a:pPr marL="285750" indent="-285750">
              <a:buFont typeface="Arial" panose="020B0604020202020204" pitchFamily="34" charset="0"/>
              <a:buChar char="•"/>
            </a:pPr>
            <a:r>
              <a:rPr lang="en-US" sz="2400" dirty="0" smtClean="0"/>
              <a:t>When </a:t>
            </a:r>
            <a:r>
              <a:rPr lang="en-US" sz="2400" dirty="0"/>
              <a:t>the bonds form, they give the atom a </a:t>
            </a:r>
            <a:r>
              <a:rPr lang="en-US" sz="2400" b="1" u="sng" dirty="0"/>
              <a:t>full</a:t>
            </a:r>
            <a:r>
              <a:rPr lang="en-US" sz="2400" dirty="0"/>
              <a:t> </a:t>
            </a:r>
            <a:r>
              <a:rPr lang="en-US" sz="2400" b="1" u="sng" dirty="0"/>
              <a:t>complement</a:t>
            </a:r>
            <a:r>
              <a:rPr lang="en-US" sz="2400" dirty="0"/>
              <a:t> of </a:t>
            </a:r>
            <a:r>
              <a:rPr lang="en-US" sz="2400" b="1" u="sng" dirty="0"/>
              <a:t>electrons</a:t>
            </a:r>
            <a:r>
              <a:rPr lang="en-US" sz="2400" dirty="0"/>
              <a:t> in the valence shell</a:t>
            </a:r>
          </a:p>
          <a:p>
            <a:pPr marL="285750" indent="-285750">
              <a:buFont typeface="Arial" panose="020B0604020202020204" pitchFamily="34" charset="0"/>
              <a:buChar char="•"/>
            </a:pPr>
            <a:endParaRPr lang="en-US" sz="2400" b="1" u="sng" dirty="0" smtClean="0"/>
          </a:p>
          <a:p>
            <a:pPr marL="285750" indent="-285750">
              <a:buFont typeface="Arial" panose="020B0604020202020204" pitchFamily="34" charset="0"/>
              <a:buChar char="•"/>
            </a:pPr>
            <a:r>
              <a:rPr lang="en-US" sz="2400" dirty="0" smtClean="0"/>
              <a:t>Ex: H</a:t>
            </a:r>
            <a:r>
              <a:rPr lang="en-US" sz="2400" baseline="-25000" dirty="0" smtClean="0"/>
              <a:t>2</a:t>
            </a:r>
          </a:p>
          <a:p>
            <a:pPr marL="285750" indent="-285750">
              <a:buFont typeface="Arial" panose="020B0604020202020204" pitchFamily="34" charset="0"/>
              <a:buChar char="•"/>
            </a:pPr>
            <a:endParaRPr lang="en-US" sz="2400" baseline="-25000" dirty="0"/>
          </a:p>
          <a:p>
            <a:pPr marL="285750" indent="-285750">
              <a:buFont typeface="Arial" panose="020B0604020202020204" pitchFamily="34" charset="0"/>
              <a:buChar char="•"/>
            </a:pPr>
            <a:endParaRPr lang="en-US" sz="2400" baseline="-25000" dirty="0" smtClean="0"/>
          </a:p>
          <a:p>
            <a:pPr marL="285750" indent="-285750">
              <a:buFont typeface="Arial" panose="020B0604020202020204" pitchFamily="34" charset="0"/>
              <a:buChar char="•"/>
            </a:pPr>
            <a:endParaRPr lang="en-US" sz="2400" baseline="-25000" dirty="0" smtClean="0"/>
          </a:p>
          <a:p>
            <a:pPr marL="285750" indent="-285750">
              <a:buFont typeface="Arial" panose="020B0604020202020204" pitchFamily="34" charset="0"/>
              <a:buChar char="•"/>
            </a:pPr>
            <a:endParaRPr lang="en-US" sz="2400" baseline="-25000" dirty="0" smtClean="0"/>
          </a:p>
          <a:p>
            <a:endParaRPr lang="en-US" dirty="0"/>
          </a:p>
        </p:txBody>
      </p:sp>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32446" y="4131363"/>
            <a:ext cx="5259388"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219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algn="ctr"/>
            <a:r>
              <a:rPr lang="en-US" altLang="en-US" dirty="0" smtClean="0"/>
              <a:t>Covalent Compounds</a:t>
            </a:r>
          </a:p>
        </p:txBody>
      </p:sp>
      <p:sp>
        <p:nvSpPr>
          <p:cNvPr id="7171" name="Content Placeholder 2"/>
          <p:cNvSpPr>
            <a:spLocks noGrp="1"/>
          </p:cNvSpPr>
          <p:nvPr>
            <p:ph idx="1"/>
          </p:nvPr>
        </p:nvSpPr>
        <p:spPr/>
        <p:txBody>
          <a:bodyPr/>
          <a:lstStyle/>
          <a:p>
            <a:r>
              <a:rPr lang="en-US" altLang="en-US" dirty="0" smtClean="0"/>
              <a:t>Covalent compounds are all around you: in the air that you breathe and the substances that you eat and drink!</a:t>
            </a:r>
          </a:p>
        </p:txBody>
      </p:sp>
      <p:pic>
        <p:nvPicPr>
          <p:cNvPr id="4" name="Picture 3"/>
          <p:cNvPicPr>
            <a:picLocks noChangeAspect="1"/>
          </p:cNvPicPr>
          <p:nvPr/>
        </p:nvPicPr>
        <p:blipFill>
          <a:blip r:embed="rId2"/>
          <a:stretch>
            <a:fillRect/>
          </a:stretch>
        </p:blipFill>
        <p:spPr>
          <a:xfrm>
            <a:off x="1467017" y="3144838"/>
            <a:ext cx="2619375" cy="2571750"/>
          </a:xfrm>
          <a:prstGeom prst="rect">
            <a:avLst/>
          </a:prstGeom>
          <a:ln>
            <a:noFill/>
          </a:ln>
          <a:effectLst>
            <a:softEdge rad="112500"/>
          </a:effectLst>
        </p:spPr>
      </p:pic>
      <p:pic>
        <p:nvPicPr>
          <p:cNvPr id="5" name="Picture 4"/>
          <p:cNvPicPr>
            <a:picLocks noChangeAspect="1"/>
          </p:cNvPicPr>
          <p:nvPr/>
        </p:nvPicPr>
        <p:blipFill>
          <a:blip r:embed="rId3"/>
          <a:stretch>
            <a:fillRect/>
          </a:stretch>
        </p:blipFill>
        <p:spPr>
          <a:xfrm>
            <a:off x="4611231" y="4159065"/>
            <a:ext cx="2628900" cy="2409825"/>
          </a:xfrm>
          <a:prstGeom prst="rect">
            <a:avLst/>
          </a:prstGeom>
          <a:ln>
            <a:noFill/>
          </a:ln>
          <a:effectLst>
            <a:softEdge rad="112500"/>
          </a:effectLst>
        </p:spPr>
      </p:pic>
      <p:pic>
        <p:nvPicPr>
          <p:cNvPr id="6" name="Picture 5"/>
          <p:cNvPicPr>
            <a:picLocks noChangeAspect="1"/>
          </p:cNvPicPr>
          <p:nvPr/>
        </p:nvPicPr>
        <p:blipFill>
          <a:blip r:embed="rId4"/>
          <a:stretch>
            <a:fillRect/>
          </a:stretch>
        </p:blipFill>
        <p:spPr>
          <a:xfrm>
            <a:off x="7934433" y="3318321"/>
            <a:ext cx="2609850" cy="2505075"/>
          </a:xfrm>
          <a:prstGeom prst="rect">
            <a:avLst/>
          </a:prstGeom>
          <a:ln>
            <a:noFill/>
          </a:ln>
          <a:effectLst>
            <a:softEdge rad="112500"/>
          </a:effectLst>
        </p:spPr>
      </p:pic>
      <p:sp>
        <p:nvSpPr>
          <p:cNvPr id="7" name="TextBox 6"/>
          <p:cNvSpPr txBox="1"/>
          <p:nvPr/>
        </p:nvSpPr>
        <p:spPr>
          <a:xfrm>
            <a:off x="7647801" y="5716589"/>
            <a:ext cx="3120720" cy="646331"/>
          </a:xfrm>
          <a:prstGeom prst="rect">
            <a:avLst/>
          </a:prstGeom>
          <a:noFill/>
        </p:spPr>
        <p:txBody>
          <a:bodyPr wrap="square">
            <a:spAutoFit/>
          </a:bodyPr>
          <a:lstStyle/>
          <a:p>
            <a:pPr algn="ctr">
              <a:defRPr/>
            </a:pPr>
            <a:r>
              <a:rPr lang="en-US" dirty="0"/>
              <a:t>Aspirin (acetylsalicylic acid)  C</a:t>
            </a:r>
            <a:r>
              <a:rPr lang="en-US" baseline="-25000" dirty="0"/>
              <a:t>9</a:t>
            </a:r>
            <a:r>
              <a:rPr lang="en-US" dirty="0"/>
              <a:t>H</a:t>
            </a:r>
            <a:r>
              <a:rPr lang="en-US" baseline="-25000" dirty="0"/>
              <a:t>8</a:t>
            </a:r>
            <a:r>
              <a:rPr lang="en-US" dirty="0"/>
              <a:t>O</a:t>
            </a:r>
            <a:r>
              <a:rPr lang="en-US" baseline="-25000" dirty="0"/>
              <a:t>4</a:t>
            </a:r>
          </a:p>
        </p:txBody>
      </p:sp>
      <p:sp>
        <p:nvSpPr>
          <p:cNvPr id="8" name="TextBox 7"/>
          <p:cNvSpPr txBox="1"/>
          <p:nvPr/>
        </p:nvSpPr>
        <p:spPr>
          <a:xfrm>
            <a:off x="4894024" y="3440113"/>
            <a:ext cx="2159000" cy="646112"/>
          </a:xfrm>
          <a:prstGeom prst="rect">
            <a:avLst/>
          </a:prstGeom>
          <a:noFill/>
        </p:spPr>
        <p:txBody>
          <a:bodyPr>
            <a:spAutoFit/>
          </a:bodyPr>
          <a:lstStyle/>
          <a:p>
            <a:pPr algn="ctr">
              <a:defRPr/>
            </a:pPr>
            <a:r>
              <a:rPr lang="en-US" dirty="0"/>
              <a:t>Dissolved carbon dioxide gas CO</a:t>
            </a:r>
            <a:r>
              <a:rPr lang="en-US" baseline="-25000" dirty="0"/>
              <a:t>2</a:t>
            </a:r>
          </a:p>
        </p:txBody>
      </p:sp>
      <p:sp>
        <p:nvSpPr>
          <p:cNvPr id="9" name="TextBox 8"/>
          <p:cNvSpPr txBox="1"/>
          <p:nvPr/>
        </p:nvSpPr>
        <p:spPr>
          <a:xfrm>
            <a:off x="1756342" y="5623830"/>
            <a:ext cx="2160587" cy="646112"/>
          </a:xfrm>
          <a:prstGeom prst="rect">
            <a:avLst/>
          </a:prstGeom>
          <a:noFill/>
        </p:spPr>
        <p:txBody>
          <a:bodyPr>
            <a:spAutoFit/>
          </a:bodyPr>
          <a:lstStyle/>
          <a:p>
            <a:pPr algn="ctr">
              <a:defRPr/>
            </a:pPr>
            <a:r>
              <a:rPr lang="en-US" dirty="0"/>
              <a:t>Table sugar C</a:t>
            </a:r>
            <a:r>
              <a:rPr lang="en-US" baseline="-25000" dirty="0"/>
              <a:t>12</a:t>
            </a:r>
            <a:r>
              <a:rPr lang="en-US" dirty="0"/>
              <a:t>H</a:t>
            </a:r>
            <a:r>
              <a:rPr lang="en-US" baseline="-25000" dirty="0"/>
              <a:t>22</a:t>
            </a:r>
            <a:r>
              <a:rPr lang="en-US" dirty="0"/>
              <a:t>O</a:t>
            </a:r>
            <a:r>
              <a:rPr lang="en-US" baseline="-25000" dirty="0"/>
              <a:t>11</a:t>
            </a:r>
          </a:p>
        </p:txBody>
      </p:sp>
    </p:spTree>
    <p:extLst>
      <p:ext uri="{BB962C8B-B14F-4D97-AF65-F5344CB8AC3E}">
        <p14:creationId xmlns:p14="http://schemas.microsoft.com/office/powerpoint/2010/main" val="702580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948315" y="175098"/>
            <a:ext cx="4455587" cy="6533238"/>
          </a:xfrm>
          <a:prstGeom prst="rect">
            <a:avLst/>
          </a:prstGeom>
        </p:spPr>
      </p:pic>
    </p:spTree>
    <p:extLst>
      <p:ext uri="{BB962C8B-B14F-4D97-AF65-F5344CB8AC3E}">
        <p14:creationId xmlns:p14="http://schemas.microsoft.com/office/powerpoint/2010/main" val="35918391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Covalent bonds and electronegativity</a:t>
            </a:r>
            <a:endParaRPr lang="en-US" dirty="0"/>
          </a:p>
        </p:txBody>
      </p:sp>
      <p:sp>
        <p:nvSpPr>
          <p:cNvPr id="3" name="Content Placeholder 2"/>
          <p:cNvSpPr>
            <a:spLocks noGrp="1"/>
          </p:cNvSpPr>
          <p:nvPr>
            <p:ph idx="1"/>
          </p:nvPr>
        </p:nvSpPr>
        <p:spPr/>
        <p:txBody>
          <a:bodyPr>
            <a:normAutofit/>
          </a:bodyPr>
          <a:lstStyle/>
          <a:p>
            <a:pPr marL="285750" indent="-285750">
              <a:buFont typeface="Arial" panose="020B0604020202020204" pitchFamily="34" charset="0"/>
              <a:buChar char="•"/>
            </a:pPr>
            <a:r>
              <a:rPr lang="en-US" sz="2800" dirty="0"/>
              <a:t>The strength of a covalent </a:t>
            </a:r>
            <a:r>
              <a:rPr lang="en-US" sz="2800" dirty="0" smtClean="0"/>
              <a:t>bond depends </a:t>
            </a:r>
            <a:r>
              <a:rPr lang="en-US" sz="2800" dirty="0"/>
              <a:t>on the electronegativity of the atoms involved in the sharing of the electron </a:t>
            </a:r>
            <a:r>
              <a:rPr lang="en-US" sz="2800" dirty="0" smtClean="0"/>
              <a:t>pair</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b="1" u="sng" dirty="0"/>
              <a:t>Electronegativity</a:t>
            </a:r>
            <a:r>
              <a:rPr lang="en-US" sz="2800" dirty="0"/>
              <a:t> is the measure of an atom’s attraction for additional </a:t>
            </a:r>
            <a:r>
              <a:rPr lang="en-US" sz="2800" dirty="0" smtClean="0"/>
              <a:t>electrons</a:t>
            </a:r>
            <a:endParaRPr lang="en-US" sz="2800" dirty="0"/>
          </a:p>
        </p:txBody>
      </p:sp>
    </p:spTree>
    <p:extLst>
      <p:ext uri="{BB962C8B-B14F-4D97-AF65-F5344CB8AC3E}">
        <p14:creationId xmlns:p14="http://schemas.microsoft.com/office/powerpoint/2010/main" val="293507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6"/>
          <p:cNvSpPr>
            <a:spLocks noGrp="1"/>
          </p:cNvSpPr>
          <p:nvPr>
            <p:ph type="title"/>
          </p:nvPr>
        </p:nvSpPr>
        <p:spPr>
          <a:xfrm>
            <a:off x="646545" y="383740"/>
            <a:ext cx="11065163" cy="563562"/>
          </a:xfrm>
        </p:spPr>
        <p:txBody>
          <a:bodyPr>
            <a:normAutofit fontScale="90000"/>
          </a:bodyPr>
          <a:lstStyle/>
          <a:p>
            <a:r>
              <a:rPr lang="en-US" sz="3400" i="1" dirty="0"/>
              <a:t>Intra</a:t>
            </a:r>
            <a:r>
              <a:rPr lang="en-US" sz="3400" dirty="0"/>
              <a:t>molecular Bonding &amp; </a:t>
            </a:r>
            <a:r>
              <a:rPr lang="en-US" sz="3400" dirty="0" smtClean="0"/>
              <a:t>Electronegativity</a:t>
            </a:r>
            <a:endParaRPr lang="en-CA" sz="3400" dirty="0"/>
          </a:p>
        </p:txBody>
      </p:sp>
      <p:sp>
        <p:nvSpPr>
          <p:cNvPr id="8195" name="Rectangle 3"/>
          <p:cNvSpPr>
            <a:spLocks noGrp="1" noChangeArrowheads="1"/>
          </p:cNvSpPr>
          <p:nvPr>
            <p:ph type="body" idx="1"/>
          </p:nvPr>
        </p:nvSpPr>
        <p:spPr>
          <a:xfrm>
            <a:off x="1631504" y="1382172"/>
            <a:ext cx="8928992" cy="1665827"/>
          </a:xfrm>
        </p:spPr>
        <p:txBody>
          <a:bodyPr>
            <a:normAutofit/>
          </a:bodyPr>
          <a:lstStyle/>
          <a:p>
            <a:pPr>
              <a:spcBef>
                <a:spcPts val="0"/>
              </a:spcBef>
            </a:pPr>
            <a:r>
              <a:rPr lang="en-US" sz="2400" dirty="0"/>
              <a:t>Electronegativity (E</a:t>
            </a:r>
            <a:r>
              <a:rPr lang="en-US" sz="2400" baseline="-25000" dirty="0"/>
              <a:t>N</a:t>
            </a:r>
            <a:r>
              <a:rPr lang="en-US" sz="2400" dirty="0"/>
              <a:t>) is a measure of an atom’s </a:t>
            </a:r>
            <a:r>
              <a:rPr lang="en-US" sz="2400" b="1" u="sng" dirty="0"/>
              <a:t>attraction for the electrons</a:t>
            </a:r>
            <a:r>
              <a:rPr lang="en-US" sz="2400" b="1" dirty="0"/>
              <a:t> </a:t>
            </a:r>
            <a:r>
              <a:rPr lang="en-US" sz="2400" b="1" u="sng" dirty="0"/>
              <a:t>within a bond</a:t>
            </a:r>
            <a:r>
              <a:rPr lang="en-US" sz="2400" u="sng" dirty="0"/>
              <a:t> </a:t>
            </a:r>
            <a:r>
              <a:rPr lang="en-US" sz="2400" dirty="0"/>
              <a:t>that exists between 2 atoms</a:t>
            </a:r>
          </a:p>
          <a:p>
            <a:pPr eaLnBrk="1" hangingPunct="1"/>
            <a:r>
              <a:rPr lang="en-US" sz="2400" dirty="0"/>
              <a:t>The </a:t>
            </a:r>
            <a:r>
              <a:rPr lang="en-US" sz="2400" b="1" u="sng" dirty="0"/>
              <a:t>more</a:t>
            </a:r>
            <a:r>
              <a:rPr lang="en-US" sz="2400" dirty="0"/>
              <a:t> electronegative an atom, the more </a:t>
            </a:r>
            <a:r>
              <a:rPr lang="en-US" sz="2400" b="1" u="sng" dirty="0"/>
              <a:t>strongly</a:t>
            </a:r>
            <a:r>
              <a:rPr lang="en-US" sz="2400" dirty="0"/>
              <a:t> it pulls the shared </a:t>
            </a:r>
            <a:r>
              <a:rPr lang="en-US" sz="2400" b="1" u="sng" dirty="0"/>
              <a:t>electrons</a:t>
            </a:r>
            <a:r>
              <a:rPr lang="en-US" sz="2400" dirty="0"/>
              <a:t> toward itself</a:t>
            </a:r>
          </a:p>
        </p:txBody>
      </p:sp>
      <p:pic>
        <p:nvPicPr>
          <p:cNvPr id="819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9151" y="3028951"/>
            <a:ext cx="7751763" cy="371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bwMode="auto">
          <a:xfrm>
            <a:off x="2423592" y="3087771"/>
            <a:ext cx="7560840" cy="544066"/>
          </a:xfrm>
          <a:prstGeom prst="rect">
            <a:avLst/>
          </a:prstGeom>
          <a:solidFill>
            <a:schemeClr val="accent6">
              <a:lumMod val="20000"/>
              <a:lumOff val="80000"/>
            </a:schemeClr>
          </a:solidFill>
          <a:ln w="349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7" name="Rectangle 6"/>
          <p:cNvSpPr/>
          <p:nvPr/>
        </p:nvSpPr>
        <p:spPr bwMode="auto">
          <a:xfrm>
            <a:off x="8640165" y="3181351"/>
            <a:ext cx="913413" cy="3355975"/>
          </a:xfrm>
          <a:prstGeom prst="rect">
            <a:avLst/>
          </a:prstGeom>
          <a:solidFill>
            <a:schemeClr val="accent6">
              <a:lumMod val="20000"/>
              <a:lumOff val="80000"/>
            </a:schemeClr>
          </a:solidFill>
          <a:ln w="349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8" name="Rectangle 7"/>
          <p:cNvSpPr/>
          <p:nvPr/>
        </p:nvSpPr>
        <p:spPr bwMode="auto">
          <a:xfrm>
            <a:off x="1631504" y="6083283"/>
            <a:ext cx="3231976" cy="658831"/>
          </a:xfrm>
          <a:prstGeom prst="rect">
            <a:avLst/>
          </a:prstGeom>
          <a:solidFill>
            <a:schemeClr val="accent6">
              <a:lumMod val="20000"/>
              <a:lumOff val="80000"/>
            </a:schemeClr>
          </a:solidFill>
          <a:ln w="349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Tree>
    <p:extLst>
      <p:ext uri="{BB962C8B-B14F-4D97-AF65-F5344CB8AC3E}">
        <p14:creationId xmlns:p14="http://schemas.microsoft.com/office/powerpoint/2010/main" val="32517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2"/>
                                        </p:tgtEl>
                                      </p:cBhvr>
                                    </p:animEffect>
                                    <p:set>
                                      <p:cBhvr>
                                        <p:cTn id="20" dur="1" fill="hold">
                                          <p:stCondLst>
                                            <p:cond delay="499"/>
                                          </p:stCondLst>
                                        </p:cTn>
                                        <p:tgtEl>
                                          <p:spTgt spid="2"/>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59477" y="894175"/>
            <a:ext cx="8133947" cy="923330"/>
          </a:xfrm>
          <a:prstGeom prst="rect">
            <a:avLst/>
          </a:prstGeom>
          <a:noFill/>
        </p:spPr>
        <p:txBody>
          <a:bodyPr wrap="square" rtlCol="0">
            <a:spAutoFit/>
          </a:bodyPr>
          <a:lstStyle/>
          <a:p>
            <a:pPr marL="285750" indent="-285750" algn="l">
              <a:buFont typeface="Arial" panose="020B0604020202020204" pitchFamily="34" charset="0"/>
              <a:buChar char="•"/>
            </a:pPr>
            <a:r>
              <a:rPr lang="en-US" dirty="0">
                <a:solidFill>
                  <a:schemeClr val="tx1">
                    <a:lumMod val="65000"/>
                    <a:lumOff val="35000"/>
                  </a:schemeClr>
                </a:solidFill>
              </a:rPr>
              <a:t>The </a:t>
            </a:r>
            <a:r>
              <a:rPr lang="en-US" b="1" u="sng" dirty="0">
                <a:solidFill>
                  <a:schemeClr val="tx1">
                    <a:lumMod val="65000"/>
                    <a:lumOff val="35000"/>
                  </a:schemeClr>
                </a:solidFill>
              </a:rPr>
              <a:t>difference</a:t>
            </a:r>
            <a:r>
              <a:rPr lang="en-US" b="1" dirty="0">
                <a:solidFill>
                  <a:schemeClr val="tx1">
                    <a:lumMod val="65000"/>
                    <a:lumOff val="35000"/>
                  </a:schemeClr>
                </a:solidFill>
              </a:rPr>
              <a:t> in E</a:t>
            </a:r>
            <a:r>
              <a:rPr lang="en-US" b="1" baseline="-25000" dirty="0">
                <a:solidFill>
                  <a:schemeClr val="tx1">
                    <a:lumMod val="65000"/>
                    <a:lumOff val="35000"/>
                  </a:schemeClr>
                </a:solidFill>
              </a:rPr>
              <a:t>N</a:t>
            </a:r>
            <a:r>
              <a:rPr lang="en-US" b="1" dirty="0">
                <a:solidFill>
                  <a:schemeClr val="tx1">
                    <a:lumMod val="65000"/>
                    <a:lumOff val="35000"/>
                  </a:schemeClr>
                </a:solidFill>
              </a:rPr>
              <a:t> </a:t>
            </a:r>
            <a:r>
              <a:rPr lang="en-US" dirty="0">
                <a:solidFill>
                  <a:schemeClr val="tx1">
                    <a:lumMod val="65000"/>
                    <a:lumOff val="35000"/>
                  </a:schemeClr>
                </a:solidFill>
              </a:rPr>
              <a:t>between two atoms determines the </a:t>
            </a:r>
            <a:r>
              <a:rPr lang="en-US" b="1" u="sng" dirty="0">
                <a:solidFill>
                  <a:schemeClr val="tx1">
                    <a:lumMod val="65000"/>
                    <a:lumOff val="35000"/>
                  </a:schemeClr>
                </a:solidFill>
              </a:rPr>
              <a:t>type</a:t>
            </a:r>
            <a:r>
              <a:rPr lang="en-US" b="1" dirty="0">
                <a:solidFill>
                  <a:schemeClr val="tx1">
                    <a:lumMod val="65000"/>
                    <a:lumOff val="35000"/>
                  </a:schemeClr>
                </a:solidFill>
              </a:rPr>
              <a:t> of </a:t>
            </a:r>
            <a:r>
              <a:rPr lang="en-US" b="1" u="sng" dirty="0" smtClean="0">
                <a:solidFill>
                  <a:schemeClr val="tx1">
                    <a:lumMod val="65000"/>
                    <a:lumOff val="35000"/>
                  </a:schemeClr>
                </a:solidFill>
              </a:rPr>
              <a:t>bonding</a:t>
            </a:r>
            <a:endParaRPr lang="en-US" dirty="0">
              <a:solidFill>
                <a:schemeClr val="tx1">
                  <a:lumMod val="65000"/>
                  <a:lumOff val="35000"/>
                </a:schemeClr>
              </a:solidFill>
            </a:endParaRPr>
          </a:p>
          <a:p>
            <a:pPr algn="l"/>
            <a:endParaRPr lang="en-CA" dirty="0">
              <a:solidFill>
                <a:schemeClr val="tx1">
                  <a:lumMod val="65000"/>
                  <a:lumOff val="35000"/>
                </a:schemeClr>
              </a:solidFill>
            </a:endParaRPr>
          </a:p>
          <a:p>
            <a:pPr marL="285750" indent="-285750" algn="l">
              <a:buFont typeface="Arial" panose="020B0604020202020204" pitchFamily="34" charset="0"/>
              <a:buChar char="•"/>
            </a:pPr>
            <a:r>
              <a:rPr lang="en-US" b="1" u="sng" dirty="0">
                <a:solidFill>
                  <a:schemeClr val="tx1">
                    <a:lumMod val="65000"/>
                    <a:lumOff val="35000"/>
                  </a:schemeClr>
                </a:solidFill>
              </a:rPr>
              <a:t>Electronegativity difference (</a:t>
            </a:r>
            <a:r>
              <a:rPr lang="en-US" b="1" u="sng" dirty="0">
                <a:solidFill>
                  <a:schemeClr val="tx1">
                    <a:lumMod val="65000"/>
                    <a:lumOff val="35000"/>
                  </a:schemeClr>
                </a:solidFill>
                <a:sym typeface="Symbol"/>
              </a:rPr>
              <a:t></a:t>
            </a:r>
            <a:r>
              <a:rPr lang="en-US" b="1" u="sng" dirty="0">
                <a:solidFill>
                  <a:schemeClr val="tx1">
                    <a:lumMod val="65000"/>
                    <a:lumOff val="35000"/>
                  </a:schemeClr>
                </a:solidFill>
              </a:rPr>
              <a:t>E</a:t>
            </a:r>
            <a:r>
              <a:rPr lang="en-US" b="1" u="sng" baseline="-25000" dirty="0">
                <a:solidFill>
                  <a:schemeClr val="tx1">
                    <a:lumMod val="65000"/>
                    <a:lumOff val="35000"/>
                  </a:schemeClr>
                </a:solidFill>
              </a:rPr>
              <a:t>N</a:t>
            </a:r>
            <a:r>
              <a:rPr lang="en-US" b="1" u="sng" dirty="0">
                <a:solidFill>
                  <a:schemeClr val="tx1">
                    <a:lumMod val="65000"/>
                    <a:lumOff val="35000"/>
                  </a:schemeClr>
                </a:solidFill>
              </a:rPr>
              <a:t>) scale:</a:t>
            </a:r>
            <a:endParaRPr lang="en-CA" dirty="0">
              <a:solidFill>
                <a:schemeClr val="tx1">
                  <a:lumMod val="65000"/>
                  <a:lumOff val="35000"/>
                </a:schemeClr>
              </a:solidFill>
            </a:endParaRPr>
          </a:p>
        </p:txBody>
      </p:sp>
      <p:grpSp>
        <p:nvGrpSpPr>
          <p:cNvPr id="9219" name="Group 2"/>
          <p:cNvGrpSpPr>
            <a:grpSpLocks/>
          </p:cNvGrpSpPr>
          <p:nvPr/>
        </p:nvGrpSpPr>
        <p:grpSpPr bwMode="auto">
          <a:xfrm>
            <a:off x="2217850" y="3119625"/>
            <a:ext cx="7775575" cy="720725"/>
            <a:chOff x="1424" y="6424"/>
            <a:chExt cx="9584" cy="888"/>
          </a:xfrm>
        </p:grpSpPr>
        <p:grpSp>
          <p:nvGrpSpPr>
            <p:cNvPr id="9220" name="Group 3"/>
            <p:cNvGrpSpPr>
              <a:grpSpLocks/>
            </p:cNvGrpSpPr>
            <p:nvPr/>
          </p:nvGrpSpPr>
          <p:grpSpPr bwMode="auto">
            <a:xfrm>
              <a:off x="1424" y="6424"/>
              <a:ext cx="9584" cy="888"/>
              <a:chOff x="1424" y="6424"/>
              <a:chExt cx="9584" cy="888"/>
            </a:xfrm>
          </p:grpSpPr>
          <p:sp>
            <p:nvSpPr>
              <p:cNvPr id="9222" name="Line 4"/>
              <p:cNvSpPr>
                <a:spLocks noChangeShapeType="1"/>
              </p:cNvSpPr>
              <p:nvPr/>
            </p:nvSpPr>
            <p:spPr bwMode="auto">
              <a:xfrm>
                <a:off x="1424" y="7312"/>
                <a:ext cx="9584"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CA"/>
              </a:p>
            </p:txBody>
          </p:sp>
          <p:sp>
            <p:nvSpPr>
              <p:cNvPr id="9223" name="AutoShape 5"/>
              <p:cNvSpPr>
                <a:spLocks/>
              </p:cNvSpPr>
              <p:nvPr/>
            </p:nvSpPr>
            <p:spPr bwMode="auto">
              <a:xfrm rot="-5400000">
                <a:off x="2096" y="6312"/>
                <a:ext cx="224" cy="1568"/>
              </a:xfrm>
              <a:prstGeom prst="rightBrace">
                <a:avLst>
                  <a:gd name="adj1" fmla="val 58333"/>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24" name="AutoShape 6"/>
              <p:cNvSpPr>
                <a:spLocks/>
              </p:cNvSpPr>
              <p:nvPr/>
            </p:nvSpPr>
            <p:spPr bwMode="auto">
              <a:xfrm rot="-5400000">
                <a:off x="4280" y="5648"/>
                <a:ext cx="256" cy="2864"/>
              </a:xfrm>
              <a:prstGeom prst="rightBrace">
                <a:avLst>
                  <a:gd name="adj1" fmla="val 93229"/>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25" name="AutoShape 7"/>
              <p:cNvSpPr>
                <a:spLocks/>
              </p:cNvSpPr>
              <p:nvPr/>
            </p:nvSpPr>
            <p:spPr bwMode="auto">
              <a:xfrm rot="-5400000">
                <a:off x="8256" y="4008"/>
                <a:ext cx="256" cy="5088"/>
              </a:xfrm>
              <a:prstGeom prst="rightBrace">
                <a:avLst>
                  <a:gd name="adj1" fmla="val 165625"/>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9226" name="AutoShape 8"/>
              <p:cNvSpPr>
                <a:spLocks/>
              </p:cNvSpPr>
              <p:nvPr/>
            </p:nvSpPr>
            <p:spPr bwMode="auto">
              <a:xfrm rot="-5400000">
                <a:off x="3488" y="4360"/>
                <a:ext cx="288" cy="4416"/>
              </a:xfrm>
              <a:prstGeom prst="rightBrace">
                <a:avLst>
                  <a:gd name="adj1" fmla="val 127778"/>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grpSp>
        <p:sp>
          <p:nvSpPr>
            <p:cNvPr id="9221" name="AutoShape 9"/>
            <p:cNvSpPr>
              <a:spLocks/>
            </p:cNvSpPr>
            <p:nvPr/>
          </p:nvSpPr>
          <p:spPr bwMode="auto">
            <a:xfrm rot="-5400000">
              <a:off x="6472" y="6320"/>
              <a:ext cx="224" cy="1488"/>
            </a:xfrm>
            <a:prstGeom prst="rightBrace">
              <a:avLst>
                <a:gd name="adj1" fmla="val 55357"/>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grpSp>
      <p:sp>
        <p:nvSpPr>
          <p:cNvPr id="6" name="TextBox 5"/>
          <p:cNvSpPr txBox="1"/>
          <p:nvPr/>
        </p:nvSpPr>
        <p:spPr>
          <a:xfrm>
            <a:off x="3039497" y="2599864"/>
            <a:ext cx="1944216" cy="369332"/>
          </a:xfrm>
          <a:prstGeom prst="rect">
            <a:avLst/>
          </a:prstGeom>
          <a:noFill/>
        </p:spPr>
        <p:txBody>
          <a:bodyPr wrap="square" rtlCol="0">
            <a:spAutoFit/>
          </a:bodyPr>
          <a:lstStyle/>
          <a:p>
            <a:pPr algn="ctr"/>
            <a:r>
              <a:rPr lang="en-CA" dirty="0">
                <a:solidFill>
                  <a:schemeClr val="tx1">
                    <a:lumMod val="65000"/>
                    <a:lumOff val="35000"/>
                  </a:schemeClr>
                </a:solidFill>
              </a:rPr>
              <a:t>covalent</a:t>
            </a:r>
          </a:p>
        </p:txBody>
      </p:sp>
      <p:sp>
        <p:nvSpPr>
          <p:cNvPr id="15" name="TextBox 14"/>
          <p:cNvSpPr txBox="1"/>
          <p:nvPr/>
        </p:nvSpPr>
        <p:spPr>
          <a:xfrm>
            <a:off x="6902817" y="2599864"/>
            <a:ext cx="2415598" cy="369332"/>
          </a:xfrm>
          <a:prstGeom prst="rect">
            <a:avLst/>
          </a:prstGeom>
          <a:noFill/>
        </p:spPr>
        <p:txBody>
          <a:bodyPr wrap="square" rtlCol="0">
            <a:spAutoFit/>
          </a:bodyPr>
          <a:lstStyle/>
          <a:p>
            <a:pPr algn="ctr"/>
            <a:r>
              <a:rPr lang="en-CA" dirty="0" smtClean="0">
                <a:solidFill>
                  <a:schemeClr val="tx1">
                    <a:lumMod val="65000"/>
                    <a:lumOff val="35000"/>
                  </a:schemeClr>
                </a:solidFill>
              </a:rPr>
              <a:t>ionic </a:t>
            </a:r>
            <a:r>
              <a:rPr lang="en-CA" dirty="0">
                <a:solidFill>
                  <a:schemeClr val="tx1">
                    <a:lumMod val="65000"/>
                    <a:lumOff val="35000"/>
                  </a:schemeClr>
                </a:solidFill>
              </a:rPr>
              <a:t>(&gt;1.7 and up)</a:t>
            </a:r>
          </a:p>
        </p:txBody>
      </p:sp>
      <p:sp>
        <p:nvSpPr>
          <p:cNvPr id="16" name="TextBox 15"/>
          <p:cNvSpPr txBox="1"/>
          <p:nvPr/>
        </p:nvSpPr>
        <p:spPr>
          <a:xfrm>
            <a:off x="1672652" y="3238070"/>
            <a:ext cx="2133915" cy="369332"/>
          </a:xfrm>
          <a:prstGeom prst="rect">
            <a:avLst/>
          </a:prstGeom>
          <a:noFill/>
        </p:spPr>
        <p:txBody>
          <a:bodyPr wrap="square" rtlCol="0">
            <a:spAutoFit/>
          </a:bodyPr>
          <a:lstStyle/>
          <a:p>
            <a:pPr algn="ctr"/>
            <a:r>
              <a:rPr lang="en-CA" dirty="0">
                <a:solidFill>
                  <a:schemeClr val="tx1">
                    <a:lumMod val="65000"/>
                    <a:lumOff val="35000"/>
                  </a:schemeClr>
                </a:solidFill>
              </a:rPr>
              <a:t>“</a:t>
            </a:r>
            <a:r>
              <a:rPr lang="en-CA" sz="1600" dirty="0">
                <a:solidFill>
                  <a:schemeClr val="tx1">
                    <a:lumMod val="65000"/>
                    <a:lumOff val="35000"/>
                  </a:schemeClr>
                </a:solidFill>
              </a:rPr>
              <a:t>non-polar” </a:t>
            </a:r>
            <a:r>
              <a:rPr lang="en-CA" sz="1600" dirty="0" smtClean="0">
                <a:solidFill>
                  <a:schemeClr val="tx1">
                    <a:lumMod val="65000"/>
                    <a:lumOff val="35000"/>
                  </a:schemeClr>
                </a:solidFill>
              </a:rPr>
              <a:t>(0 - 0.4)</a:t>
            </a:r>
            <a:endParaRPr lang="en-CA" sz="1600" dirty="0">
              <a:solidFill>
                <a:schemeClr val="tx1">
                  <a:lumMod val="65000"/>
                  <a:lumOff val="35000"/>
                </a:schemeClr>
              </a:solidFill>
            </a:endParaRPr>
          </a:p>
        </p:txBody>
      </p:sp>
      <p:sp>
        <p:nvSpPr>
          <p:cNvPr id="17" name="TextBox 16"/>
          <p:cNvSpPr txBox="1"/>
          <p:nvPr/>
        </p:nvSpPr>
        <p:spPr>
          <a:xfrm>
            <a:off x="3754236" y="3256907"/>
            <a:ext cx="2222253" cy="338554"/>
          </a:xfrm>
          <a:prstGeom prst="rect">
            <a:avLst/>
          </a:prstGeom>
          <a:noFill/>
        </p:spPr>
        <p:txBody>
          <a:bodyPr wrap="square" rtlCol="0">
            <a:spAutoFit/>
          </a:bodyPr>
          <a:lstStyle/>
          <a:p>
            <a:pPr algn="ctr"/>
            <a:r>
              <a:rPr lang="en-CA" sz="1600" dirty="0">
                <a:solidFill>
                  <a:schemeClr val="tx1">
                    <a:lumMod val="65000"/>
                    <a:lumOff val="35000"/>
                  </a:schemeClr>
                </a:solidFill>
              </a:rPr>
              <a:t>polar </a:t>
            </a:r>
            <a:r>
              <a:rPr lang="en-CA" sz="1600" dirty="0" smtClean="0">
                <a:solidFill>
                  <a:schemeClr val="tx1">
                    <a:lumMod val="65000"/>
                    <a:lumOff val="35000"/>
                  </a:schemeClr>
                </a:solidFill>
              </a:rPr>
              <a:t>(&gt; 0.4 - 1.7)</a:t>
            </a:r>
            <a:endParaRPr lang="en-CA" sz="1600" dirty="0">
              <a:solidFill>
                <a:schemeClr val="tx1">
                  <a:lumMod val="65000"/>
                  <a:lumOff val="35000"/>
                </a:schemeClr>
              </a:solidFill>
            </a:endParaRPr>
          </a:p>
        </p:txBody>
      </p:sp>
      <p:sp>
        <p:nvSpPr>
          <p:cNvPr id="18" name="TextBox 17"/>
          <p:cNvSpPr txBox="1"/>
          <p:nvPr/>
        </p:nvSpPr>
        <p:spPr>
          <a:xfrm>
            <a:off x="5432090" y="3252915"/>
            <a:ext cx="1944216" cy="646331"/>
          </a:xfrm>
          <a:prstGeom prst="rect">
            <a:avLst/>
          </a:prstGeom>
          <a:noFill/>
        </p:spPr>
        <p:txBody>
          <a:bodyPr wrap="square" rtlCol="0">
            <a:spAutoFit/>
          </a:bodyPr>
          <a:lstStyle/>
          <a:p>
            <a:pPr algn="ctr"/>
            <a:r>
              <a:rPr lang="en-CA" sz="3600" dirty="0"/>
              <a:t>*</a:t>
            </a:r>
          </a:p>
        </p:txBody>
      </p:sp>
      <p:sp>
        <p:nvSpPr>
          <p:cNvPr id="7" name="Up Arrow 6"/>
          <p:cNvSpPr/>
          <p:nvPr/>
        </p:nvSpPr>
        <p:spPr bwMode="auto">
          <a:xfrm>
            <a:off x="3407243" y="3899246"/>
            <a:ext cx="176703" cy="356803"/>
          </a:xfrm>
          <a:prstGeom prst="upArrow">
            <a:avLst/>
          </a:prstGeom>
          <a:gradFill rotWithShape="0">
            <a:gsLst>
              <a:gs pos="0">
                <a:schemeClr val="accent1"/>
              </a:gs>
              <a:gs pos="100000">
                <a:schemeClr val="bg1"/>
              </a:gs>
            </a:gsLst>
            <a:lin ang="5400000" scaled="1"/>
          </a:gra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20" name="Up Arrow 19"/>
          <p:cNvSpPr/>
          <p:nvPr/>
        </p:nvSpPr>
        <p:spPr bwMode="auto">
          <a:xfrm>
            <a:off x="5712235" y="3899246"/>
            <a:ext cx="176703" cy="356803"/>
          </a:xfrm>
          <a:prstGeom prst="upArrow">
            <a:avLst/>
          </a:prstGeom>
          <a:gradFill rotWithShape="0">
            <a:gsLst>
              <a:gs pos="0">
                <a:schemeClr val="accent1"/>
              </a:gs>
              <a:gs pos="100000">
                <a:schemeClr val="bg1"/>
              </a:gs>
            </a:gsLst>
            <a:lin ang="5400000" scaled="1"/>
          </a:gra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21" name="Up Arrow 20"/>
          <p:cNvSpPr/>
          <p:nvPr/>
        </p:nvSpPr>
        <p:spPr bwMode="auto">
          <a:xfrm>
            <a:off x="6919461" y="3899246"/>
            <a:ext cx="176703" cy="356803"/>
          </a:xfrm>
          <a:prstGeom prst="upArrow">
            <a:avLst/>
          </a:prstGeom>
          <a:gradFill rotWithShape="0">
            <a:gsLst>
              <a:gs pos="0">
                <a:schemeClr val="accent1"/>
              </a:gs>
              <a:gs pos="100000">
                <a:schemeClr val="bg1"/>
              </a:gs>
            </a:gsLst>
            <a:lin ang="5400000" scaled="1"/>
          </a:gra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22" name="TextBox 21"/>
          <p:cNvSpPr txBox="1"/>
          <p:nvPr/>
        </p:nvSpPr>
        <p:spPr>
          <a:xfrm>
            <a:off x="2517873" y="4400064"/>
            <a:ext cx="1944216" cy="369332"/>
          </a:xfrm>
          <a:prstGeom prst="rect">
            <a:avLst/>
          </a:prstGeom>
          <a:noFill/>
        </p:spPr>
        <p:txBody>
          <a:bodyPr wrap="square" rtlCol="0">
            <a:spAutoFit/>
          </a:bodyPr>
          <a:lstStyle/>
          <a:p>
            <a:pPr algn="ctr"/>
            <a:r>
              <a:rPr lang="en-CA" dirty="0" smtClean="0">
                <a:solidFill>
                  <a:schemeClr val="tx1">
                    <a:lumMod val="65000"/>
                    <a:lumOff val="35000"/>
                  </a:schemeClr>
                </a:solidFill>
              </a:rPr>
              <a:t>0.4</a:t>
            </a:r>
            <a:endParaRPr lang="en-CA" dirty="0">
              <a:solidFill>
                <a:schemeClr val="tx1">
                  <a:lumMod val="65000"/>
                  <a:lumOff val="35000"/>
                </a:schemeClr>
              </a:solidFill>
            </a:endParaRPr>
          </a:p>
        </p:txBody>
      </p:sp>
      <p:sp>
        <p:nvSpPr>
          <p:cNvPr id="23" name="TextBox 22"/>
          <p:cNvSpPr txBox="1"/>
          <p:nvPr/>
        </p:nvSpPr>
        <p:spPr>
          <a:xfrm>
            <a:off x="4828478" y="4400064"/>
            <a:ext cx="1944216" cy="369332"/>
          </a:xfrm>
          <a:prstGeom prst="rect">
            <a:avLst/>
          </a:prstGeom>
          <a:noFill/>
        </p:spPr>
        <p:txBody>
          <a:bodyPr wrap="square" rtlCol="0">
            <a:spAutoFit/>
          </a:bodyPr>
          <a:lstStyle/>
          <a:p>
            <a:pPr algn="ctr"/>
            <a:r>
              <a:rPr lang="en-CA" dirty="0">
                <a:solidFill>
                  <a:schemeClr val="tx1">
                    <a:lumMod val="65000"/>
                    <a:lumOff val="35000"/>
                  </a:schemeClr>
                </a:solidFill>
              </a:rPr>
              <a:t>1.7</a:t>
            </a:r>
          </a:p>
        </p:txBody>
      </p:sp>
      <p:sp>
        <p:nvSpPr>
          <p:cNvPr id="24" name="TextBox 23"/>
          <p:cNvSpPr txBox="1"/>
          <p:nvPr/>
        </p:nvSpPr>
        <p:spPr>
          <a:xfrm>
            <a:off x="6035704" y="4400064"/>
            <a:ext cx="1944216" cy="369332"/>
          </a:xfrm>
          <a:prstGeom prst="rect">
            <a:avLst/>
          </a:prstGeom>
          <a:noFill/>
        </p:spPr>
        <p:txBody>
          <a:bodyPr wrap="square" rtlCol="0">
            <a:spAutoFit/>
          </a:bodyPr>
          <a:lstStyle/>
          <a:p>
            <a:pPr algn="ctr"/>
            <a:r>
              <a:rPr lang="en-CA" dirty="0">
                <a:solidFill>
                  <a:schemeClr val="tx1">
                    <a:lumMod val="65000"/>
                    <a:lumOff val="35000"/>
                  </a:schemeClr>
                </a:solidFill>
              </a:rPr>
              <a:t>2.0</a:t>
            </a:r>
          </a:p>
        </p:txBody>
      </p:sp>
      <p:sp>
        <p:nvSpPr>
          <p:cNvPr id="25" name="TextBox 24"/>
          <p:cNvSpPr txBox="1"/>
          <p:nvPr/>
        </p:nvSpPr>
        <p:spPr>
          <a:xfrm>
            <a:off x="1826684" y="4923418"/>
            <a:ext cx="8733813" cy="1631216"/>
          </a:xfrm>
          <a:prstGeom prst="rect">
            <a:avLst/>
          </a:prstGeom>
          <a:noFill/>
        </p:spPr>
        <p:txBody>
          <a:bodyPr wrap="square" rtlCol="0">
            <a:spAutoFit/>
          </a:bodyPr>
          <a:lstStyle/>
          <a:p>
            <a:pPr algn="l"/>
            <a:r>
              <a:rPr lang="en-US" sz="2800" b="1" dirty="0">
                <a:solidFill>
                  <a:schemeClr val="tx1">
                    <a:lumMod val="65000"/>
                    <a:lumOff val="35000"/>
                  </a:schemeClr>
                </a:solidFill>
              </a:rPr>
              <a:t>*</a:t>
            </a:r>
            <a:r>
              <a:rPr lang="en-US" dirty="0">
                <a:solidFill>
                  <a:schemeClr val="tx1">
                    <a:lumMod val="65000"/>
                    <a:lumOff val="35000"/>
                  </a:schemeClr>
                </a:solidFill>
              </a:rPr>
              <a:t>If </a:t>
            </a:r>
            <a:r>
              <a:rPr lang="en-US" b="1" dirty="0">
                <a:solidFill>
                  <a:schemeClr val="tx1">
                    <a:lumMod val="65000"/>
                    <a:lumOff val="35000"/>
                  </a:schemeClr>
                </a:solidFill>
              </a:rPr>
              <a:t>(</a:t>
            </a:r>
            <a:r>
              <a:rPr lang="en-US" b="1" dirty="0">
                <a:solidFill>
                  <a:schemeClr val="tx1">
                    <a:lumMod val="65000"/>
                    <a:lumOff val="35000"/>
                  </a:schemeClr>
                </a:solidFill>
                <a:sym typeface="Symbol"/>
              </a:rPr>
              <a:t></a:t>
            </a:r>
            <a:r>
              <a:rPr lang="en-US" b="1" dirty="0">
                <a:solidFill>
                  <a:schemeClr val="tx1">
                    <a:lumMod val="65000"/>
                    <a:lumOff val="35000"/>
                  </a:schemeClr>
                </a:solidFill>
              </a:rPr>
              <a:t>E</a:t>
            </a:r>
            <a:r>
              <a:rPr lang="en-US" b="1" baseline="-25000" dirty="0">
                <a:solidFill>
                  <a:schemeClr val="tx1">
                    <a:lumMod val="65000"/>
                    <a:lumOff val="35000"/>
                  </a:schemeClr>
                </a:solidFill>
              </a:rPr>
              <a:t>N</a:t>
            </a:r>
            <a:r>
              <a:rPr lang="en-US" b="1" dirty="0">
                <a:solidFill>
                  <a:schemeClr val="tx1">
                    <a:lumMod val="65000"/>
                    <a:lumOff val="35000"/>
                  </a:schemeClr>
                </a:solidFill>
              </a:rPr>
              <a:t> )</a:t>
            </a:r>
            <a:r>
              <a:rPr lang="en-US" dirty="0">
                <a:solidFill>
                  <a:schemeClr val="tx1">
                    <a:lumMod val="65000"/>
                    <a:lumOff val="35000"/>
                  </a:schemeClr>
                </a:solidFill>
              </a:rPr>
              <a:t> is </a:t>
            </a:r>
            <a:r>
              <a:rPr lang="en-US" b="1" dirty="0">
                <a:solidFill>
                  <a:schemeClr val="tx1">
                    <a:lumMod val="65000"/>
                    <a:lumOff val="35000"/>
                  </a:schemeClr>
                </a:solidFill>
              </a:rPr>
              <a:t>between 1.7 and 2.0</a:t>
            </a:r>
            <a:r>
              <a:rPr lang="en-US" dirty="0">
                <a:solidFill>
                  <a:schemeClr val="tx1">
                    <a:lumMod val="65000"/>
                    <a:lumOff val="35000"/>
                  </a:schemeClr>
                </a:solidFill>
              </a:rPr>
              <a:t> and </a:t>
            </a:r>
            <a:r>
              <a:rPr lang="en-US" b="1" u="sng" dirty="0">
                <a:solidFill>
                  <a:schemeClr val="tx1">
                    <a:lumMod val="65000"/>
                    <a:lumOff val="35000"/>
                  </a:schemeClr>
                </a:solidFill>
              </a:rPr>
              <a:t>only </a:t>
            </a:r>
            <a:r>
              <a:rPr lang="en-US" b="1" u="sng" dirty="0" smtClean="0">
                <a:solidFill>
                  <a:schemeClr val="tx1">
                    <a:lumMod val="65000"/>
                    <a:lumOff val="35000"/>
                  </a:schemeClr>
                </a:solidFill>
              </a:rPr>
              <a:t>non-metals</a:t>
            </a:r>
            <a:r>
              <a:rPr lang="en-US" dirty="0" smtClean="0">
                <a:solidFill>
                  <a:schemeClr val="tx1">
                    <a:lumMod val="65000"/>
                    <a:lumOff val="35000"/>
                  </a:schemeClr>
                </a:solidFill>
              </a:rPr>
              <a:t> </a:t>
            </a:r>
            <a:r>
              <a:rPr lang="en-US" dirty="0">
                <a:solidFill>
                  <a:schemeClr val="tx1">
                    <a:lumMod val="65000"/>
                    <a:lumOff val="35000"/>
                  </a:schemeClr>
                </a:solidFill>
              </a:rPr>
              <a:t>are involved…it is still </a:t>
            </a:r>
            <a:r>
              <a:rPr lang="en-US" b="1" dirty="0">
                <a:solidFill>
                  <a:schemeClr val="tx1">
                    <a:lumMod val="65000"/>
                    <a:lumOff val="35000"/>
                  </a:schemeClr>
                </a:solidFill>
              </a:rPr>
              <a:t>polar covalent!</a:t>
            </a:r>
            <a:r>
              <a:rPr lang="en-US" dirty="0">
                <a:solidFill>
                  <a:schemeClr val="tx1">
                    <a:lumMod val="65000"/>
                    <a:lumOff val="35000"/>
                  </a:schemeClr>
                </a:solidFill>
              </a:rPr>
              <a:t> </a:t>
            </a:r>
            <a:endParaRPr lang="en-CA" dirty="0">
              <a:solidFill>
                <a:schemeClr val="tx1">
                  <a:lumMod val="65000"/>
                  <a:lumOff val="35000"/>
                </a:schemeClr>
              </a:solidFill>
            </a:endParaRPr>
          </a:p>
          <a:p>
            <a:pPr algn="l"/>
            <a:r>
              <a:rPr lang="en-US" dirty="0"/>
              <a:t> </a:t>
            </a:r>
            <a:endParaRPr lang="en-CA" dirty="0"/>
          </a:p>
          <a:p>
            <a:pPr algn="l"/>
            <a:r>
              <a:rPr lang="en-US" dirty="0" err="1" smtClean="0">
                <a:solidFill>
                  <a:schemeClr val="tx1">
                    <a:lumMod val="65000"/>
                    <a:lumOff val="35000"/>
                  </a:schemeClr>
                </a:solidFill>
              </a:rPr>
              <a:t>eg</a:t>
            </a:r>
            <a:r>
              <a:rPr lang="en-US" dirty="0" smtClean="0">
                <a:solidFill>
                  <a:schemeClr val="tx1">
                    <a:lumMod val="65000"/>
                    <a:lumOff val="35000"/>
                  </a:schemeClr>
                </a:solidFill>
              </a:rPr>
              <a:t>. </a:t>
            </a:r>
            <a:r>
              <a:rPr lang="en-US" dirty="0">
                <a:solidFill>
                  <a:schemeClr val="tx1">
                    <a:lumMod val="65000"/>
                    <a:lumOff val="35000"/>
                  </a:schemeClr>
                </a:solidFill>
              </a:rPr>
              <a:t>	Sodium bromide   (</a:t>
            </a:r>
            <a:r>
              <a:rPr lang="en-US" dirty="0">
                <a:solidFill>
                  <a:schemeClr val="tx1">
                    <a:lumMod val="65000"/>
                    <a:lumOff val="35000"/>
                  </a:schemeClr>
                </a:solidFill>
                <a:sym typeface="Symbol"/>
              </a:rPr>
              <a:t></a:t>
            </a:r>
            <a:r>
              <a:rPr lang="en-US" dirty="0">
                <a:solidFill>
                  <a:schemeClr val="tx1">
                    <a:lumMod val="65000"/>
                    <a:lumOff val="35000"/>
                  </a:schemeClr>
                </a:solidFill>
              </a:rPr>
              <a:t>E</a:t>
            </a:r>
            <a:r>
              <a:rPr lang="en-US" baseline="-25000" dirty="0">
                <a:solidFill>
                  <a:schemeClr val="tx1">
                    <a:lumMod val="65000"/>
                    <a:lumOff val="35000"/>
                  </a:schemeClr>
                </a:solidFill>
              </a:rPr>
              <a:t>N</a:t>
            </a:r>
            <a:r>
              <a:rPr lang="en-US" dirty="0">
                <a:solidFill>
                  <a:schemeClr val="tx1">
                    <a:lumMod val="65000"/>
                    <a:lumOff val="35000"/>
                  </a:schemeClr>
                </a:solidFill>
              </a:rPr>
              <a:t> = 1.9) →</a:t>
            </a:r>
            <a:endParaRPr lang="en-CA" dirty="0">
              <a:solidFill>
                <a:schemeClr val="tx1">
                  <a:lumMod val="65000"/>
                  <a:lumOff val="35000"/>
                </a:schemeClr>
              </a:solidFill>
            </a:endParaRPr>
          </a:p>
          <a:p>
            <a:pPr algn="l"/>
            <a:r>
              <a:rPr lang="en-US" dirty="0">
                <a:solidFill>
                  <a:schemeClr val="tx1">
                    <a:lumMod val="65000"/>
                    <a:lumOff val="35000"/>
                  </a:schemeClr>
                </a:solidFill>
              </a:rPr>
              <a:t>	Hydrogen fluoride (</a:t>
            </a:r>
            <a:r>
              <a:rPr lang="en-US" dirty="0">
                <a:solidFill>
                  <a:schemeClr val="tx1">
                    <a:lumMod val="65000"/>
                    <a:lumOff val="35000"/>
                  </a:schemeClr>
                </a:solidFill>
                <a:sym typeface="Symbol"/>
              </a:rPr>
              <a:t></a:t>
            </a:r>
            <a:r>
              <a:rPr lang="en-US" dirty="0">
                <a:solidFill>
                  <a:schemeClr val="tx1">
                    <a:lumMod val="65000"/>
                    <a:lumOff val="35000"/>
                  </a:schemeClr>
                </a:solidFill>
              </a:rPr>
              <a:t>E</a:t>
            </a:r>
            <a:r>
              <a:rPr lang="en-US" baseline="-25000" dirty="0">
                <a:solidFill>
                  <a:schemeClr val="tx1">
                    <a:lumMod val="65000"/>
                    <a:lumOff val="35000"/>
                  </a:schemeClr>
                </a:solidFill>
              </a:rPr>
              <a:t>N</a:t>
            </a:r>
            <a:r>
              <a:rPr lang="en-US" dirty="0">
                <a:solidFill>
                  <a:schemeClr val="tx1">
                    <a:lumMod val="65000"/>
                    <a:lumOff val="35000"/>
                  </a:schemeClr>
                </a:solidFill>
              </a:rPr>
              <a:t> = 1.9) →</a:t>
            </a:r>
            <a:endParaRPr lang="en-CA" dirty="0">
              <a:solidFill>
                <a:schemeClr val="tx1">
                  <a:lumMod val="65000"/>
                  <a:lumOff val="35000"/>
                </a:schemeClr>
              </a:solidFill>
            </a:endParaRPr>
          </a:p>
        </p:txBody>
      </p:sp>
      <p:sp>
        <p:nvSpPr>
          <p:cNvPr id="28" name="TextBox 27"/>
          <p:cNvSpPr txBox="1"/>
          <p:nvPr/>
        </p:nvSpPr>
        <p:spPr>
          <a:xfrm>
            <a:off x="6425517" y="5936873"/>
            <a:ext cx="3108805" cy="646331"/>
          </a:xfrm>
          <a:prstGeom prst="rect">
            <a:avLst/>
          </a:prstGeom>
          <a:noFill/>
        </p:spPr>
        <p:txBody>
          <a:bodyPr wrap="square" rtlCol="0">
            <a:spAutoFit/>
          </a:bodyPr>
          <a:lstStyle/>
          <a:p>
            <a:pPr algn="l"/>
            <a:r>
              <a:rPr lang="en-US" dirty="0" smtClean="0">
                <a:solidFill>
                  <a:schemeClr val="tx1">
                    <a:lumMod val="65000"/>
                    <a:lumOff val="35000"/>
                  </a:schemeClr>
                </a:solidFill>
              </a:rPr>
              <a:t>IONIC BOND</a:t>
            </a:r>
            <a:endParaRPr lang="en-US" dirty="0">
              <a:solidFill>
                <a:schemeClr val="tx1">
                  <a:lumMod val="65000"/>
                  <a:lumOff val="35000"/>
                </a:schemeClr>
              </a:solidFill>
            </a:endParaRPr>
          </a:p>
          <a:p>
            <a:pPr algn="l"/>
            <a:r>
              <a:rPr lang="en-US" dirty="0">
                <a:solidFill>
                  <a:schemeClr val="tx1">
                    <a:lumMod val="65000"/>
                    <a:lumOff val="35000"/>
                  </a:schemeClr>
                </a:solidFill>
              </a:rPr>
              <a:t>POLAR </a:t>
            </a:r>
            <a:r>
              <a:rPr lang="en-US" dirty="0" smtClean="0">
                <a:solidFill>
                  <a:schemeClr val="tx1">
                    <a:lumMod val="65000"/>
                    <a:lumOff val="35000"/>
                  </a:schemeClr>
                </a:solidFill>
              </a:rPr>
              <a:t>COVALENT BOND</a:t>
            </a:r>
            <a:endParaRPr lang="en-CA" dirty="0">
              <a:solidFill>
                <a:schemeClr val="tx1">
                  <a:lumMod val="65000"/>
                  <a:lumOff val="35000"/>
                </a:schemeClr>
              </a:solidFill>
            </a:endParaRPr>
          </a:p>
        </p:txBody>
      </p:sp>
      <p:sp>
        <p:nvSpPr>
          <p:cNvPr id="26" name="Title 6"/>
          <p:cNvSpPr>
            <a:spLocks noGrp="1"/>
          </p:cNvSpPr>
          <p:nvPr>
            <p:ph type="title"/>
          </p:nvPr>
        </p:nvSpPr>
        <p:spPr>
          <a:xfrm>
            <a:off x="646545" y="208250"/>
            <a:ext cx="11065163" cy="563562"/>
          </a:xfrm>
        </p:spPr>
        <p:txBody>
          <a:bodyPr>
            <a:normAutofit fontScale="90000"/>
          </a:bodyPr>
          <a:lstStyle/>
          <a:p>
            <a:r>
              <a:rPr lang="en-US" sz="3400" i="1" dirty="0"/>
              <a:t>Intra</a:t>
            </a:r>
            <a:r>
              <a:rPr lang="en-US" sz="3400" dirty="0"/>
              <a:t>molecular Bonding &amp; </a:t>
            </a:r>
            <a:r>
              <a:rPr lang="en-US" sz="3400" dirty="0" smtClean="0"/>
              <a:t>Electronegativity</a:t>
            </a:r>
            <a:endParaRPr lang="en-CA" sz="3400" dirty="0"/>
          </a:p>
        </p:txBody>
      </p:sp>
    </p:spTree>
    <p:extLst>
      <p:ext uri="{BB962C8B-B14F-4D97-AF65-F5344CB8AC3E}">
        <p14:creationId xmlns:p14="http://schemas.microsoft.com/office/powerpoint/2010/main" val="390823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8">
                                            <p:txEl>
                                              <p:pRg st="0" end="0"/>
                                            </p:txEl>
                                          </p:spTgt>
                                        </p:tgtEl>
                                        <p:attrNameLst>
                                          <p:attrName>style.visibility</p:attrName>
                                        </p:attrNameLst>
                                      </p:cBhvr>
                                      <p:to>
                                        <p:strVal val="visible"/>
                                      </p:to>
                                    </p:set>
                                    <p:anim calcmode="lin" valueType="num">
                                      <p:cBhvr additive="base">
                                        <p:cTn id="3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8">
                                            <p:txEl>
                                              <p:pRg st="1" end="1"/>
                                            </p:txEl>
                                          </p:spTgt>
                                        </p:tgtEl>
                                        <p:attrNameLst>
                                          <p:attrName>style.visibility</p:attrName>
                                        </p:attrNameLst>
                                      </p:cBhvr>
                                      <p:to>
                                        <p:strVal val="visible"/>
                                      </p:to>
                                    </p:set>
                                    <p:anim calcmode="lin" valueType="num">
                                      <p:cBhvr additive="base">
                                        <p:cTn id="42" dur="500" fill="hold"/>
                                        <p:tgtEl>
                                          <p:spTgt spid="28">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6" grpId="0"/>
      <p:bldP spid="17" grpId="0"/>
      <p:bldP spid="18"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8079"/>
            <a:ext cx="11430000" cy="1325563"/>
          </a:xfrm>
        </p:spPr>
        <p:txBody>
          <a:bodyPr/>
          <a:lstStyle/>
          <a:p>
            <a:pPr algn="ctr"/>
            <a:r>
              <a:rPr lang="en-US" dirty="0"/>
              <a:t>Polarity</a:t>
            </a:r>
          </a:p>
        </p:txBody>
      </p:sp>
      <p:sp>
        <p:nvSpPr>
          <p:cNvPr id="3" name="Content Placeholder 2"/>
          <p:cNvSpPr>
            <a:spLocks noGrp="1"/>
          </p:cNvSpPr>
          <p:nvPr>
            <p:ph idx="1"/>
          </p:nvPr>
        </p:nvSpPr>
        <p:spPr>
          <a:xfrm>
            <a:off x="307110" y="1520824"/>
            <a:ext cx="5336309" cy="4704487"/>
          </a:xfrm>
        </p:spPr>
        <p:txBody>
          <a:bodyPr>
            <a:normAutofit fontScale="92500" lnSpcReduction="20000"/>
          </a:bodyPr>
          <a:lstStyle/>
          <a:p>
            <a:r>
              <a:rPr lang="en-US" dirty="0">
                <a:solidFill>
                  <a:schemeClr val="tx1">
                    <a:lumMod val="65000"/>
                    <a:lumOff val="35000"/>
                  </a:schemeClr>
                </a:solidFill>
              </a:rPr>
              <a:t>The atom that attracts the valence electrons more strongly carries a </a:t>
            </a:r>
            <a:r>
              <a:rPr lang="en-US" b="1" u="sng" dirty="0">
                <a:solidFill>
                  <a:schemeClr val="tx1">
                    <a:lumMod val="65000"/>
                    <a:lumOff val="35000"/>
                  </a:schemeClr>
                </a:solidFill>
              </a:rPr>
              <a:t>partial</a:t>
            </a:r>
            <a:r>
              <a:rPr lang="en-US" dirty="0">
                <a:solidFill>
                  <a:schemeClr val="tx1">
                    <a:lumMod val="65000"/>
                    <a:lumOff val="35000"/>
                  </a:schemeClr>
                </a:solidFill>
              </a:rPr>
              <a:t> </a:t>
            </a:r>
            <a:r>
              <a:rPr lang="en-US" b="1" u="sng" dirty="0" smtClean="0">
                <a:solidFill>
                  <a:schemeClr val="tx1">
                    <a:lumMod val="65000"/>
                    <a:lumOff val="35000"/>
                  </a:schemeClr>
                </a:solidFill>
              </a:rPr>
              <a:t>negative</a:t>
            </a:r>
            <a:r>
              <a:rPr lang="en-US" dirty="0" smtClean="0">
                <a:solidFill>
                  <a:schemeClr val="tx1">
                    <a:lumMod val="65000"/>
                    <a:lumOff val="35000"/>
                  </a:schemeClr>
                </a:solidFill>
              </a:rPr>
              <a:t> </a:t>
            </a:r>
            <a:r>
              <a:rPr lang="en-US" b="1" u="sng" dirty="0" smtClean="0">
                <a:solidFill>
                  <a:schemeClr val="tx1">
                    <a:lumMod val="65000"/>
                    <a:lumOff val="35000"/>
                  </a:schemeClr>
                </a:solidFill>
              </a:rPr>
              <a:t>charge</a:t>
            </a:r>
            <a:r>
              <a:rPr lang="en-US" b="1" dirty="0" smtClean="0">
                <a:solidFill>
                  <a:schemeClr val="tx1">
                    <a:lumMod val="65000"/>
                    <a:lumOff val="35000"/>
                  </a:schemeClr>
                </a:solidFill>
              </a:rPr>
              <a:t>, </a:t>
            </a:r>
            <a:r>
              <a:rPr lang="en-US" altLang="en-US" b="1" dirty="0">
                <a:solidFill>
                  <a:schemeClr val="tx1">
                    <a:lumMod val="65000"/>
                    <a:lumOff val="35000"/>
                  </a:schemeClr>
                </a:solidFill>
                <a:latin typeface="+mj-lt"/>
              </a:rPr>
              <a:t>𝛿</a:t>
            </a:r>
            <a:r>
              <a:rPr lang="en-US" altLang="en-US" b="1" baseline="30000" dirty="0" smtClean="0">
                <a:solidFill>
                  <a:schemeClr val="tx1">
                    <a:lumMod val="65000"/>
                    <a:lumOff val="35000"/>
                  </a:schemeClr>
                </a:solidFill>
                <a:latin typeface="+mj-lt"/>
              </a:rPr>
              <a:t>−</a:t>
            </a:r>
            <a:r>
              <a:rPr lang="en-US" dirty="0" smtClean="0">
                <a:solidFill>
                  <a:schemeClr val="tx1">
                    <a:lumMod val="65000"/>
                    <a:lumOff val="35000"/>
                  </a:schemeClr>
                </a:solidFill>
                <a:latin typeface="+mj-lt"/>
              </a:rPr>
              <a:t>, </a:t>
            </a:r>
            <a:r>
              <a:rPr lang="en-US" dirty="0">
                <a:solidFill>
                  <a:schemeClr val="tx1">
                    <a:lumMod val="65000"/>
                    <a:lumOff val="35000"/>
                  </a:schemeClr>
                </a:solidFill>
                <a:latin typeface="+mj-lt"/>
              </a:rPr>
              <a:t>which results in the other atom carrying a </a:t>
            </a:r>
            <a:r>
              <a:rPr lang="en-US" b="1" u="sng" dirty="0">
                <a:solidFill>
                  <a:schemeClr val="tx1">
                    <a:lumMod val="65000"/>
                    <a:lumOff val="35000"/>
                  </a:schemeClr>
                </a:solidFill>
                <a:latin typeface="+mj-lt"/>
              </a:rPr>
              <a:t>partial</a:t>
            </a:r>
            <a:r>
              <a:rPr lang="en-US" b="1" dirty="0">
                <a:solidFill>
                  <a:schemeClr val="tx1">
                    <a:lumMod val="65000"/>
                    <a:lumOff val="35000"/>
                  </a:schemeClr>
                </a:solidFill>
                <a:latin typeface="+mj-lt"/>
              </a:rPr>
              <a:t> </a:t>
            </a:r>
            <a:r>
              <a:rPr lang="en-US" b="1" u="sng" dirty="0">
                <a:solidFill>
                  <a:schemeClr val="tx1">
                    <a:lumMod val="65000"/>
                    <a:lumOff val="35000"/>
                  </a:schemeClr>
                </a:solidFill>
                <a:latin typeface="+mj-lt"/>
              </a:rPr>
              <a:t>positive</a:t>
            </a:r>
            <a:r>
              <a:rPr lang="en-US" b="1" dirty="0">
                <a:solidFill>
                  <a:schemeClr val="tx1">
                    <a:lumMod val="65000"/>
                    <a:lumOff val="35000"/>
                  </a:schemeClr>
                </a:solidFill>
                <a:latin typeface="+mj-lt"/>
              </a:rPr>
              <a:t> </a:t>
            </a:r>
            <a:r>
              <a:rPr lang="en-US" b="1" u="sng" dirty="0" smtClean="0">
                <a:solidFill>
                  <a:schemeClr val="tx1">
                    <a:lumMod val="65000"/>
                    <a:lumOff val="35000"/>
                  </a:schemeClr>
                </a:solidFill>
                <a:latin typeface="+mj-lt"/>
              </a:rPr>
              <a:t>charge</a:t>
            </a:r>
            <a:r>
              <a:rPr lang="en-US" dirty="0" smtClean="0">
                <a:solidFill>
                  <a:schemeClr val="tx1">
                    <a:lumMod val="65000"/>
                    <a:lumOff val="35000"/>
                  </a:schemeClr>
                </a:solidFill>
                <a:latin typeface="+mj-lt"/>
              </a:rPr>
              <a:t>,</a:t>
            </a:r>
            <a:r>
              <a:rPr lang="en-US" altLang="en-US" dirty="0">
                <a:solidFill>
                  <a:schemeClr val="tx1">
                    <a:lumMod val="65000"/>
                    <a:lumOff val="35000"/>
                  </a:schemeClr>
                </a:solidFill>
                <a:latin typeface="+mj-lt"/>
              </a:rPr>
              <a:t> </a:t>
            </a:r>
            <a:r>
              <a:rPr lang="en-US" altLang="en-US" b="1" dirty="0" smtClean="0">
                <a:solidFill>
                  <a:schemeClr val="tx1">
                    <a:lumMod val="65000"/>
                    <a:lumOff val="35000"/>
                  </a:schemeClr>
                </a:solidFill>
                <a:latin typeface="+mj-lt"/>
              </a:rPr>
              <a:t>𝛿</a:t>
            </a:r>
            <a:r>
              <a:rPr lang="en-US" altLang="en-US" b="1" baseline="30000" dirty="0" smtClean="0">
                <a:solidFill>
                  <a:schemeClr val="tx1">
                    <a:lumMod val="65000"/>
                    <a:lumOff val="35000"/>
                  </a:schemeClr>
                </a:solidFill>
                <a:latin typeface="+mj-lt"/>
              </a:rPr>
              <a:t>+</a:t>
            </a:r>
            <a:endParaRPr lang="en-US" b="1" baseline="30000" dirty="0" smtClean="0">
              <a:solidFill>
                <a:schemeClr val="tx1">
                  <a:lumMod val="65000"/>
                  <a:lumOff val="35000"/>
                </a:schemeClr>
              </a:solidFill>
              <a:latin typeface="+mj-lt"/>
            </a:endParaRPr>
          </a:p>
          <a:p>
            <a:endParaRPr lang="en-US" dirty="0">
              <a:solidFill>
                <a:schemeClr val="tx1">
                  <a:lumMod val="65000"/>
                  <a:lumOff val="35000"/>
                </a:schemeClr>
              </a:solidFill>
            </a:endParaRPr>
          </a:p>
          <a:p>
            <a:r>
              <a:rPr lang="en-US" dirty="0" smtClean="0">
                <a:solidFill>
                  <a:schemeClr val="tx1">
                    <a:lumMod val="65000"/>
                    <a:lumOff val="35000"/>
                  </a:schemeClr>
                </a:solidFill>
              </a:rPr>
              <a:t>Since the </a:t>
            </a:r>
            <a:r>
              <a:rPr lang="en-US" dirty="0">
                <a:solidFill>
                  <a:schemeClr val="tx1">
                    <a:lumMod val="65000"/>
                    <a:lumOff val="35000"/>
                  </a:schemeClr>
                </a:solidFill>
              </a:rPr>
              <a:t>atoms carry partial charges, the whole molecule may have a </a:t>
            </a:r>
            <a:r>
              <a:rPr lang="en-US" b="1" u="sng" dirty="0">
                <a:solidFill>
                  <a:schemeClr val="tx1">
                    <a:lumMod val="65000"/>
                    <a:lumOff val="35000"/>
                  </a:schemeClr>
                </a:solidFill>
              </a:rPr>
              <a:t>non-uniform</a:t>
            </a:r>
            <a:r>
              <a:rPr lang="en-US" b="1" dirty="0">
                <a:solidFill>
                  <a:schemeClr val="tx1">
                    <a:lumMod val="65000"/>
                    <a:lumOff val="35000"/>
                  </a:schemeClr>
                </a:solidFill>
              </a:rPr>
              <a:t> </a:t>
            </a:r>
            <a:r>
              <a:rPr lang="en-US" b="1" u="sng" dirty="0" smtClean="0">
                <a:solidFill>
                  <a:schemeClr val="tx1">
                    <a:lumMod val="65000"/>
                    <a:lumOff val="35000"/>
                  </a:schemeClr>
                </a:solidFill>
              </a:rPr>
              <a:t>charge</a:t>
            </a:r>
            <a:r>
              <a:rPr lang="en-US" dirty="0" smtClean="0">
                <a:solidFill>
                  <a:schemeClr val="tx1">
                    <a:lumMod val="65000"/>
                    <a:lumOff val="35000"/>
                  </a:schemeClr>
                </a:solidFill>
              </a:rPr>
              <a:t> distribution</a:t>
            </a:r>
          </a:p>
          <a:p>
            <a:endParaRPr lang="en-US" dirty="0" smtClean="0">
              <a:solidFill>
                <a:schemeClr val="tx1">
                  <a:lumMod val="65000"/>
                  <a:lumOff val="35000"/>
                </a:schemeClr>
              </a:solidFill>
            </a:endParaRPr>
          </a:p>
          <a:p>
            <a:r>
              <a:rPr lang="en-US" dirty="0" smtClean="0">
                <a:solidFill>
                  <a:schemeClr val="tx1">
                    <a:lumMod val="65000"/>
                    <a:lumOff val="35000"/>
                  </a:schemeClr>
                </a:solidFill>
              </a:rPr>
              <a:t>This </a:t>
            </a:r>
            <a:r>
              <a:rPr lang="en-US" dirty="0">
                <a:solidFill>
                  <a:schemeClr val="tx1">
                    <a:lumMod val="65000"/>
                    <a:lumOff val="35000"/>
                  </a:schemeClr>
                </a:solidFill>
              </a:rPr>
              <a:t>is the </a:t>
            </a:r>
            <a:r>
              <a:rPr lang="en-US" b="1" u="sng" dirty="0">
                <a:solidFill>
                  <a:schemeClr val="tx1">
                    <a:lumMod val="65000"/>
                    <a:lumOff val="35000"/>
                  </a:schemeClr>
                </a:solidFill>
              </a:rPr>
              <a:t>polarity</a:t>
            </a:r>
            <a:r>
              <a:rPr lang="en-US" dirty="0">
                <a:solidFill>
                  <a:schemeClr val="tx1">
                    <a:lumMod val="65000"/>
                    <a:lumOff val="35000"/>
                  </a:schemeClr>
                </a:solidFill>
              </a:rPr>
              <a:t> of the </a:t>
            </a:r>
            <a:r>
              <a:rPr lang="en-US" dirty="0" smtClean="0">
                <a:solidFill>
                  <a:schemeClr val="tx1">
                    <a:lumMod val="65000"/>
                    <a:lumOff val="35000"/>
                  </a:schemeClr>
                </a:solidFill>
              </a:rPr>
              <a:t>molecule</a:t>
            </a:r>
            <a:endParaRPr lang="en-US" dirty="0">
              <a:solidFill>
                <a:schemeClr val="tx1">
                  <a:lumMod val="65000"/>
                  <a:lumOff val="35000"/>
                </a:schemeClr>
              </a:solidFill>
            </a:endParaRPr>
          </a:p>
        </p:txBody>
      </p:sp>
      <p:pic>
        <p:nvPicPr>
          <p:cNvPr id="13" name="Picture 12"/>
          <p:cNvPicPr>
            <a:picLocks noChangeAspect="1"/>
          </p:cNvPicPr>
          <p:nvPr/>
        </p:nvPicPr>
        <p:blipFill>
          <a:blip r:embed="rId2"/>
          <a:stretch>
            <a:fillRect/>
          </a:stretch>
        </p:blipFill>
        <p:spPr>
          <a:xfrm>
            <a:off x="5932164" y="1180838"/>
            <a:ext cx="2627527" cy="1360924"/>
          </a:xfrm>
          <a:prstGeom prst="rect">
            <a:avLst/>
          </a:prstGeom>
        </p:spPr>
      </p:pic>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3457" t="1905" r="6061"/>
          <a:stretch/>
        </p:blipFill>
        <p:spPr>
          <a:xfrm>
            <a:off x="8848436" y="134080"/>
            <a:ext cx="3198689" cy="6589992"/>
          </a:xfrm>
          <a:prstGeom prst="rect">
            <a:avLst/>
          </a:prstGeom>
        </p:spPr>
      </p:pic>
      <p:sp>
        <p:nvSpPr>
          <p:cNvPr id="15" name="Rectangle 14"/>
          <p:cNvSpPr/>
          <p:nvPr/>
        </p:nvSpPr>
        <p:spPr>
          <a:xfrm>
            <a:off x="5870346" y="2638195"/>
            <a:ext cx="2828018" cy="369332"/>
          </a:xfrm>
          <a:prstGeom prst="rect">
            <a:avLst/>
          </a:prstGeom>
        </p:spPr>
        <p:txBody>
          <a:bodyPr wrap="none">
            <a:spAutoFit/>
          </a:bodyPr>
          <a:lstStyle/>
          <a:p>
            <a:r>
              <a:rPr lang="en-US" kern="0" dirty="0">
                <a:solidFill>
                  <a:schemeClr val="tx1">
                    <a:lumMod val="75000"/>
                    <a:lumOff val="25000"/>
                  </a:schemeClr>
                </a:solidFill>
              </a:rPr>
              <a:t>(</a:t>
            </a:r>
            <a:r>
              <a:rPr lang="en-US" kern="0" dirty="0">
                <a:solidFill>
                  <a:schemeClr val="tx1">
                    <a:lumMod val="75000"/>
                    <a:lumOff val="25000"/>
                  </a:schemeClr>
                </a:solidFill>
                <a:latin typeface="Calibri" panose="020F0502020204030204" pitchFamily="34" charset="0"/>
                <a:cs typeface="Calibri" panose="020F0502020204030204" pitchFamily="34" charset="0"/>
              </a:rPr>
              <a:t>∆</a:t>
            </a:r>
            <a:r>
              <a:rPr lang="en-US" kern="0" dirty="0" err="1">
                <a:solidFill>
                  <a:schemeClr val="tx1">
                    <a:lumMod val="75000"/>
                    <a:lumOff val="25000"/>
                  </a:schemeClr>
                </a:solidFill>
              </a:rPr>
              <a:t>En</a:t>
            </a:r>
            <a:r>
              <a:rPr lang="en-US" kern="0" dirty="0">
                <a:solidFill>
                  <a:schemeClr val="tx1">
                    <a:lumMod val="75000"/>
                    <a:lumOff val="25000"/>
                  </a:schemeClr>
                </a:solidFill>
              </a:rPr>
              <a:t> = 3.44 – 2.20 = 1.24)</a:t>
            </a:r>
          </a:p>
        </p:txBody>
      </p:sp>
      <p:pic>
        <p:nvPicPr>
          <p:cNvPr id="16" name="Picture 2" descr="https://i.makeagif.com/media/3-03-2016/0eO4da.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000845" y="4798808"/>
            <a:ext cx="2567019" cy="1925264"/>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p:cNvSpPr/>
          <p:nvPr/>
        </p:nvSpPr>
        <p:spPr>
          <a:xfrm>
            <a:off x="8848436" y="461818"/>
            <a:ext cx="387928" cy="3056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8820727" y="2608643"/>
            <a:ext cx="387928" cy="305650"/>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5"/>
          <a:stretch>
            <a:fillRect/>
          </a:stretch>
        </p:blipFill>
        <p:spPr>
          <a:xfrm>
            <a:off x="6200812" y="3079095"/>
            <a:ext cx="2090231" cy="1567673"/>
          </a:xfrm>
          <a:prstGeom prst="rect">
            <a:avLst/>
          </a:prstGeom>
        </p:spPr>
      </p:pic>
    </p:spTree>
    <p:extLst>
      <p:ext uri="{BB962C8B-B14F-4D97-AF65-F5344CB8AC3E}">
        <p14:creationId xmlns:p14="http://schemas.microsoft.com/office/powerpoint/2010/main" val="380240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7"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Overall Polarity</a:t>
            </a:r>
            <a:endParaRPr lang="en-US" dirty="0"/>
          </a:p>
        </p:txBody>
      </p:sp>
      <p:sp>
        <p:nvSpPr>
          <p:cNvPr id="3" name="Content Placeholder 2"/>
          <p:cNvSpPr>
            <a:spLocks noGrp="1"/>
          </p:cNvSpPr>
          <p:nvPr>
            <p:ph idx="1"/>
          </p:nvPr>
        </p:nvSpPr>
        <p:spPr>
          <a:xfrm>
            <a:off x="1470498" y="1469859"/>
            <a:ext cx="6971145" cy="4366636"/>
          </a:xfrm>
        </p:spPr>
        <p:txBody>
          <a:bodyPr>
            <a:normAutofit/>
          </a:bodyPr>
          <a:lstStyle/>
          <a:p>
            <a:pPr lvl="1">
              <a:spcBef>
                <a:spcPts val="0"/>
              </a:spcBef>
            </a:pPr>
            <a:endParaRPr lang="en-US" sz="2800" dirty="0" smtClean="0">
              <a:cs typeface="Calibri"/>
            </a:endParaRPr>
          </a:p>
          <a:p>
            <a:pPr>
              <a:spcBef>
                <a:spcPts val="0"/>
              </a:spcBef>
              <a:spcAft>
                <a:spcPts val="0"/>
              </a:spcAft>
            </a:pPr>
            <a:r>
              <a:rPr lang="en-US" dirty="0">
                <a:solidFill>
                  <a:schemeClr val="tx1">
                    <a:lumMod val="65000"/>
                    <a:lumOff val="35000"/>
                  </a:schemeClr>
                </a:solidFill>
              </a:rPr>
              <a:t>Is determined by:  </a:t>
            </a:r>
            <a:endParaRPr lang="en-US" dirty="0" smtClean="0">
              <a:solidFill>
                <a:schemeClr val="tx1">
                  <a:lumMod val="65000"/>
                  <a:lumOff val="35000"/>
                </a:schemeClr>
              </a:solidFill>
            </a:endParaRPr>
          </a:p>
          <a:p>
            <a:pPr>
              <a:spcBef>
                <a:spcPts val="0"/>
              </a:spcBef>
              <a:spcAft>
                <a:spcPts val="0"/>
              </a:spcAft>
            </a:pPr>
            <a:endParaRPr lang="en-US" dirty="0" smtClean="0">
              <a:solidFill>
                <a:schemeClr val="tx1">
                  <a:lumMod val="65000"/>
                  <a:lumOff val="35000"/>
                </a:schemeClr>
              </a:solidFill>
            </a:endParaRPr>
          </a:p>
          <a:p>
            <a:pPr marL="971550" lvl="1" indent="-514350">
              <a:spcBef>
                <a:spcPts val="0"/>
              </a:spcBef>
              <a:buFont typeface="+mj-lt"/>
              <a:buAutoNum type="arabicPeriod"/>
            </a:pPr>
            <a:r>
              <a:rPr lang="en-US" dirty="0" smtClean="0">
                <a:solidFill>
                  <a:schemeClr val="tx1">
                    <a:lumMod val="65000"/>
                    <a:lumOff val="35000"/>
                  </a:schemeClr>
                </a:solidFill>
                <a:sym typeface="Symbol"/>
              </a:rPr>
              <a:t></a:t>
            </a:r>
            <a:r>
              <a:rPr lang="en-US" dirty="0">
                <a:solidFill>
                  <a:schemeClr val="tx1">
                    <a:lumMod val="65000"/>
                    <a:lumOff val="35000"/>
                  </a:schemeClr>
                </a:solidFill>
              </a:rPr>
              <a:t>E</a:t>
            </a:r>
            <a:r>
              <a:rPr lang="en-US" baseline="-25000" dirty="0">
                <a:solidFill>
                  <a:schemeClr val="tx1">
                    <a:lumMod val="65000"/>
                    <a:lumOff val="35000"/>
                  </a:schemeClr>
                </a:solidFill>
              </a:rPr>
              <a:t>N</a:t>
            </a:r>
            <a:r>
              <a:rPr lang="en-US" dirty="0">
                <a:solidFill>
                  <a:schemeClr val="tx1">
                    <a:lumMod val="65000"/>
                    <a:lumOff val="35000"/>
                  </a:schemeClr>
                </a:solidFill>
              </a:rPr>
              <a:t> between the bonded atoms</a:t>
            </a:r>
            <a:endParaRPr lang="en-CA" dirty="0">
              <a:solidFill>
                <a:schemeClr val="tx1">
                  <a:lumMod val="65000"/>
                  <a:lumOff val="35000"/>
                </a:schemeClr>
              </a:solidFill>
            </a:endParaRPr>
          </a:p>
          <a:p>
            <a:pPr marL="971550" lvl="1" indent="-514350">
              <a:spcBef>
                <a:spcPts val="0"/>
              </a:spcBef>
              <a:spcAft>
                <a:spcPts val="1200"/>
              </a:spcAft>
              <a:buFont typeface="+mj-lt"/>
              <a:buAutoNum type="arabicPeriod"/>
            </a:pPr>
            <a:r>
              <a:rPr lang="en-US" dirty="0" smtClean="0">
                <a:solidFill>
                  <a:schemeClr val="tx1">
                    <a:lumMod val="65000"/>
                    <a:lumOff val="35000"/>
                  </a:schemeClr>
                </a:solidFill>
              </a:rPr>
              <a:t>the </a:t>
            </a:r>
            <a:r>
              <a:rPr lang="en-US" dirty="0">
                <a:solidFill>
                  <a:schemeClr val="tx1">
                    <a:lumMod val="65000"/>
                    <a:lumOff val="35000"/>
                  </a:schemeClr>
                </a:solidFill>
              </a:rPr>
              <a:t>symmetry of the </a:t>
            </a:r>
            <a:r>
              <a:rPr lang="en-US" dirty="0" smtClean="0">
                <a:solidFill>
                  <a:schemeClr val="tx1">
                    <a:lumMod val="65000"/>
                    <a:lumOff val="35000"/>
                  </a:schemeClr>
                </a:solidFill>
              </a:rPr>
              <a:t>molecule</a:t>
            </a:r>
            <a:endParaRPr lang="en-CA" dirty="0">
              <a:solidFill>
                <a:schemeClr val="tx1">
                  <a:lumMod val="65000"/>
                  <a:lumOff val="35000"/>
                </a:schemeClr>
              </a:solidFill>
            </a:endParaRPr>
          </a:p>
        </p:txBody>
      </p:sp>
      <p:pic>
        <p:nvPicPr>
          <p:cNvPr id="7" name="Picture 6"/>
          <p:cNvPicPr>
            <a:picLocks noChangeAspect="1"/>
          </p:cNvPicPr>
          <p:nvPr/>
        </p:nvPicPr>
        <p:blipFill>
          <a:blip r:embed="rId3"/>
          <a:stretch>
            <a:fillRect/>
          </a:stretch>
        </p:blipFill>
        <p:spPr>
          <a:xfrm>
            <a:off x="2013409" y="4165600"/>
            <a:ext cx="3453594" cy="2216725"/>
          </a:xfrm>
          <a:prstGeom prst="rect">
            <a:avLst/>
          </a:prstGeom>
        </p:spPr>
      </p:pic>
      <p:pic>
        <p:nvPicPr>
          <p:cNvPr id="8" name="Picture 7"/>
          <p:cNvPicPr>
            <a:picLocks noChangeAspect="1"/>
          </p:cNvPicPr>
          <p:nvPr/>
        </p:nvPicPr>
        <p:blipFill>
          <a:blip r:embed="rId4"/>
          <a:stretch>
            <a:fillRect/>
          </a:stretch>
        </p:blipFill>
        <p:spPr>
          <a:xfrm>
            <a:off x="6834477" y="4165601"/>
            <a:ext cx="4043304" cy="2216724"/>
          </a:xfrm>
          <a:prstGeom prst="rect">
            <a:avLst/>
          </a:prstGeom>
        </p:spPr>
      </p:pic>
    </p:spTree>
    <p:extLst>
      <p:ext uri="{BB962C8B-B14F-4D97-AF65-F5344CB8AC3E}">
        <p14:creationId xmlns:p14="http://schemas.microsoft.com/office/powerpoint/2010/main" val="58581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Polar or non-polar?</a:t>
            </a:r>
            <a:endParaRPr lang="en-US" dirty="0"/>
          </a:p>
        </p:txBody>
      </p:sp>
      <p:grpSp>
        <p:nvGrpSpPr>
          <p:cNvPr id="17" name="Group 16"/>
          <p:cNvGrpSpPr/>
          <p:nvPr/>
        </p:nvGrpSpPr>
        <p:grpSpPr>
          <a:xfrm>
            <a:off x="2720357" y="1970934"/>
            <a:ext cx="6506428" cy="2980153"/>
            <a:chOff x="3359444" y="2801938"/>
            <a:chExt cx="4604617" cy="2160587"/>
          </a:xfrm>
        </p:grpSpPr>
        <p:pic>
          <p:nvPicPr>
            <p:cNvPr id="18" name="il_fi" descr="http://boomeria.org/chemlectures/textass2/fig14-1.jpg"/>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0167" t="7104" r="-1743"/>
            <a:stretch/>
          </p:blipFill>
          <p:spPr bwMode="auto">
            <a:xfrm>
              <a:off x="3500807" y="2801938"/>
              <a:ext cx="4463254"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utoShape 2"/>
            <p:cNvSpPr>
              <a:spLocks noChangeArrowheads="1"/>
            </p:cNvSpPr>
            <p:nvPr/>
          </p:nvSpPr>
          <p:spPr bwMode="auto">
            <a:xfrm>
              <a:off x="3359444" y="2801938"/>
              <a:ext cx="3200777" cy="558800"/>
            </a:xfrm>
            <a:prstGeom prst="roundRect">
              <a:avLst>
                <a:gd name="adj" fmla="val 16667"/>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grpSp>
      <p:pic>
        <p:nvPicPr>
          <p:cNvPr id="2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8160" y="2474990"/>
            <a:ext cx="1800979" cy="1453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4" descr="http://s1.hubimg.com/u/4266800_f52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8482" y="2732038"/>
            <a:ext cx="2189229" cy="1750342"/>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p:cNvGrpSpPr/>
          <p:nvPr/>
        </p:nvGrpSpPr>
        <p:grpSpPr>
          <a:xfrm>
            <a:off x="6930861" y="2090463"/>
            <a:ext cx="2314387" cy="2692343"/>
            <a:chOff x="5449544" y="884233"/>
            <a:chExt cx="2314387" cy="2692343"/>
          </a:xfrm>
        </p:grpSpPr>
        <p:pic>
          <p:nvPicPr>
            <p:cNvPr id="23"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2926" t="15248" r="11011" b="8548"/>
            <a:stretch/>
          </p:blipFill>
          <p:spPr bwMode="auto">
            <a:xfrm rot="5400000" flipV="1">
              <a:off x="5260566" y="1073211"/>
              <a:ext cx="2692343" cy="23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Box 23"/>
            <p:cNvSpPr txBox="1"/>
            <p:nvPr/>
          </p:nvSpPr>
          <p:spPr>
            <a:xfrm>
              <a:off x="6886919" y="3120464"/>
              <a:ext cx="877012" cy="311371"/>
            </a:xfrm>
            <a:prstGeom prst="rect">
              <a:avLst/>
            </a:prstGeom>
            <a:noFill/>
          </p:spPr>
          <p:txBody>
            <a:bodyPr wrap="square" rtlCol="0">
              <a:spAutoFit/>
            </a:bodyPr>
            <a:lstStyle/>
            <a:p>
              <a:r>
                <a:rPr lang="en-CA" sz="1600" dirty="0"/>
                <a:t>CCl</a:t>
              </a:r>
              <a:r>
                <a:rPr lang="en-CA" sz="1600" baseline="-25000" dirty="0"/>
                <a:t>4</a:t>
              </a:r>
            </a:p>
          </p:txBody>
        </p:sp>
      </p:grpSp>
      <p:sp>
        <p:nvSpPr>
          <p:cNvPr id="25" name="TextBox 24"/>
          <p:cNvSpPr txBox="1"/>
          <p:nvPr/>
        </p:nvSpPr>
        <p:spPr>
          <a:xfrm>
            <a:off x="914401" y="5334987"/>
            <a:ext cx="10992112" cy="646331"/>
          </a:xfrm>
          <a:prstGeom prst="rect">
            <a:avLst/>
          </a:prstGeom>
          <a:noFill/>
        </p:spPr>
        <p:txBody>
          <a:bodyPr wrap="none" rtlCol="0">
            <a:spAutoFit/>
          </a:bodyPr>
          <a:lstStyle/>
          <a:p>
            <a:pPr marL="285750" indent="-285750">
              <a:buFont typeface="Arial" panose="020B0604020202020204" pitchFamily="34" charset="0"/>
              <a:buChar char="•"/>
            </a:pPr>
            <a:r>
              <a:rPr lang="en-US" dirty="0" smtClean="0">
                <a:solidFill>
                  <a:schemeClr val="tx1">
                    <a:lumMod val="65000"/>
                    <a:lumOff val="35000"/>
                  </a:schemeClr>
                </a:solidFill>
              </a:rPr>
              <a:t>Both HF and H</a:t>
            </a:r>
            <a:r>
              <a:rPr lang="en-US" baseline="-25000" dirty="0" smtClean="0">
                <a:solidFill>
                  <a:schemeClr val="tx1">
                    <a:lumMod val="65000"/>
                    <a:lumOff val="35000"/>
                  </a:schemeClr>
                </a:solidFill>
              </a:rPr>
              <a:t>2</a:t>
            </a:r>
            <a:r>
              <a:rPr lang="en-US" dirty="0" smtClean="0">
                <a:solidFill>
                  <a:schemeClr val="tx1">
                    <a:lumMod val="65000"/>
                    <a:lumOff val="35000"/>
                  </a:schemeClr>
                </a:solidFill>
              </a:rPr>
              <a:t>O are polar molecules because the arrangement of the polar bonds is not symmetrical</a:t>
            </a:r>
          </a:p>
          <a:p>
            <a:pPr marL="285750" indent="-285750">
              <a:buFont typeface="Arial" panose="020B0604020202020204" pitchFamily="34" charset="0"/>
              <a:buChar char="•"/>
            </a:pPr>
            <a:r>
              <a:rPr lang="en-US" dirty="0" smtClean="0">
                <a:solidFill>
                  <a:schemeClr val="tx1">
                    <a:lumMod val="65000"/>
                    <a:lumOff val="35000"/>
                  </a:schemeClr>
                </a:solidFill>
              </a:rPr>
              <a:t>CCl</a:t>
            </a:r>
            <a:r>
              <a:rPr lang="en-US" baseline="-25000" dirty="0" smtClean="0">
                <a:solidFill>
                  <a:schemeClr val="tx1">
                    <a:lumMod val="65000"/>
                    <a:lumOff val="35000"/>
                  </a:schemeClr>
                </a:solidFill>
              </a:rPr>
              <a:t>4</a:t>
            </a:r>
            <a:r>
              <a:rPr lang="en-US" dirty="0" smtClean="0">
                <a:solidFill>
                  <a:schemeClr val="tx1">
                    <a:lumMod val="65000"/>
                    <a:lumOff val="35000"/>
                  </a:schemeClr>
                </a:solidFill>
              </a:rPr>
              <a:t> molecule is non-polar in spite of the fact that it contains four polar bonds</a:t>
            </a:r>
            <a:endParaRPr lang="en-US" dirty="0">
              <a:solidFill>
                <a:schemeClr val="tx1">
                  <a:lumMod val="65000"/>
                  <a:lumOff val="35000"/>
                </a:schemeClr>
              </a:solidFill>
            </a:endParaRPr>
          </a:p>
        </p:txBody>
      </p:sp>
    </p:spTree>
    <p:extLst>
      <p:ext uri="{BB962C8B-B14F-4D97-AF65-F5344CB8AC3E}">
        <p14:creationId xmlns:p14="http://schemas.microsoft.com/office/powerpoint/2010/main" val="122995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nodeType="clickEffect">
                                  <p:stCondLst>
                                    <p:cond delay="0"/>
                                  </p:stCondLst>
                                  <p:childTnLst>
                                    <p:animEffect transition="out" filter="circle(out)">
                                      <p:cBhvr>
                                        <p:cTn id="6" dur="2000"/>
                                        <p:tgtEl>
                                          <p:spTgt spid="20"/>
                                        </p:tgtEl>
                                      </p:cBhvr>
                                    </p:animEffect>
                                    <p:set>
                                      <p:cBhvr>
                                        <p:cTn id="7" dur="1" fill="hold">
                                          <p:stCondLst>
                                            <p:cond delay="1999"/>
                                          </p:stCondLst>
                                        </p:cTn>
                                        <p:tgtEl>
                                          <p:spTgt spid="2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6" presetClass="exit" presetSubtype="32" fill="hold" nodeType="clickEffect">
                                  <p:stCondLst>
                                    <p:cond delay="0"/>
                                  </p:stCondLst>
                                  <p:childTnLst>
                                    <p:animEffect transition="out" filter="circle(out)">
                                      <p:cBhvr>
                                        <p:cTn id="11" dur="2000"/>
                                        <p:tgtEl>
                                          <p:spTgt spid="21"/>
                                        </p:tgtEl>
                                      </p:cBhvr>
                                    </p:animEffect>
                                    <p:set>
                                      <p:cBhvr>
                                        <p:cTn id="12" dur="1" fill="hold">
                                          <p:stCondLst>
                                            <p:cond delay="1999"/>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xit" presetSubtype="32" fill="hold" nodeType="clickEffect">
                                  <p:stCondLst>
                                    <p:cond delay="0"/>
                                  </p:stCondLst>
                                  <p:childTnLst>
                                    <p:animEffect transition="out" filter="circle(out)">
                                      <p:cBhvr>
                                        <p:cTn id="16" dur="2000"/>
                                        <p:tgtEl>
                                          <p:spTgt spid="22"/>
                                        </p:tgtEl>
                                      </p:cBhvr>
                                    </p:animEffect>
                                    <p:set>
                                      <p:cBhvr>
                                        <p:cTn id="17" dur="1" fill="hold">
                                          <p:stCondLst>
                                            <p:cond delay="1999"/>
                                          </p:stCondLst>
                                        </p:cTn>
                                        <p:tgtEl>
                                          <p:spTgt spid="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 calcmode="lin" valueType="num">
                                      <p:cBhvr additive="base">
                                        <p:cTn id="22"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5">
                                            <p:txEl>
                                              <p:pRg st="1" end="1"/>
                                            </p:txEl>
                                          </p:spTgt>
                                        </p:tgtEl>
                                        <p:attrNameLst>
                                          <p:attrName>style.visibility</p:attrName>
                                        </p:attrNameLst>
                                      </p:cBhvr>
                                      <p:to>
                                        <p:strVal val="visible"/>
                                      </p:to>
                                    </p:set>
                                    <p:anim calcmode="lin" valueType="num">
                                      <p:cBhvr additive="base">
                                        <p:cTn id="28"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i="1" dirty="0" smtClean="0"/>
              <a:t>Inter</a:t>
            </a:r>
            <a:r>
              <a:rPr lang="en-US" sz="3600" dirty="0" smtClean="0"/>
              <a:t>molecular “Van der Waals” forces</a:t>
            </a:r>
            <a:endParaRPr lang="en-US" sz="3600" dirty="0"/>
          </a:p>
        </p:txBody>
      </p:sp>
      <p:sp>
        <p:nvSpPr>
          <p:cNvPr id="3" name="Content Placeholder 2"/>
          <p:cNvSpPr>
            <a:spLocks noGrp="1"/>
          </p:cNvSpPr>
          <p:nvPr>
            <p:ph idx="1"/>
          </p:nvPr>
        </p:nvSpPr>
        <p:spPr>
          <a:xfrm>
            <a:off x="381001" y="1517515"/>
            <a:ext cx="6807740" cy="4640094"/>
          </a:xfrm>
        </p:spPr>
        <p:txBody>
          <a:bodyPr>
            <a:normAutofit lnSpcReduction="10000"/>
          </a:bodyPr>
          <a:lstStyle/>
          <a:p>
            <a:r>
              <a:rPr lang="en-US" sz="2400" dirty="0">
                <a:solidFill>
                  <a:schemeClr val="tx1">
                    <a:lumMod val="65000"/>
                    <a:lumOff val="35000"/>
                  </a:schemeClr>
                </a:solidFill>
              </a:rPr>
              <a:t>Are </a:t>
            </a:r>
            <a:r>
              <a:rPr lang="en-US" sz="2400" b="1" u="sng" dirty="0">
                <a:solidFill>
                  <a:schemeClr val="tx1">
                    <a:lumMod val="65000"/>
                    <a:lumOff val="35000"/>
                  </a:schemeClr>
                </a:solidFill>
              </a:rPr>
              <a:t>weak</a:t>
            </a:r>
            <a:r>
              <a:rPr lang="en-US" sz="2400" b="1" i="1" dirty="0">
                <a:solidFill>
                  <a:schemeClr val="tx1">
                    <a:lumMod val="65000"/>
                    <a:lumOff val="35000"/>
                  </a:schemeClr>
                </a:solidFill>
              </a:rPr>
              <a:t> </a:t>
            </a:r>
            <a:r>
              <a:rPr lang="en-US" sz="2400" b="1" u="sng" dirty="0">
                <a:solidFill>
                  <a:schemeClr val="tx1">
                    <a:lumMod val="65000"/>
                    <a:lumOff val="35000"/>
                  </a:schemeClr>
                </a:solidFill>
              </a:rPr>
              <a:t>forces</a:t>
            </a:r>
            <a:r>
              <a:rPr lang="en-US" sz="2400" b="1" dirty="0">
                <a:solidFill>
                  <a:schemeClr val="tx1">
                    <a:lumMod val="65000"/>
                    <a:lumOff val="35000"/>
                  </a:schemeClr>
                </a:solidFill>
              </a:rPr>
              <a:t> </a:t>
            </a:r>
            <a:r>
              <a:rPr lang="en-US" sz="2400" dirty="0">
                <a:solidFill>
                  <a:schemeClr val="tx1">
                    <a:lumMod val="65000"/>
                    <a:lumOff val="35000"/>
                  </a:schemeClr>
                </a:solidFill>
              </a:rPr>
              <a:t>that help molecules </a:t>
            </a:r>
            <a:r>
              <a:rPr lang="en-US" sz="2400" b="1" i="1" dirty="0">
                <a:solidFill>
                  <a:schemeClr val="tx1">
                    <a:lumMod val="65000"/>
                    <a:lumOff val="35000"/>
                  </a:schemeClr>
                </a:solidFill>
              </a:rPr>
              <a:t>adhere or interact </a:t>
            </a:r>
            <a:r>
              <a:rPr lang="en-US" sz="2400" dirty="0">
                <a:solidFill>
                  <a:schemeClr val="tx1">
                    <a:lumMod val="65000"/>
                    <a:lumOff val="35000"/>
                  </a:schemeClr>
                </a:solidFill>
              </a:rPr>
              <a:t>with each other in </a:t>
            </a:r>
            <a:r>
              <a:rPr lang="en-US" sz="2400" b="1" dirty="0">
                <a:solidFill>
                  <a:schemeClr val="tx1">
                    <a:lumMod val="65000"/>
                    <a:lumOff val="35000"/>
                  </a:schemeClr>
                </a:solidFill>
              </a:rPr>
              <a:t>cell processes</a:t>
            </a:r>
            <a:r>
              <a:rPr lang="en-US" sz="2400" dirty="0">
                <a:solidFill>
                  <a:schemeClr val="tx1">
                    <a:lumMod val="65000"/>
                    <a:lumOff val="35000"/>
                  </a:schemeClr>
                </a:solidFill>
              </a:rPr>
              <a:t>, and will also determine the </a:t>
            </a:r>
            <a:r>
              <a:rPr lang="en-US" sz="2400" b="1" i="1" dirty="0">
                <a:solidFill>
                  <a:schemeClr val="tx1">
                    <a:lumMod val="65000"/>
                    <a:lumOff val="35000"/>
                  </a:schemeClr>
                </a:solidFill>
              </a:rPr>
              <a:t>shapes</a:t>
            </a:r>
            <a:r>
              <a:rPr lang="en-US" sz="2400" dirty="0">
                <a:solidFill>
                  <a:schemeClr val="tx1">
                    <a:lumMod val="65000"/>
                    <a:lumOff val="35000"/>
                  </a:schemeClr>
                </a:solidFill>
              </a:rPr>
              <a:t> of </a:t>
            </a:r>
            <a:r>
              <a:rPr lang="en-US" sz="2400" b="1" dirty="0">
                <a:solidFill>
                  <a:schemeClr val="tx1">
                    <a:lumMod val="65000"/>
                    <a:lumOff val="35000"/>
                  </a:schemeClr>
                </a:solidFill>
              </a:rPr>
              <a:t>large</a:t>
            </a:r>
            <a:r>
              <a:rPr lang="en-US" sz="2400" dirty="0">
                <a:solidFill>
                  <a:schemeClr val="tx1">
                    <a:lumMod val="65000"/>
                    <a:lumOff val="35000"/>
                  </a:schemeClr>
                </a:solidFill>
              </a:rPr>
              <a:t> </a:t>
            </a:r>
            <a:r>
              <a:rPr lang="en-US" sz="2400" b="1" dirty="0">
                <a:solidFill>
                  <a:schemeClr val="tx1">
                    <a:lumMod val="65000"/>
                    <a:lumOff val="35000"/>
                  </a:schemeClr>
                </a:solidFill>
              </a:rPr>
              <a:t>molecules</a:t>
            </a:r>
            <a:r>
              <a:rPr lang="en-US" sz="2400" dirty="0">
                <a:solidFill>
                  <a:schemeClr val="tx1">
                    <a:lumMod val="65000"/>
                    <a:lumOff val="35000"/>
                  </a:schemeClr>
                </a:solidFill>
              </a:rPr>
              <a:t> like DNA and </a:t>
            </a:r>
            <a:r>
              <a:rPr lang="en-US" sz="2400" dirty="0" smtClean="0">
                <a:solidFill>
                  <a:schemeClr val="tx1">
                    <a:lumMod val="65000"/>
                    <a:lumOff val="35000"/>
                  </a:schemeClr>
                </a:solidFill>
              </a:rPr>
              <a:t>proteins</a:t>
            </a:r>
          </a:p>
          <a:p>
            <a:endParaRPr lang="en-US" sz="2400" dirty="0" smtClean="0">
              <a:solidFill>
                <a:schemeClr val="tx1">
                  <a:lumMod val="65000"/>
                  <a:lumOff val="35000"/>
                </a:schemeClr>
              </a:solidFill>
            </a:endParaRPr>
          </a:p>
          <a:p>
            <a:r>
              <a:rPr lang="en-US" sz="2400" dirty="0">
                <a:solidFill>
                  <a:schemeClr val="tx1">
                    <a:lumMod val="65000"/>
                    <a:lumOff val="35000"/>
                  </a:schemeClr>
                </a:solidFill>
              </a:rPr>
              <a:t>There are several types that act between organic molecules</a:t>
            </a:r>
            <a:r>
              <a:rPr lang="en-CA" sz="2400" dirty="0" smtClean="0">
                <a:solidFill>
                  <a:schemeClr val="tx1">
                    <a:lumMod val="65000"/>
                    <a:lumOff val="35000"/>
                  </a:schemeClr>
                </a:solidFill>
              </a:rPr>
              <a:t>:</a:t>
            </a:r>
          </a:p>
          <a:p>
            <a:endParaRPr lang="en-US" sz="2400" dirty="0">
              <a:solidFill>
                <a:schemeClr val="tx1">
                  <a:lumMod val="65000"/>
                  <a:lumOff val="35000"/>
                </a:schemeClr>
              </a:solidFill>
            </a:endParaRPr>
          </a:p>
          <a:p>
            <a:pPr lvl="1" indent="-457200">
              <a:buFont typeface="+mj-lt"/>
              <a:buAutoNum type="arabicPeriod"/>
            </a:pPr>
            <a:r>
              <a:rPr lang="en-US" b="1" u="sng" dirty="0">
                <a:solidFill>
                  <a:schemeClr val="tx1">
                    <a:lumMod val="65000"/>
                    <a:lumOff val="35000"/>
                  </a:schemeClr>
                </a:solidFill>
              </a:rPr>
              <a:t>Hydrogen</a:t>
            </a:r>
            <a:r>
              <a:rPr lang="en-US" b="1" dirty="0">
                <a:solidFill>
                  <a:schemeClr val="tx1">
                    <a:lumMod val="65000"/>
                    <a:lumOff val="35000"/>
                  </a:schemeClr>
                </a:solidFill>
              </a:rPr>
              <a:t> </a:t>
            </a:r>
            <a:r>
              <a:rPr lang="en-US" b="1" u="sng" dirty="0" smtClean="0">
                <a:solidFill>
                  <a:schemeClr val="tx1">
                    <a:lumMod val="65000"/>
                    <a:lumOff val="35000"/>
                  </a:schemeClr>
                </a:solidFill>
              </a:rPr>
              <a:t>bonds:</a:t>
            </a:r>
            <a:r>
              <a:rPr lang="en-US" dirty="0">
                <a:solidFill>
                  <a:schemeClr val="tx1">
                    <a:lumMod val="65000"/>
                    <a:lumOff val="35000"/>
                  </a:schemeClr>
                </a:solidFill>
              </a:rPr>
              <a:t> A hydrogen atom that is covalently bonded to a strongly electronegative atom in </a:t>
            </a:r>
            <a:r>
              <a:rPr lang="en-US" dirty="0" smtClean="0">
                <a:solidFill>
                  <a:schemeClr val="tx1">
                    <a:lumMod val="65000"/>
                    <a:lumOff val="35000"/>
                  </a:schemeClr>
                </a:solidFill>
              </a:rPr>
              <a:t>one molecule can become attracted to a strongly electronegative atom (</a:t>
            </a:r>
            <a:r>
              <a:rPr lang="en-US" b="1" dirty="0" smtClean="0">
                <a:solidFill>
                  <a:schemeClr val="tx1">
                    <a:lumMod val="65000"/>
                    <a:lumOff val="35000"/>
                  </a:schemeClr>
                </a:solidFill>
              </a:rPr>
              <a:t>F, O, or N</a:t>
            </a:r>
            <a:r>
              <a:rPr lang="en-US" dirty="0" smtClean="0">
                <a:solidFill>
                  <a:schemeClr val="tx1">
                    <a:lumMod val="65000"/>
                    <a:lumOff val="35000"/>
                  </a:schemeClr>
                </a:solidFill>
              </a:rPr>
              <a:t>) in a different molecule</a:t>
            </a:r>
          </a:p>
          <a:p>
            <a:endParaRPr lang="en-US" dirty="0"/>
          </a:p>
          <a:p>
            <a:endParaRPr lang="en-US" dirty="0"/>
          </a:p>
        </p:txBody>
      </p:sp>
      <p:pic>
        <p:nvPicPr>
          <p:cNvPr id="5122" name="Picture 2" descr="Examples of Hydrogen Bonding - Chemistry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6257" y="1517515"/>
            <a:ext cx="3510064" cy="19943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ydrogen_bond.html 02_16HydrogenBond-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3417" y="3615785"/>
            <a:ext cx="3935743" cy="2997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3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2"/>
                                        </p:tgtEl>
                                        <p:attrNameLst>
                                          <p:attrName>style.visibility</p:attrName>
                                        </p:attrNameLst>
                                      </p:cBhvr>
                                      <p:to>
                                        <p:strVal val="visible"/>
                                      </p:to>
                                    </p:set>
                                    <p:anim calcmode="lin" valueType="num">
                                      <p:cBhvr additive="base">
                                        <p:cTn id="25" dur="500" fill="hold"/>
                                        <p:tgtEl>
                                          <p:spTgt spid="5122"/>
                                        </p:tgtEl>
                                        <p:attrNameLst>
                                          <p:attrName>ppt_x</p:attrName>
                                        </p:attrNameLst>
                                      </p:cBhvr>
                                      <p:tavLst>
                                        <p:tav tm="0">
                                          <p:val>
                                            <p:strVal val="#ppt_x"/>
                                          </p:val>
                                        </p:tav>
                                        <p:tav tm="100000">
                                          <p:val>
                                            <p:strVal val="#ppt_x"/>
                                          </p:val>
                                        </p:tav>
                                      </p:tavLst>
                                    </p:anim>
                                    <p:anim calcmode="lin" valueType="num">
                                      <p:cBhvr additive="base">
                                        <p:cTn id="26"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124"/>
                                        </p:tgtEl>
                                        <p:attrNameLst>
                                          <p:attrName>style.visibility</p:attrName>
                                        </p:attrNameLst>
                                      </p:cBhvr>
                                      <p:to>
                                        <p:strVal val="visible"/>
                                      </p:to>
                                    </p:set>
                                    <p:anim calcmode="lin" valueType="num">
                                      <p:cBhvr additive="base">
                                        <p:cTn id="31" dur="500" fill="hold"/>
                                        <p:tgtEl>
                                          <p:spTgt spid="5124"/>
                                        </p:tgtEl>
                                        <p:attrNameLst>
                                          <p:attrName>ppt_x</p:attrName>
                                        </p:attrNameLst>
                                      </p:cBhvr>
                                      <p:tavLst>
                                        <p:tav tm="0">
                                          <p:val>
                                            <p:strVal val="#ppt_x"/>
                                          </p:val>
                                        </p:tav>
                                        <p:tav tm="100000">
                                          <p:val>
                                            <p:strVal val="#ppt_x"/>
                                          </p:val>
                                        </p:tav>
                                      </p:tavLst>
                                    </p:anim>
                                    <p:anim calcmode="lin" valueType="num">
                                      <p:cBhvr additive="base">
                                        <p:cTn id="32"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Hydrogen bonding</a:t>
            </a:r>
            <a:endParaRPr lang="en-US" dirty="0"/>
          </a:p>
        </p:txBody>
      </p:sp>
      <p:sp>
        <p:nvSpPr>
          <p:cNvPr id="3" name="Content Placeholder 2"/>
          <p:cNvSpPr>
            <a:spLocks noGrp="1"/>
          </p:cNvSpPr>
          <p:nvPr>
            <p:ph idx="1"/>
          </p:nvPr>
        </p:nvSpPr>
        <p:spPr>
          <a:xfrm>
            <a:off x="303828" y="1604792"/>
            <a:ext cx="4871935" cy="5032376"/>
          </a:xfrm>
        </p:spPr>
        <p:txBody>
          <a:bodyPr>
            <a:normAutofit fontScale="85000" lnSpcReduction="20000"/>
          </a:bodyPr>
          <a:lstStyle/>
          <a:p>
            <a:r>
              <a:rPr lang="en-US" dirty="0" smtClean="0">
                <a:solidFill>
                  <a:schemeClr val="tx1">
                    <a:lumMod val="65000"/>
                    <a:lumOff val="35000"/>
                  </a:schemeClr>
                </a:solidFill>
              </a:rPr>
              <a:t>Hydrogen bonds are the most </a:t>
            </a:r>
            <a:r>
              <a:rPr lang="en-US" b="1" u="sng" dirty="0" smtClean="0">
                <a:solidFill>
                  <a:schemeClr val="tx1">
                    <a:lumMod val="65000"/>
                    <a:lumOff val="35000"/>
                  </a:schemeClr>
                </a:solidFill>
              </a:rPr>
              <a:t>biologically</a:t>
            </a:r>
            <a:r>
              <a:rPr lang="en-US" dirty="0" smtClean="0">
                <a:solidFill>
                  <a:schemeClr val="tx1">
                    <a:lumMod val="65000"/>
                    <a:lumOff val="35000"/>
                  </a:schemeClr>
                </a:solidFill>
              </a:rPr>
              <a:t> </a:t>
            </a:r>
            <a:r>
              <a:rPr lang="en-US" b="1" u="sng" dirty="0" smtClean="0">
                <a:solidFill>
                  <a:schemeClr val="tx1">
                    <a:lumMod val="65000"/>
                    <a:lumOff val="35000"/>
                  </a:schemeClr>
                </a:solidFill>
              </a:rPr>
              <a:t>significant</a:t>
            </a:r>
            <a:r>
              <a:rPr lang="en-US" dirty="0" smtClean="0">
                <a:solidFill>
                  <a:schemeClr val="tx1">
                    <a:lumMod val="65000"/>
                    <a:lumOff val="35000"/>
                  </a:schemeClr>
                </a:solidFill>
              </a:rPr>
              <a:t> form of van der Waals forces</a:t>
            </a:r>
          </a:p>
          <a:p>
            <a:endParaRPr lang="en-US" dirty="0" smtClean="0">
              <a:solidFill>
                <a:schemeClr val="tx1">
                  <a:lumMod val="65000"/>
                  <a:lumOff val="35000"/>
                </a:schemeClr>
              </a:solidFill>
            </a:endParaRPr>
          </a:p>
          <a:p>
            <a:r>
              <a:rPr lang="en-US" dirty="0" smtClean="0">
                <a:solidFill>
                  <a:schemeClr val="tx1">
                    <a:lumMod val="65000"/>
                    <a:lumOff val="35000"/>
                  </a:schemeClr>
                </a:solidFill>
              </a:rPr>
              <a:t>Individual </a:t>
            </a:r>
            <a:r>
              <a:rPr lang="en-US" dirty="0">
                <a:solidFill>
                  <a:schemeClr val="tx1">
                    <a:lumMod val="65000"/>
                    <a:lumOff val="35000"/>
                  </a:schemeClr>
                </a:solidFill>
              </a:rPr>
              <a:t>hydrogen bonds are </a:t>
            </a:r>
            <a:r>
              <a:rPr lang="en-US" b="1" u="sng" dirty="0">
                <a:solidFill>
                  <a:schemeClr val="tx1">
                    <a:lumMod val="65000"/>
                    <a:lumOff val="35000"/>
                  </a:schemeClr>
                </a:solidFill>
              </a:rPr>
              <a:t>weak</a:t>
            </a:r>
            <a:r>
              <a:rPr lang="en-US" dirty="0">
                <a:solidFill>
                  <a:schemeClr val="tx1">
                    <a:lumMod val="65000"/>
                    <a:lumOff val="35000"/>
                  </a:schemeClr>
                </a:solidFill>
              </a:rPr>
              <a:t> compared with ionic and </a:t>
            </a:r>
            <a:r>
              <a:rPr lang="en-US" dirty="0" smtClean="0">
                <a:solidFill>
                  <a:schemeClr val="tx1">
                    <a:lumMod val="65000"/>
                    <a:lumOff val="35000"/>
                  </a:schemeClr>
                </a:solidFill>
              </a:rPr>
              <a:t>covalent bonds</a:t>
            </a:r>
            <a:r>
              <a:rPr lang="en-US" dirty="0">
                <a:solidFill>
                  <a:schemeClr val="tx1">
                    <a:lumMod val="65000"/>
                    <a:lumOff val="35000"/>
                  </a:schemeClr>
                </a:solidFill>
              </a:rPr>
              <a:t>, but they can be very significant when they occur in large </a:t>
            </a:r>
            <a:r>
              <a:rPr lang="en-US" dirty="0" smtClean="0">
                <a:solidFill>
                  <a:schemeClr val="tx1">
                    <a:lumMod val="65000"/>
                    <a:lumOff val="35000"/>
                  </a:schemeClr>
                </a:solidFill>
              </a:rPr>
              <a:t>numbers</a:t>
            </a:r>
          </a:p>
          <a:p>
            <a:endParaRPr lang="en-US" dirty="0" smtClean="0">
              <a:solidFill>
                <a:schemeClr val="tx1">
                  <a:lumMod val="65000"/>
                  <a:lumOff val="35000"/>
                </a:schemeClr>
              </a:solidFill>
            </a:endParaRPr>
          </a:p>
          <a:p>
            <a:r>
              <a:rPr lang="en-US" dirty="0" smtClean="0">
                <a:solidFill>
                  <a:schemeClr val="tx1">
                    <a:lumMod val="65000"/>
                    <a:lumOff val="35000"/>
                  </a:schemeClr>
                </a:solidFill>
              </a:rPr>
              <a:t>A </a:t>
            </a:r>
            <a:r>
              <a:rPr lang="en-US" dirty="0">
                <a:solidFill>
                  <a:schemeClr val="tx1">
                    <a:lumMod val="65000"/>
                    <a:lumOff val="35000"/>
                  </a:schemeClr>
                </a:solidFill>
              </a:rPr>
              <a:t>large number of hydrogen </a:t>
            </a:r>
            <a:r>
              <a:rPr lang="en-US" dirty="0" smtClean="0">
                <a:solidFill>
                  <a:schemeClr val="tx1">
                    <a:lumMod val="65000"/>
                    <a:lumOff val="35000"/>
                  </a:schemeClr>
                </a:solidFill>
              </a:rPr>
              <a:t>bonds are </a:t>
            </a:r>
            <a:r>
              <a:rPr lang="en-US" dirty="0">
                <a:solidFill>
                  <a:schemeClr val="tx1">
                    <a:lumMod val="65000"/>
                    <a:lumOff val="35000"/>
                  </a:schemeClr>
                </a:solidFill>
              </a:rPr>
              <a:t>collectively strong, and they lend </a:t>
            </a:r>
            <a:r>
              <a:rPr lang="en-US" b="1" u="sng" dirty="0">
                <a:solidFill>
                  <a:schemeClr val="tx1">
                    <a:lumMod val="65000"/>
                    <a:lumOff val="35000"/>
                  </a:schemeClr>
                </a:solidFill>
              </a:rPr>
              <a:t>stability</a:t>
            </a:r>
            <a:r>
              <a:rPr lang="en-US" dirty="0">
                <a:solidFill>
                  <a:schemeClr val="tx1">
                    <a:lumMod val="65000"/>
                    <a:lumOff val="35000"/>
                  </a:schemeClr>
                </a:solidFill>
              </a:rPr>
              <a:t> to the three-dimensional structure </a:t>
            </a:r>
            <a:r>
              <a:rPr lang="en-US" dirty="0" smtClean="0">
                <a:solidFill>
                  <a:schemeClr val="tx1">
                    <a:lumMod val="65000"/>
                    <a:lumOff val="35000"/>
                  </a:schemeClr>
                </a:solidFill>
              </a:rPr>
              <a:t>of large </a:t>
            </a:r>
            <a:r>
              <a:rPr lang="en-US" dirty="0">
                <a:solidFill>
                  <a:schemeClr val="tx1">
                    <a:lumMod val="65000"/>
                    <a:lumOff val="35000"/>
                  </a:schemeClr>
                </a:solidFill>
              </a:rPr>
              <a:t>molecules, such as </a:t>
            </a:r>
            <a:r>
              <a:rPr lang="en-US" b="1" u="sng" dirty="0" smtClean="0">
                <a:solidFill>
                  <a:schemeClr val="tx1">
                    <a:lumMod val="65000"/>
                    <a:lumOff val="35000"/>
                  </a:schemeClr>
                </a:solidFill>
              </a:rPr>
              <a:t>proteins</a:t>
            </a:r>
            <a:r>
              <a:rPr lang="en-US" dirty="0" smtClean="0">
                <a:solidFill>
                  <a:schemeClr val="tx1">
                    <a:lumMod val="65000"/>
                    <a:lumOff val="35000"/>
                  </a:schemeClr>
                </a:solidFill>
              </a:rPr>
              <a:t> and </a:t>
            </a:r>
            <a:r>
              <a:rPr lang="en-US" b="1" u="sng" dirty="0" smtClean="0">
                <a:solidFill>
                  <a:schemeClr val="tx1">
                    <a:lumMod val="65000"/>
                    <a:lumOff val="35000"/>
                  </a:schemeClr>
                </a:solidFill>
              </a:rPr>
              <a:t>DNA</a:t>
            </a:r>
            <a:endParaRPr lang="en-US" b="1" u="sng" dirty="0">
              <a:solidFill>
                <a:schemeClr val="tx1">
                  <a:lumMod val="65000"/>
                  <a:lumOff val="35000"/>
                </a:schemeClr>
              </a:solidFill>
            </a:endParaRPr>
          </a:p>
          <a:p>
            <a:endParaRPr lang="en-US" dirty="0"/>
          </a:p>
        </p:txBody>
      </p:sp>
      <p:pic>
        <p:nvPicPr>
          <p:cNvPr id="4" name="Picture 2" descr="https://lh4.googleusercontent.com/nsk0_mbMTIS8Jw2my15jI90SsqWqwhwATHwJHHKOsSBIqShTsTEPML0NU-xiKHWTNWkrzUxM_tCpt7QzEaS2E1yZeVp8Fp7OSscKGLnz23WNDmBn5iN5hUK1i58CeIBu6FuUSqLzLjjbU9lvTnCeAyj7=s204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175763" y="1528788"/>
            <a:ext cx="2762250" cy="45434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7697253" y="1353847"/>
            <a:ext cx="4314949" cy="5181550"/>
          </a:xfrm>
          <a:prstGeom prst="rect">
            <a:avLst/>
          </a:prstGeom>
        </p:spPr>
      </p:pic>
    </p:spTree>
    <p:extLst>
      <p:ext uri="{BB962C8B-B14F-4D97-AF65-F5344CB8AC3E}">
        <p14:creationId xmlns:p14="http://schemas.microsoft.com/office/powerpoint/2010/main" val="100668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recall … dipole</a:t>
            </a:r>
            <a:endParaRPr lang="en-US" dirty="0"/>
          </a:p>
        </p:txBody>
      </p:sp>
      <p:sp>
        <p:nvSpPr>
          <p:cNvPr id="3" name="Content Placeholder 2"/>
          <p:cNvSpPr>
            <a:spLocks noGrp="1"/>
          </p:cNvSpPr>
          <p:nvPr>
            <p:ph idx="1"/>
          </p:nvPr>
        </p:nvSpPr>
        <p:spPr>
          <a:xfrm>
            <a:off x="381000" y="1825625"/>
            <a:ext cx="5368047" cy="4351338"/>
          </a:xfrm>
        </p:spPr>
        <p:txBody>
          <a:bodyPr>
            <a:normAutofit fontScale="92500" lnSpcReduction="20000"/>
          </a:bodyPr>
          <a:lstStyle/>
          <a:p>
            <a:r>
              <a:rPr lang="en-US" dirty="0" smtClean="0"/>
              <a:t>A </a:t>
            </a:r>
            <a:r>
              <a:rPr lang="en-US" b="1" u="sng" dirty="0" smtClean="0"/>
              <a:t>dipole</a:t>
            </a:r>
            <a:r>
              <a:rPr lang="en-US" dirty="0" smtClean="0"/>
              <a:t> is a separation of electric charges within a bond or molecule</a:t>
            </a:r>
          </a:p>
          <a:p>
            <a:endParaRPr lang="en-US" dirty="0" smtClean="0"/>
          </a:p>
          <a:p>
            <a:r>
              <a:rPr lang="en-US" dirty="0" smtClean="0"/>
              <a:t>Results in </a:t>
            </a:r>
            <a:r>
              <a:rPr lang="en-US" dirty="0"/>
              <a:t>a region with </a:t>
            </a:r>
            <a:r>
              <a:rPr lang="en-US" dirty="0" smtClean="0"/>
              <a:t>a </a:t>
            </a:r>
            <a:r>
              <a:rPr lang="en-US" dirty="0"/>
              <a:t>with </a:t>
            </a:r>
            <a:r>
              <a:rPr lang="en-US" b="1" dirty="0" smtClean="0"/>
              <a:t>δ⁺ </a:t>
            </a:r>
            <a:r>
              <a:rPr lang="en-US" dirty="0"/>
              <a:t>and a region with </a:t>
            </a:r>
            <a:r>
              <a:rPr lang="en-US" dirty="0" smtClean="0"/>
              <a:t>a </a:t>
            </a:r>
            <a:r>
              <a:rPr lang="en-US" b="1" dirty="0" smtClean="0"/>
              <a:t>δ⁻</a:t>
            </a:r>
          </a:p>
          <a:p>
            <a:endParaRPr lang="en-US" b="1" dirty="0"/>
          </a:p>
          <a:p>
            <a:r>
              <a:rPr lang="en-US" dirty="0"/>
              <a:t>It occurs when two atoms in a bond have </a:t>
            </a:r>
            <a:r>
              <a:rPr lang="en-US" b="1" u="sng" dirty="0"/>
              <a:t>different</a:t>
            </a:r>
            <a:r>
              <a:rPr lang="en-US" b="1" dirty="0"/>
              <a:t> </a:t>
            </a:r>
            <a:r>
              <a:rPr lang="en-US" b="1" u="sng" dirty="0" err="1" smtClean="0"/>
              <a:t>electronegativities</a:t>
            </a:r>
            <a:r>
              <a:rPr lang="en-US" dirty="0" smtClean="0"/>
              <a:t>, </a:t>
            </a:r>
            <a:r>
              <a:rPr lang="en-US" dirty="0"/>
              <a:t>meaning one attracts electrons more strongly than the </a:t>
            </a:r>
            <a:r>
              <a:rPr lang="en-US" dirty="0" smtClean="0"/>
              <a:t>other</a:t>
            </a:r>
            <a:endParaRPr lang="en-US" b="1" dirty="0"/>
          </a:p>
        </p:txBody>
      </p:sp>
      <p:pic>
        <p:nvPicPr>
          <p:cNvPr id="4" name="Picture 3"/>
          <p:cNvPicPr>
            <a:picLocks noChangeAspect="1"/>
          </p:cNvPicPr>
          <p:nvPr/>
        </p:nvPicPr>
        <p:blipFill>
          <a:blip r:embed="rId3"/>
          <a:stretch>
            <a:fillRect/>
          </a:stretch>
        </p:blipFill>
        <p:spPr>
          <a:xfrm>
            <a:off x="7329221" y="2378704"/>
            <a:ext cx="3137741" cy="2353305"/>
          </a:xfrm>
          <a:prstGeom prst="rect">
            <a:avLst/>
          </a:prstGeom>
        </p:spPr>
      </p:pic>
    </p:spTree>
    <p:extLst>
      <p:ext uri="{BB962C8B-B14F-4D97-AF65-F5344CB8AC3E}">
        <p14:creationId xmlns:p14="http://schemas.microsoft.com/office/powerpoint/2010/main" val="7527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Other van der </a:t>
            </a:r>
            <a:r>
              <a:rPr lang="en-US" dirty="0" err="1" smtClean="0"/>
              <a:t>waals</a:t>
            </a:r>
            <a:r>
              <a:rPr lang="en-US" dirty="0" smtClean="0"/>
              <a:t> forces</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2"/>
            </a:pPr>
            <a:r>
              <a:rPr lang="en-US" b="1" u="sng" dirty="0" smtClean="0"/>
              <a:t>Dipole-dipole</a:t>
            </a:r>
            <a:r>
              <a:rPr lang="en-US" b="1" dirty="0" smtClean="0"/>
              <a:t> </a:t>
            </a:r>
            <a:r>
              <a:rPr lang="en-US" b="1" u="sng" dirty="0" smtClean="0"/>
              <a:t>interactions</a:t>
            </a:r>
            <a:r>
              <a:rPr lang="en-US" dirty="0" smtClean="0"/>
              <a:t>: </a:t>
            </a:r>
            <a:r>
              <a:rPr lang="en-US" dirty="0"/>
              <a:t>attractive forces between the </a:t>
            </a:r>
            <a:r>
              <a:rPr lang="en-US" b="1" u="sng" dirty="0"/>
              <a:t>positive</a:t>
            </a:r>
            <a:r>
              <a:rPr lang="en-US" dirty="0"/>
              <a:t> </a:t>
            </a:r>
            <a:r>
              <a:rPr lang="en-US" dirty="0" smtClean="0"/>
              <a:t>end </a:t>
            </a:r>
            <a:r>
              <a:rPr lang="en-US" dirty="0"/>
              <a:t>of one </a:t>
            </a:r>
            <a:r>
              <a:rPr lang="en-US" b="1" u="sng" dirty="0"/>
              <a:t>polar</a:t>
            </a:r>
            <a:r>
              <a:rPr lang="en-US" dirty="0"/>
              <a:t> molecule and the </a:t>
            </a:r>
            <a:r>
              <a:rPr lang="en-US" b="1" u="sng" dirty="0"/>
              <a:t>negative</a:t>
            </a:r>
            <a:r>
              <a:rPr lang="en-US" dirty="0"/>
              <a:t> end of another </a:t>
            </a:r>
            <a:r>
              <a:rPr lang="en-US" b="1" u="sng" dirty="0"/>
              <a:t>polar</a:t>
            </a:r>
            <a:r>
              <a:rPr lang="en-US" dirty="0"/>
              <a:t> molecule</a:t>
            </a:r>
            <a:endParaRPr lang="en-US" b="1" u="sng"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a:p>
        </p:txBody>
      </p:sp>
      <p:pic>
        <p:nvPicPr>
          <p:cNvPr id="4" name="Picture 4"/>
          <p:cNvPicPr>
            <a:picLocks noChangeAspect="1"/>
          </p:cNvPicPr>
          <p:nvPr/>
        </p:nvPicPr>
        <p:blipFill>
          <a:blip r:embed="rId3">
            <a:extLst>
              <a:ext uri="{28A0092B-C50C-407E-A947-70E740481C1C}">
                <a14:useLocalDpi xmlns:a14="http://schemas.microsoft.com/office/drawing/2010/main" val="0"/>
              </a:ext>
            </a:extLst>
          </a:blip>
          <a:srcRect t="9868" b="17105"/>
          <a:stretch>
            <a:fillRect/>
          </a:stretch>
        </p:blipFill>
        <p:spPr bwMode="auto">
          <a:xfrm>
            <a:off x="955028" y="3487189"/>
            <a:ext cx="4118744" cy="2005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598318" y="3862794"/>
            <a:ext cx="327334" cy="276999"/>
          </a:xfrm>
          <a:prstGeom prst="rect">
            <a:avLst/>
          </a:prstGeom>
        </p:spPr>
        <p:txBody>
          <a:bodyPr wrap="none">
            <a:spAutoFit/>
          </a:bodyPr>
          <a:lstStyle/>
          <a:p>
            <a:r>
              <a:rPr lang="en-US" altLang="en-US" sz="1200" b="1" dirty="0">
                <a:solidFill>
                  <a:schemeClr val="tx1">
                    <a:lumMod val="65000"/>
                    <a:lumOff val="35000"/>
                  </a:schemeClr>
                </a:solidFill>
              </a:rPr>
              <a:t>𝛿</a:t>
            </a:r>
            <a:r>
              <a:rPr lang="en-US" altLang="en-US" sz="1200" b="1" baseline="30000" dirty="0">
                <a:solidFill>
                  <a:schemeClr val="tx1">
                    <a:lumMod val="65000"/>
                    <a:lumOff val="35000"/>
                  </a:schemeClr>
                </a:solidFill>
              </a:rPr>
              <a:t>−</a:t>
            </a:r>
            <a:endParaRPr lang="en-US" dirty="0"/>
          </a:p>
        </p:txBody>
      </p:sp>
      <p:sp>
        <p:nvSpPr>
          <p:cNvPr id="6" name="Rectangle 5"/>
          <p:cNvSpPr/>
          <p:nvPr/>
        </p:nvSpPr>
        <p:spPr>
          <a:xfrm>
            <a:off x="3376333" y="3862794"/>
            <a:ext cx="327334" cy="276999"/>
          </a:xfrm>
          <a:prstGeom prst="rect">
            <a:avLst/>
          </a:prstGeom>
        </p:spPr>
        <p:txBody>
          <a:bodyPr wrap="none">
            <a:spAutoFit/>
          </a:bodyPr>
          <a:lstStyle/>
          <a:p>
            <a:r>
              <a:rPr lang="en-US" altLang="en-US" sz="1200" b="1" dirty="0" smtClean="0">
                <a:solidFill>
                  <a:schemeClr val="tx1">
                    <a:lumMod val="65000"/>
                    <a:lumOff val="35000"/>
                  </a:schemeClr>
                </a:solidFill>
              </a:rPr>
              <a:t>𝛿</a:t>
            </a:r>
            <a:r>
              <a:rPr lang="en-US" altLang="en-US" sz="1200" b="1" baseline="30000" dirty="0">
                <a:solidFill>
                  <a:schemeClr val="tx1">
                    <a:lumMod val="65000"/>
                    <a:lumOff val="35000"/>
                  </a:schemeClr>
                </a:solidFill>
              </a:rPr>
              <a:t>+</a:t>
            </a:r>
            <a:endParaRPr lang="en-US" dirty="0"/>
          </a:p>
        </p:txBody>
      </p:sp>
      <p:pic>
        <p:nvPicPr>
          <p:cNvPr id="2050" name="Picture 2" descr="File:Hemoglobin 1hho.gif - Wikimedia Commons"/>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892975" y="3346777"/>
            <a:ext cx="2286000" cy="22860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818642" y="3461042"/>
            <a:ext cx="2074333" cy="2031325"/>
          </a:xfrm>
          <a:prstGeom prst="rect">
            <a:avLst/>
          </a:prstGeom>
          <a:noFill/>
        </p:spPr>
        <p:txBody>
          <a:bodyPr wrap="square" rtlCol="0">
            <a:spAutoFit/>
          </a:bodyPr>
          <a:lstStyle/>
          <a:p>
            <a:r>
              <a:rPr lang="en-US" dirty="0" smtClean="0">
                <a:solidFill>
                  <a:schemeClr val="tx1">
                    <a:lumMod val="75000"/>
                    <a:lumOff val="25000"/>
                  </a:schemeClr>
                </a:solidFill>
              </a:rPr>
              <a:t>Dipole-dipole interactions play a significant role in determining the shape of a protein like hemoglobin!</a:t>
            </a:r>
            <a:endParaRPr lang="en-US" dirty="0">
              <a:solidFill>
                <a:schemeClr val="tx1">
                  <a:lumMod val="75000"/>
                  <a:lumOff val="25000"/>
                </a:schemeClr>
              </a:solidFill>
            </a:endParaRPr>
          </a:p>
        </p:txBody>
      </p:sp>
    </p:spTree>
    <p:extLst>
      <p:ext uri="{BB962C8B-B14F-4D97-AF65-F5344CB8AC3E}">
        <p14:creationId xmlns:p14="http://schemas.microsoft.com/office/powerpoint/2010/main" val="41285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Other van der waals forces:</a:t>
            </a:r>
          </a:p>
        </p:txBody>
      </p:sp>
      <p:sp>
        <p:nvSpPr>
          <p:cNvPr id="3" name="Content Placeholder 2"/>
          <p:cNvSpPr>
            <a:spLocks noGrp="1"/>
          </p:cNvSpPr>
          <p:nvPr>
            <p:ph idx="1"/>
          </p:nvPr>
        </p:nvSpPr>
        <p:spPr/>
        <p:txBody>
          <a:bodyPr/>
          <a:lstStyle/>
          <a:p>
            <a:pPr marL="514350" indent="-514350">
              <a:buFont typeface="+mj-lt"/>
              <a:buAutoNum type="arabicPeriod" startAt="3"/>
            </a:pPr>
            <a:r>
              <a:rPr lang="en-US" b="1" u="sng" dirty="0" smtClean="0"/>
              <a:t>London</a:t>
            </a:r>
            <a:r>
              <a:rPr lang="en-US" b="1" dirty="0" smtClean="0"/>
              <a:t> </a:t>
            </a:r>
            <a:r>
              <a:rPr lang="en-US" b="1" u="sng" dirty="0"/>
              <a:t>dispersion</a:t>
            </a:r>
            <a:r>
              <a:rPr lang="en-US" b="1" dirty="0"/>
              <a:t> </a:t>
            </a:r>
            <a:r>
              <a:rPr lang="en-US" b="1" u="sng" dirty="0" smtClean="0"/>
              <a:t>forces</a:t>
            </a:r>
            <a:r>
              <a:rPr lang="en-US" dirty="0" smtClean="0"/>
              <a:t>: </a:t>
            </a:r>
            <a:r>
              <a:rPr lang="en-US" b="1" u="sng" dirty="0" smtClean="0"/>
              <a:t>temporary</a:t>
            </a:r>
            <a:r>
              <a:rPr lang="en-US" dirty="0" smtClean="0"/>
              <a:t> </a:t>
            </a:r>
            <a:r>
              <a:rPr lang="en-US" dirty="0"/>
              <a:t>attractive force </a:t>
            </a:r>
            <a:r>
              <a:rPr lang="en-US" dirty="0" smtClean="0"/>
              <a:t>that results from the </a:t>
            </a:r>
            <a:r>
              <a:rPr lang="en-US" b="1" u="sng" dirty="0" smtClean="0"/>
              <a:t>momentary</a:t>
            </a:r>
            <a:r>
              <a:rPr lang="en-US" dirty="0" smtClean="0"/>
              <a:t> </a:t>
            </a:r>
            <a:r>
              <a:rPr lang="en-US" b="1" u="sng" dirty="0" smtClean="0"/>
              <a:t>attractions</a:t>
            </a:r>
            <a:r>
              <a:rPr lang="en-US" dirty="0" smtClean="0"/>
              <a:t> of the electrons of one molecule to the nuclei of an adjacent molecule  </a:t>
            </a:r>
            <a:endParaRPr lang="en-US" dirty="0"/>
          </a:p>
        </p:txBody>
      </p:sp>
      <p:pic>
        <p:nvPicPr>
          <p:cNvPr id="1026" name="Picture 2" descr="https://chem-textbook.ucalgary.ca/wp-content/uploads/2023/03/CNX_Chem_10_01_DispForc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74" y="3427801"/>
            <a:ext cx="3624425" cy="26987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99786" y="3571718"/>
            <a:ext cx="1905813" cy="276999"/>
          </a:xfrm>
          <a:prstGeom prst="rect">
            <a:avLst/>
          </a:prstGeom>
          <a:solidFill>
            <a:schemeClr val="bg1"/>
          </a:solidFill>
        </p:spPr>
        <p:txBody>
          <a:bodyPr wrap="square" rtlCol="0">
            <a:spAutoFit/>
          </a:bodyPr>
          <a:lstStyle/>
          <a:p>
            <a:r>
              <a:rPr lang="en-US" sz="1200" dirty="0" smtClean="0"/>
              <a:t>London dispersion force</a:t>
            </a:r>
            <a:endParaRPr lang="en-US" sz="1200" dirty="0"/>
          </a:p>
        </p:txBody>
      </p:sp>
      <p:sp>
        <p:nvSpPr>
          <p:cNvPr id="6" name="TextBox 5"/>
          <p:cNvSpPr txBox="1"/>
          <p:nvPr/>
        </p:nvSpPr>
        <p:spPr>
          <a:xfrm>
            <a:off x="5529600" y="5505838"/>
            <a:ext cx="1015200" cy="369332"/>
          </a:xfrm>
          <a:prstGeom prst="rect">
            <a:avLst/>
          </a:prstGeom>
          <a:noFill/>
        </p:spPr>
        <p:txBody>
          <a:bodyPr wrap="square" rtlCol="0">
            <a:spAutoFit/>
          </a:bodyPr>
          <a:lstStyle/>
          <a:p>
            <a:endParaRPr lang="en-US" dirty="0"/>
          </a:p>
        </p:txBody>
      </p:sp>
      <p:pic>
        <p:nvPicPr>
          <p:cNvPr id="7" name="Picture 6"/>
          <p:cNvPicPr>
            <a:picLocks noChangeAspect="1"/>
          </p:cNvPicPr>
          <p:nvPr/>
        </p:nvPicPr>
        <p:blipFill>
          <a:blip r:embed="rId4"/>
          <a:stretch>
            <a:fillRect/>
          </a:stretch>
        </p:blipFill>
        <p:spPr>
          <a:xfrm>
            <a:off x="8171886" y="3427801"/>
            <a:ext cx="3639114" cy="3210983"/>
          </a:xfrm>
          <a:prstGeom prst="rect">
            <a:avLst/>
          </a:prstGeom>
        </p:spPr>
      </p:pic>
      <p:sp>
        <p:nvSpPr>
          <p:cNvPr id="8" name="Rectangle 7"/>
          <p:cNvSpPr/>
          <p:nvPr/>
        </p:nvSpPr>
        <p:spPr>
          <a:xfrm>
            <a:off x="4073676" y="5438455"/>
            <a:ext cx="4030133" cy="1200329"/>
          </a:xfrm>
          <a:prstGeom prst="rect">
            <a:avLst/>
          </a:prstGeom>
        </p:spPr>
        <p:txBody>
          <a:bodyPr wrap="square">
            <a:spAutoFit/>
          </a:bodyPr>
          <a:lstStyle/>
          <a:p>
            <a:r>
              <a:rPr lang="en-US" sz="1200" dirty="0">
                <a:solidFill>
                  <a:schemeClr val="tx1">
                    <a:lumMod val="75000"/>
                    <a:lumOff val="25000"/>
                  </a:schemeClr>
                </a:solidFill>
                <a:latin typeface="+mj-lt"/>
              </a:rPr>
              <a:t>London dispersion forces are the primary intermolecular forces responsible for holding fat molecules together, particularly in saturated fats, where their linear structure allows for close packing and stronger interactions between molecules, resulting in a solid state at room </a:t>
            </a:r>
            <a:r>
              <a:rPr lang="en-US" sz="1200" dirty="0" smtClean="0">
                <a:solidFill>
                  <a:schemeClr val="tx1">
                    <a:lumMod val="75000"/>
                    <a:lumOff val="25000"/>
                  </a:schemeClr>
                </a:solidFill>
                <a:latin typeface="+mj-lt"/>
              </a:rPr>
              <a:t>temperature.</a:t>
            </a:r>
            <a:endParaRPr lang="en-US" sz="1200" dirty="0">
              <a:solidFill>
                <a:schemeClr val="tx1">
                  <a:lumMod val="75000"/>
                  <a:lumOff val="25000"/>
                </a:schemeClr>
              </a:solidFill>
              <a:latin typeface="+mj-lt"/>
            </a:endParaRPr>
          </a:p>
        </p:txBody>
      </p:sp>
      <p:pic>
        <p:nvPicPr>
          <p:cNvPr id="10" name="Picture 9"/>
          <p:cNvPicPr>
            <a:picLocks noChangeAspect="1"/>
          </p:cNvPicPr>
          <p:nvPr/>
        </p:nvPicPr>
        <p:blipFill>
          <a:blip r:embed="rId5"/>
          <a:stretch>
            <a:fillRect/>
          </a:stretch>
        </p:blipFill>
        <p:spPr>
          <a:xfrm>
            <a:off x="4161894" y="3427801"/>
            <a:ext cx="3941915" cy="1882341"/>
          </a:xfrm>
          <a:prstGeom prst="rect">
            <a:avLst/>
          </a:prstGeom>
        </p:spPr>
      </p:pic>
    </p:spTree>
    <p:extLst>
      <p:ext uri="{BB962C8B-B14F-4D97-AF65-F5344CB8AC3E}">
        <p14:creationId xmlns:p14="http://schemas.microsoft.com/office/powerpoint/2010/main" val="54784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6"/>
          <p:cNvSpPr>
            <a:spLocks noGrp="1"/>
          </p:cNvSpPr>
          <p:nvPr>
            <p:ph type="title"/>
          </p:nvPr>
        </p:nvSpPr>
        <p:spPr>
          <a:xfrm>
            <a:off x="1828800" y="-30059"/>
            <a:ext cx="8534400" cy="590931"/>
          </a:xfrm>
        </p:spPr>
        <p:txBody>
          <a:bodyPr/>
          <a:lstStyle/>
          <a:p>
            <a:pPr eaLnBrk="1" hangingPunct="1"/>
            <a:r>
              <a:rPr lang="en-US" sz="3600" dirty="0"/>
              <a:t>Strength of Forces and </a:t>
            </a:r>
            <a:r>
              <a:rPr lang="en-US" sz="3600" dirty="0" smtClean="0"/>
              <a:t>Bonds</a:t>
            </a:r>
            <a:r>
              <a:rPr lang="en-US" sz="3600" dirty="0"/>
              <a:t>	</a:t>
            </a:r>
          </a:p>
        </p:txBody>
      </p:sp>
      <p:sp>
        <p:nvSpPr>
          <p:cNvPr id="2" name="Content Placeholder 1"/>
          <p:cNvSpPr>
            <a:spLocks noGrp="1"/>
          </p:cNvSpPr>
          <p:nvPr>
            <p:ph idx="1"/>
          </p:nvPr>
        </p:nvSpPr>
        <p:spPr>
          <a:xfrm>
            <a:off x="1645127" y="1703284"/>
            <a:ext cx="2682875" cy="4789003"/>
          </a:xfrm>
        </p:spPr>
        <p:txBody>
          <a:bodyPr/>
          <a:lstStyle/>
          <a:p>
            <a:pPr marL="0" indent="0">
              <a:buNone/>
              <a:defRPr/>
            </a:pPr>
            <a:r>
              <a:rPr lang="en-US" b="1" dirty="0">
                <a:solidFill>
                  <a:schemeClr val="tx1">
                    <a:lumMod val="65000"/>
                    <a:lumOff val="35000"/>
                  </a:schemeClr>
                </a:solidFill>
              </a:rPr>
              <a:t>STRONGEST</a:t>
            </a:r>
            <a:r>
              <a:rPr lang="en-US" dirty="0">
                <a:solidFill>
                  <a:schemeClr val="tx1">
                    <a:lumMod val="65000"/>
                    <a:lumOff val="35000"/>
                  </a:schemeClr>
                </a:solidFill>
              </a:rPr>
              <a:t> </a:t>
            </a:r>
            <a:endParaRPr lang="en-CA" dirty="0">
              <a:solidFill>
                <a:schemeClr val="tx1">
                  <a:lumMod val="65000"/>
                  <a:lumOff val="35000"/>
                </a:schemeClr>
              </a:solidFill>
            </a:endParaRPr>
          </a:p>
          <a:p>
            <a:pPr marL="0" indent="0">
              <a:buNone/>
              <a:defRPr/>
            </a:pPr>
            <a:r>
              <a:rPr lang="en-US" b="1" dirty="0">
                <a:solidFill>
                  <a:schemeClr val="tx1">
                    <a:lumMod val="65000"/>
                    <a:lumOff val="35000"/>
                  </a:schemeClr>
                </a:solidFill>
              </a:rPr>
              <a:t>	</a:t>
            </a:r>
            <a:r>
              <a:rPr lang="en-US" b="1" dirty="0">
                <a:solidFill>
                  <a:schemeClr val="tx1">
                    <a:lumMod val="65000"/>
                    <a:lumOff val="35000"/>
                  </a:schemeClr>
                </a:solidFill>
                <a:sym typeface="Symbol"/>
              </a:rPr>
              <a:t></a:t>
            </a:r>
            <a:endParaRPr lang="en-CA" dirty="0">
              <a:solidFill>
                <a:schemeClr val="tx1">
                  <a:lumMod val="65000"/>
                  <a:lumOff val="35000"/>
                </a:schemeClr>
              </a:solidFill>
            </a:endParaRPr>
          </a:p>
          <a:p>
            <a:pPr marL="0" indent="0">
              <a:buNone/>
              <a:defRPr/>
            </a:pPr>
            <a:endParaRPr lang="en-US" dirty="0">
              <a:solidFill>
                <a:schemeClr val="tx1">
                  <a:lumMod val="65000"/>
                  <a:lumOff val="35000"/>
                </a:schemeClr>
              </a:solidFill>
            </a:endParaRPr>
          </a:p>
          <a:p>
            <a:pPr marL="0" indent="0">
              <a:buNone/>
              <a:defRPr/>
            </a:pPr>
            <a:r>
              <a:rPr lang="en-US" b="1" dirty="0">
                <a:solidFill>
                  <a:schemeClr val="tx1">
                    <a:lumMod val="65000"/>
                    <a:lumOff val="35000"/>
                  </a:schemeClr>
                </a:solidFill>
              </a:rPr>
              <a:t>	</a:t>
            </a:r>
            <a:r>
              <a:rPr lang="en-US" b="1" dirty="0">
                <a:solidFill>
                  <a:schemeClr val="tx1">
                    <a:lumMod val="65000"/>
                    <a:lumOff val="35000"/>
                  </a:schemeClr>
                </a:solidFill>
                <a:sym typeface="Symbol"/>
              </a:rPr>
              <a:t></a:t>
            </a:r>
            <a:endParaRPr lang="en-CA" dirty="0">
              <a:solidFill>
                <a:schemeClr val="tx1">
                  <a:lumMod val="65000"/>
                  <a:lumOff val="35000"/>
                </a:schemeClr>
              </a:solidFill>
            </a:endParaRPr>
          </a:p>
          <a:p>
            <a:pPr marL="0" indent="0">
              <a:buNone/>
              <a:defRPr/>
            </a:pPr>
            <a:endParaRPr lang="en-US" dirty="0">
              <a:solidFill>
                <a:schemeClr val="tx1">
                  <a:lumMod val="65000"/>
                  <a:lumOff val="35000"/>
                </a:schemeClr>
              </a:solidFill>
            </a:endParaRPr>
          </a:p>
          <a:p>
            <a:pPr marL="0" indent="0">
              <a:buNone/>
              <a:defRPr/>
            </a:pPr>
            <a:r>
              <a:rPr lang="en-US" b="1" dirty="0">
                <a:solidFill>
                  <a:schemeClr val="tx1">
                    <a:lumMod val="65000"/>
                    <a:lumOff val="35000"/>
                  </a:schemeClr>
                </a:solidFill>
              </a:rPr>
              <a:t>	</a:t>
            </a:r>
            <a:r>
              <a:rPr lang="en-US" b="1" dirty="0">
                <a:solidFill>
                  <a:schemeClr val="tx1">
                    <a:lumMod val="65000"/>
                    <a:lumOff val="35000"/>
                  </a:schemeClr>
                </a:solidFill>
                <a:sym typeface="Symbol"/>
              </a:rPr>
              <a:t></a:t>
            </a:r>
            <a:endParaRPr lang="en-CA" dirty="0">
              <a:solidFill>
                <a:schemeClr val="tx1">
                  <a:lumMod val="65000"/>
                  <a:lumOff val="35000"/>
                </a:schemeClr>
              </a:solidFill>
            </a:endParaRPr>
          </a:p>
          <a:p>
            <a:pPr marL="0" indent="0">
              <a:buNone/>
              <a:defRPr/>
            </a:pPr>
            <a:r>
              <a:rPr lang="en-US" dirty="0">
                <a:solidFill>
                  <a:schemeClr val="tx1">
                    <a:lumMod val="65000"/>
                    <a:lumOff val="35000"/>
                  </a:schemeClr>
                </a:solidFill>
              </a:rPr>
              <a:t>  </a:t>
            </a:r>
            <a:r>
              <a:rPr lang="en-US" b="1" dirty="0">
                <a:solidFill>
                  <a:schemeClr val="tx1">
                    <a:lumMod val="65000"/>
                    <a:lumOff val="35000"/>
                  </a:schemeClr>
                </a:solidFill>
              </a:rPr>
              <a:t>WEAKEST</a:t>
            </a:r>
            <a:endParaRPr lang="en-CA" dirty="0">
              <a:solidFill>
                <a:schemeClr val="tx1">
                  <a:lumMod val="65000"/>
                  <a:lumOff val="35000"/>
                </a:schemeClr>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170222356"/>
              </p:ext>
            </p:extLst>
          </p:nvPr>
        </p:nvGraphicFramePr>
        <p:xfrm>
          <a:off x="4295801" y="621234"/>
          <a:ext cx="6251074" cy="6270626"/>
        </p:xfrm>
        <a:graphic>
          <a:graphicData uri="http://schemas.openxmlformats.org/drawingml/2006/table">
            <a:tbl>
              <a:tblPr firstRow="1" firstCol="1" bandRow="1">
                <a:tableStyleId>{5C22544A-7EE6-4342-B048-85BDC9FD1C3A}</a:tableStyleId>
              </a:tblPr>
              <a:tblGrid>
                <a:gridCol w="3178766">
                  <a:extLst>
                    <a:ext uri="{9D8B030D-6E8A-4147-A177-3AD203B41FA5}">
                      <a16:colId xmlns:a16="http://schemas.microsoft.com/office/drawing/2014/main" val="20000"/>
                    </a:ext>
                  </a:extLst>
                </a:gridCol>
                <a:gridCol w="3072308">
                  <a:extLst>
                    <a:ext uri="{9D8B030D-6E8A-4147-A177-3AD203B41FA5}">
                      <a16:colId xmlns:a16="http://schemas.microsoft.com/office/drawing/2014/main" val="20001"/>
                    </a:ext>
                  </a:extLst>
                </a:gridCol>
              </a:tblGrid>
              <a:tr h="1007836">
                <a:tc>
                  <a:txBody>
                    <a:bodyPr/>
                    <a:lstStyle/>
                    <a:p>
                      <a:pPr algn="l">
                        <a:spcAft>
                          <a:spcPts val="0"/>
                        </a:spcAft>
                      </a:pPr>
                      <a:r>
                        <a:rPr lang="en-US" sz="2800" dirty="0">
                          <a:effectLst/>
                        </a:rPr>
                        <a:t>Type of </a:t>
                      </a:r>
                    </a:p>
                    <a:p>
                      <a:pPr algn="l">
                        <a:spcAft>
                          <a:spcPts val="0"/>
                        </a:spcAft>
                      </a:pPr>
                      <a:r>
                        <a:rPr lang="en-US" sz="2800" dirty="0">
                          <a:effectLst/>
                        </a:rPr>
                        <a:t>Bond or Force</a:t>
                      </a:r>
                      <a:r>
                        <a:rPr lang="en-US" sz="2000" dirty="0">
                          <a:effectLst/>
                        </a:rPr>
                        <a:t> </a:t>
                      </a:r>
                      <a:endParaRPr lang="en-CA" sz="2000" dirty="0">
                        <a:effectLst/>
                        <a:latin typeface="Garamond"/>
                        <a:ea typeface="SimSun"/>
                        <a:cs typeface="Times New Roman"/>
                      </a:endParaRPr>
                    </a:p>
                  </a:txBody>
                  <a:tcPr marL="68580" marR="68580" marT="0" marB="0">
                    <a:solidFill>
                      <a:schemeClr val="tx2">
                        <a:lumMod val="75000"/>
                      </a:schemeClr>
                    </a:solidFill>
                  </a:tcPr>
                </a:tc>
                <a:tc>
                  <a:txBody>
                    <a:bodyPr/>
                    <a:lstStyle/>
                    <a:p>
                      <a:pPr algn="ctr">
                        <a:spcAft>
                          <a:spcPts val="0"/>
                        </a:spcAft>
                      </a:pPr>
                      <a:r>
                        <a:rPr lang="en-US" sz="2400" dirty="0">
                          <a:effectLst/>
                        </a:rPr>
                        <a:t>Relative  strength</a:t>
                      </a:r>
                    </a:p>
                    <a:p>
                      <a:pPr algn="ctr">
                        <a:spcAft>
                          <a:spcPts val="0"/>
                        </a:spcAft>
                      </a:pPr>
                      <a:r>
                        <a:rPr lang="en-US" sz="1800" dirty="0">
                          <a:effectLst/>
                          <a:latin typeface="Garamond"/>
                          <a:ea typeface="SimSun"/>
                          <a:cs typeface="Times New Roman"/>
                        </a:rPr>
                        <a:t>(dissociation energy) kJ/mol</a:t>
                      </a:r>
                      <a:endParaRPr lang="en-CA" sz="1200" dirty="0">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0"/>
                  </a:ext>
                </a:extLst>
              </a:tr>
              <a:tr h="1007836">
                <a:tc>
                  <a:txBody>
                    <a:bodyPr/>
                    <a:lstStyle/>
                    <a:p>
                      <a:pPr algn="l">
                        <a:spcAft>
                          <a:spcPts val="0"/>
                        </a:spcAft>
                      </a:pPr>
                      <a:r>
                        <a:rPr lang="en-US" sz="2400" dirty="0">
                          <a:effectLst/>
                        </a:rPr>
                        <a:t>ionic AND covalent bonds</a:t>
                      </a:r>
                      <a:endParaRPr lang="en-CA" sz="1600" dirty="0">
                        <a:effectLst/>
                        <a:latin typeface="Garamond"/>
                        <a:ea typeface="SimSun"/>
                        <a:cs typeface="Times New Roman"/>
                      </a:endParaRPr>
                    </a:p>
                  </a:txBody>
                  <a:tcPr marL="68580" marR="68580" marT="0" marB="0">
                    <a:solidFill>
                      <a:schemeClr val="tx2">
                        <a:lumMod val="75000"/>
                      </a:schemeClr>
                    </a:solidFill>
                  </a:tcPr>
                </a:tc>
                <a:tc>
                  <a:txBody>
                    <a:bodyPr/>
                    <a:lstStyle/>
                    <a:p>
                      <a:pPr algn="l">
                        <a:spcAft>
                          <a:spcPts val="0"/>
                        </a:spcAft>
                      </a:pPr>
                      <a:r>
                        <a:rPr lang="en-US" sz="2400" dirty="0" smtClean="0">
                          <a:solidFill>
                            <a:schemeClr val="bg1"/>
                          </a:solidFill>
                          <a:effectLst/>
                        </a:rPr>
                        <a:t>150 - 4000 </a:t>
                      </a:r>
                      <a:r>
                        <a:rPr lang="en-US" sz="1800" dirty="0">
                          <a:solidFill>
                            <a:schemeClr val="bg1"/>
                          </a:solidFill>
                          <a:effectLst/>
                        </a:rPr>
                        <a:t>(typically)</a:t>
                      </a:r>
                    </a:p>
                    <a:p>
                      <a:pPr algn="l">
                        <a:spcAft>
                          <a:spcPts val="0"/>
                        </a:spcAft>
                      </a:pPr>
                      <a:r>
                        <a:rPr lang="en-US" sz="1800" dirty="0">
                          <a:solidFill>
                            <a:schemeClr val="bg1"/>
                          </a:solidFill>
                          <a:effectLst/>
                          <a:latin typeface="Garamond"/>
                          <a:ea typeface="SimSun"/>
                          <a:cs typeface="Times New Roman"/>
                        </a:rPr>
                        <a:t>Values for ionic and covalent aren’t even directly comparable!</a:t>
                      </a:r>
                      <a:endParaRPr lang="en-CA" sz="16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1"/>
                  </a:ext>
                </a:extLst>
              </a:tr>
              <a:tr h="503918">
                <a:tc>
                  <a:txBody>
                    <a:bodyPr/>
                    <a:lstStyle/>
                    <a:p>
                      <a:pPr algn="l">
                        <a:spcAft>
                          <a:spcPts val="0"/>
                        </a:spcAft>
                      </a:pPr>
                      <a:r>
                        <a:rPr lang="en-CA" sz="2800" dirty="0">
                          <a:effectLst/>
                          <a:latin typeface="Garamond"/>
                          <a:ea typeface="SimSun"/>
                          <a:cs typeface="Times New Roman"/>
                        </a:rPr>
                        <a:t>Ion-dipole</a:t>
                      </a:r>
                    </a:p>
                  </a:txBody>
                  <a:tcPr marL="68580" marR="68580" marT="0" marB="0">
                    <a:solidFill>
                      <a:schemeClr val="tx2">
                        <a:lumMod val="75000"/>
                      </a:schemeClr>
                    </a:solidFill>
                  </a:tcPr>
                </a:tc>
                <a:tc>
                  <a:txBody>
                    <a:bodyPr/>
                    <a:lstStyle/>
                    <a:p>
                      <a:pPr algn="l">
                        <a:spcAft>
                          <a:spcPts val="0"/>
                        </a:spcAft>
                      </a:pPr>
                      <a:endParaRPr lang="en-CA" sz="16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2"/>
                  </a:ext>
                </a:extLst>
              </a:tr>
              <a:tr h="50391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2800" dirty="0">
                          <a:effectLst/>
                          <a:latin typeface="Garamond"/>
                          <a:ea typeface="SimSun"/>
                          <a:cs typeface="Times New Roman"/>
                        </a:rPr>
                        <a:t>Ion-induced dipole</a:t>
                      </a:r>
                      <a:endParaRPr lang="en-CA" sz="1600" dirty="0">
                        <a:effectLst/>
                        <a:latin typeface="Garamond"/>
                        <a:ea typeface="SimSun"/>
                        <a:cs typeface="Times New Roman"/>
                      </a:endParaRPr>
                    </a:p>
                    <a:p>
                      <a:pPr algn="l">
                        <a:spcAft>
                          <a:spcPts val="0"/>
                        </a:spcAft>
                      </a:pPr>
                      <a:endParaRPr lang="en-CA" sz="1600" dirty="0">
                        <a:effectLst/>
                        <a:latin typeface="Garamond"/>
                        <a:ea typeface="SimSun"/>
                        <a:cs typeface="Times New Roman"/>
                      </a:endParaRPr>
                    </a:p>
                  </a:txBody>
                  <a:tcPr marL="68580" marR="68580" marT="0" marB="0">
                    <a:solidFill>
                      <a:schemeClr val="tx2">
                        <a:lumMod val="75000"/>
                      </a:schemeClr>
                    </a:solidFill>
                  </a:tcPr>
                </a:tc>
                <a:tc>
                  <a:txBody>
                    <a:bodyPr/>
                    <a:lstStyle/>
                    <a:p>
                      <a:pPr algn="l">
                        <a:spcAft>
                          <a:spcPts val="0"/>
                        </a:spcAft>
                      </a:pPr>
                      <a:endParaRPr lang="en-CA" sz="16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3"/>
                  </a:ext>
                </a:extLst>
              </a:tr>
              <a:tr h="50391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effectLst/>
                        </a:rPr>
                        <a:t>Hydrogen bonds</a:t>
                      </a:r>
                      <a:endParaRPr lang="en-CA" sz="1600" dirty="0">
                        <a:effectLst/>
                        <a:latin typeface="Garamond"/>
                        <a:ea typeface="SimSun"/>
                        <a:cs typeface="Times New Roman"/>
                      </a:endParaRPr>
                    </a:p>
                    <a:p>
                      <a:pPr algn="l">
                        <a:spcAft>
                          <a:spcPts val="0"/>
                        </a:spcAft>
                      </a:pPr>
                      <a:endParaRPr lang="en-CA" sz="1600" dirty="0">
                        <a:effectLst/>
                        <a:latin typeface="Garamond"/>
                        <a:ea typeface="SimSun"/>
                        <a:cs typeface="Times New Roman"/>
                      </a:endParaRPr>
                    </a:p>
                  </a:txBody>
                  <a:tcPr marL="68580" marR="68580" marT="0" marB="0">
                    <a:solidFill>
                      <a:schemeClr val="tx2">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smtClean="0">
                          <a:solidFill>
                            <a:schemeClr val="bg1"/>
                          </a:solidFill>
                          <a:effectLst/>
                        </a:rPr>
                        <a:t>4 – 50</a:t>
                      </a:r>
                      <a:endParaRPr lang="en-CA" sz="11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3365022240"/>
                  </a:ext>
                </a:extLst>
              </a:tr>
              <a:tr h="503918">
                <a:tc>
                  <a:txBody>
                    <a:bodyPr/>
                    <a:lstStyle/>
                    <a:p>
                      <a:pPr algn="l">
                        <a:spcAft>
                          <a:spcPts val="0"/>
                        </a:spcAft>
                      </a:pPr>
                      <a:r>
                        <a:rPr lang="en-US" sz="2400" dirty="0">
                          <a:effectLst/>
                        </a:rPr>
                        <a:t>dipole-dipole</a:t>
                      </a:r>
                      <a:endParaRPr lang="en-CA" sz="1600" dirty="0">
                        <a:effectLst/>
                        <a:latin typeface="Garamond"/>
                        <a:ea typeface="SimSun"/>
                        <a:cs typeface="Times New Roman"/>
                      </a:endParaRPr>
                    </a:p>
                  </a:txBody>
                  <a:tcPr marL="68580" marR="68580" marT="0" marB="0">
                    <a:solidFill>
                      <a:schemeClr val="tx2">
                        <a:lumMod val="75000"/>
                      </a:schemeClr>
                    </a:solidFill>
                  </a:tcPr>
                </a:tc>
                <a:tc>
                  <a:txBody>
                    <a:bodyPr/>
                    <a:lstStyle/>
                    <a:p>
                      <a:pPr algn="l">
                        <a:spcAft>
                          <a:spcPts val="0"/>
                        </a:spcAft>
                      </a:pPr>
                      <a:r>
                        <a:rPr lang="en-US" sz="2800" dirty="0" smtClean="0">
                          <a:solidFill>
                            <a:schemeClr val="bg1"/>
                          </a:solidFill>
                          <a:effectLst/>
                          <a:latin typeface="Garamond"/>
                          <a:ea typeface="SimSun"/>
                          <a:cs typeface="Times New Roman"/>
                        </a:rPr>
                        <a:t>2 - 8</a:t>
                      </a:r>
                      <a:endParaRPr lang="en-CA" sz="18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4"/>
                  </a:ext>
                </a:extLst>
              </a:tr>
              <a:tr h="503918">
                <a:tc>
                  <a:txBody>
                    <a:bodyPr/>
                    <a:lstStyle/>
                    <a:p>
                      <a:pPr algn="l">
                        <a:spcAft>
                          <a:spcPts val="0"/>
                        </a:spcAft>
                      </a:pPr>
                      <a:r>
                        <a:rPr lang="en-CA" sz="2400" dirty="0">
                          <a:effectLst/>
                          <a:latin typeface="Garamond"/>
                          <a:ea typeface="SimSun"/>
                          <a:cs typeface="Times New Roman"/>
                        </a:rPr>
                        <a:t>Dipole-induced dipole</a:t>
                      </a:r>
                    </a:p>
                  </a:txBody>
                  <a:tcPr marL="68580" marR="68580" marT="0" marB="0">
                    <a:solidFill>
                      <a:schemeClr val="tx2">
                        <a:lumMod val="75000"/>
                      </a:schemeClr>
                    </a:solidFill>
                  </a:tcPr>
                </a:tc>
                <a:tc>
                  <a:txBody>
                    <a:bodyPr/>
                    <a:lstStyle/>
                    <a:p>
                      <a:pPr algn="l">
                        <a:spcAft>
                          <a:spcPts val="0"/>
                        </a:spcAft>
                      </a:pPr>
                      <a:endParaRPr lang="en-CA" sz="16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5"/>
                  </a:ext>
                </a:extLst>
              </a:tr>
              <a:tr h="503918">
                <a:tc>
                  <a:txBody>
                    <a:bodyPr/>
                    <a:lstStyle/>
                    <a:p>
                      <a:pPr algn="l">
                        <a:spcAft>
                          <a:spcPts val="0"/>
                        </a:spcAft>
                      </a:pPr>
                      <a:r>
                        <a:rPr lang="en-US" sz="2400" dirty="0">
                          <a:effectLst/>
                        </a:rPr>
                        <a:t>London forces</a:t>
                      </a:r>
                      <a:endParaRPr lang="en-CA" sz="1600" dirty="0">
                        <a:effectLst/>
                        <a:latin typeface="Garamond"/>
                        <a:ea typeface="SimSun"/>
                        <a:cs typeface="Times New Roman"/>
                      </a:endParaRPr>
                    </a:p>
                  </a:txBody>
                  <a:tcPr marL="68580" marR="68580" marT="0" marB="0">
                    <a:solidFill>
                      <a:schemeClr val="tx2">
                        <a:lumMod val="75000"/>
                      </a:schemeClr>
                    </a:solidFill>
                  </a:tcPr>
                </a:tc>
                <a:tc>
                  <a:txBody>
                    <a:bodyPr/>
                    <a:lstStyle/>
                    <a:p>
                      <a:pPr algn="l">
                        <a:spcAft>
                          <a:spcPts val="0"/>
                        </a:spcAft>
                      </a:pPr>
                      <a:r>
                        <a:rPr lang="en-US" sz="2400" dirty="0">
                          <a:solidFill>
                            <a:schemeClr val="bg1"/>
                          </a:solidFill>
                          <a:effectLst/>
                          <a:latin typeface="Garamond"/>
                          <a:ea typeface="SimSun"/>
                          <a:cs typeface="Times New Roman"/>
                        </a:rPr>
                        <a:t>&lt;4 for small molecules but higher than H-bonds for very large molecules (up to 63)</a:t>
                      </a:r>
                      <a:endParaRPr lang="en-CA" sz="1600" dirty="0">
                        <a:solidFill>
                          <a:schemeClr val="bg1"/>
                        </a:solidFill>
                        <a:effectLst/>
                        <a:latin typeface="Garamond"/>
                        <a:ea typeface="SimSun"/>
                        <a:cs typeface="Times New Roman"/>
                      </a:endParaRPr>
                    </a:p>
                  </a:txBody>
                  <a:tcPr marL="68580" marR="68580" marT="0" marB="0">
                    <a:solidFill>
                      <a:schemeClr val="tx2">
                        <a:lumMod val="75000"/>
                      </a:schemeClr>
                    </a:solidFill>
                  </a:tcPr>
                </a:tc>
                <a:extLst>
                  <a:ext uri="{0D108BD9-81ED-4DB2-BD59-A6C34878D82A}">
                    <a16:rowId xmlns:a16="http://schemas.microsoft.com/office/drawing/2014/main" val="10006"/>
                  </a:ext>
                </a:extLst>
              </a:tr>
            </a:tbl>
          </a:graphicData>
        </a:graphic>
      </p:graphicFrame>
      <p:sp>
        <p:nvSpPr>
          <p:cNvPr id="4" name="Rectangle 3"/>
          <p:cNvSpPr/>
          <p:nvPr/>
        </p:nvSpPr>
        <p:spPr bwMode="auto">
          <a:xfrm>
            <a:off x="4390881" y="1703283"/>
            <a:ext cx="2880320" cy="864096"/>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7" name="Rectangle 6"/>
          <p:cNvSpPr/>
          <p:nvPr/>
        </p:nvSpPr>
        <p:spPr bwMode="auto">
          <a:xfrm>
            <a:off x="4375541" y="2737740"/>
            <a:ext cx="2880320" cy="348519"/>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8" name="Rectangle 7"/>
          <p:cNvSpPr/>
          <p:nvPr/>
        </p:nvSpPr>
        <p:spPr bwMode="auto">
          <a:xfrm>
            <a:off x="4367808" y="3878954"/>
            <a:ext cx="2880320" cy="383371"/>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9" name="Rectangle 8"/>
          <p:cNvSpPr/>
          <p:nvPr/>
        </p:nvSpPr>
        <p:spPr bwMode="auto">
          <a:xfrm>
            <a:off x="4386320" y="4461034"/>
            <a:ext cx="2880320" cy="348519"/>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10" name="Rectangle 9"/>
          <p:cNvSpPr/>
          <p:nvPr/>
        </p:nvSpPr>
        <p:spPr bwMode="auto">
          <a:xfrm>
            <a:off x="4386320" y="5456746"/>
            <a:ext cx="2880320" cy="348519"/>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11" name="Rectangle 10"/>
          <p:cNvSpPr/>
          <p:nvPr/>
        </p:nvSpPr>
        <p:spPr bwMode="auto">
          <a:xfrm>
            <a:off x="4390881" y="4998670"/>
            <a:ext cx="3014318" cy="360040"/>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5" name="Rectangle 4">
            <a:extLst>
              <a:ext uri="{FF2B5EF4-FFF2-40B4-BE49-F238E27FC236}">
                <a16:creationId xmlns:a16="http://schemas.microsoft.com/office/drawing/2014/main" id="{02C1CA93-9EC3-77F6-D798-88570B7FB897}"/>
              </a:ext>
            </a:extLst>
          </p:cNvPr>
          <p:cNvSpPr/>
          <p:nvPr/>
        </p:nvSpPr>
        <p:spPr bwMode="auto">
          <a:xfrm>
            <a:off x="4390881" y="3207835"/>
            <a:ext cx="2880320" cy="348519"/>
          </a:xfrm>
          <a:prstGeom prst="rect">
            <a:avLst/>
          </a:prstGeom>
          <a:solidFill>
            <a:schemeClr val="tx2">
              <a:lumMod val="75000"/>
            </a:schemeClr>
          </a:solidFill>
          <a:ln w="34925" cap="flat" cmpd="sng" algn="ctr">
            <a:solidFill>
              <a:schemeClr val="tx2"/>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r" eaLnBrk="0" fontAlgn="base" hangingPunct="0">
              <a:spcBef>
                <a:spcPct val="0"/>
              </a:spcBef>
              <a:spcAft>
                <a:spcPct val="0"/>
              </a:spcAft>
            </a:pPr>
            <a:endParaRPr kumimoji="1" lang="en-CA" sz="2500">
              <a:latin typeface="Arial" charset="0"/>
            </a:endParaRPr>
          </a:p>
        </p:txBody>
      </p:sp>
      <p:sp>
        <p:nvSpPr>
          <p:cNvPr id="6" name="Left Brace 5"/>
          <p:cNvSpPr/>
          <p:nvPr/>
        </p:nvSpPr>
        <p:spPr>
          <a:xfrm>
            <a:off x="3618694" y="2694564"/>
            <a:ext cx="515566" cy="110895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TextBox 11"/>
          <p:cNvSpPr txBox="1"/>
          <p:nvPr/>
        </p:nvSpPr>
        <p:spPr>
          <a:xfrm>
            <a:off x="58366" y="2371877"/>
            <a:ext cx="2423595" cy="1754326"/>
          </a:xfrm>
          <a:prstGeom prst="rect">
            <a:avLst/>
          </a:prstGeom>
          <a:noFill/>
        </p:spPr>
        <p:txBody>
          <a:bodyPr wrap="square" rtlCol="0">
            <a:spAutoFit/>
          </a:bodyPr>
          <a:lstStyle/>
          <a:p>
            <a:r>
              <a:rPr lang="en-US" dirty="0">
                <a:solidFill>
                  <a:schemeClr val="tx1">
                    <a:lumMod val="75000"/>
                    <a:lumOff val="25000"/>
                  </a:schemeClr>
                </a:solidFill>
                <a:ea typeface="ＭＳ Ｐゴシック" pitchFamily="34" charset="-128"/>
              </a:rPr>
              <a:t>Ions carry a full positive and negative charge, leading to a significantly stronger attraction with a polar molecule </a:t>
            </a:r>
          </a:p>
        </p:txBody>
      </p:sp>
    </p:spTree>
    <p:extLst>
      <p:ext uri="{BB962C8B-B14F-4D97-AF65-F5344CB8AC3E}">
        <p14:creationId xmlns:p14="http://schemas.microsoft.com/office/powerpoint/2010/main" val="211764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5"/>
                                        </p:tgtEl>
                                      </p:cBhvr>
                                    </p:animEffect>
                                    <p:set>
                                      <p:cBhvr>
                                        <p:cTn id="37" dur="1" fill="hold">
                                          <p:stCondLst>
                                            <p:cond delay="499"/>
                                          </p:stCondLst>
                                        </p:cTn>
                                        <p:tgtEl>
                                          <p:spTgt spid="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ppt_x"/>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5" grpId="0" animBg="1"/>
      <p:bldP spid="6"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Intermolecular forces In nature</a:t>
            </a:r>
            <a:endParaRPr lang="en-US" dirty="0"/>
          </a:p>
        </p:txBody>
      </p:sp>
      <p:sp>
        <p:nvSpPr>
          <p:cNvPr id="3" name="Content Placeholder 2"/>
          <p:cNvSpPr>
            <a:spLocks noGrp="1"/>
          </p:cNvSpPr>
          <p:nvPr>
            <p:ph idx="1"/>
          </p:nvPr>
        </p:nvSpPr>
        <p:spPr>
          <a:xfrm>
            <a:off x="381000" y="1825625"/>
            <a:ext cx="4356370" cy="4351338"/>
          </a:xfrm>
        </p:spPr>
        <p:txBody>
          <a:bodyPr/>
          <a:lstStyle/>
          <a:p>
            <a:r>
              <a:rPr lang="en-US" b="1" u="sng" dirty="0"/>
              <a:t>Collectively</a:t>
            </a:r>
            <a:r>
              <a:rPr lang="en-US" dirty="0"/>
              <a:t>, intermolecular forces can be </a:t>
            </a:r>
            <a:r>
              <a:rPr lang="en-US" b="1" u="sng" dirty="0"/>
              <a:t>very</a:t>
            </a:r>
            <a:r>
              <a:rPr lang="en-US" b="1" dirty="0"/>
              <a:t> </a:t>
            </a:r>
            <a:r>
              <a:rPr lang="en-US" b="1" u="sng" dirty="0" smtClean="0"/>
              <a:t>strong</a:t>
            </a:r>
            <a:r>
              <a:rPr lang="en-US" dirty="0" smtClean="0"/>
              <a:t>      </a:t>
            </a:r>
          </a:p>
          <a:p>
            <a:r>
              <a:rPr lang="en-US" dirty="0" smtClean="0"/>
              <a:t>E.g</a:t>
            </a:r>
            <a:r>
              <a:rPr lang="en-US" dirty="0"/>
              <a:t>. London forces between the molecules of a gecko’s toe hairs and a </a:t>
            </a:r>
            <a:r>
              <a:rPr lang="en-US" dirty="0" smtClean="0"/>
              <a:t>wall’s surface!</a:t>
            </a:r>
            <a:endParaRPr lang="en-US" dirty="0"/>
          </a:p>
          <a:p>
            <a:endParaRPr lang="en-US" dirty="0"/>
          </a:p>
        </p:txBody>
      </p:sp>
      <p:pic>
        <p:nvPicPr>
          <p:cNvPr id="4" name="Picture 16" descr="02_UN01Gecko-U"/>
          <p:cNvPicPr>
            <a:picLocks noChangeAspect="1" noChangeArrowheads="1"/>
          </p:cNvPicPr>
          <p:nvPr/>
        </p:nvPicPr>
        <p:blipFill rotWithShape="1">
          <a:blip r:embed="rId4">
            <a:extLst>
              <a:ext uri="{28A0092B-C50C-407E-A947-70E740481C1C}">
                <a14:useLocalDpi xmlns:a14="http://schemas.microsoft.com/office/drawing/2010/main" val="0"/>
              </a:ext>
            </a:extLst>
          </a:blip>
          <a:srcRect b="2534"/>
          <a:stretch/>
        </p:blipFill>
        <p:spPr bwMode="auto">
          <a:xfrm>
            <a:off x="4737370" y="1485343"/>
            <a:ext cx="2417024" cy="483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28925" y="5063406"/>
            <a:ext cx="4300344" cy="369332"/>
          </a:xfrm>
          <a:prstGeom prst="rect">
            <a:avLst/>
          </a:prstGeom>
        </p:spPr>
        <p:txBody>
          <a:bodyPr wrap="none">
            <a:spAutoFit/>
          </a:bodyPr>
          <a:lstStyle/>
          <a:p>
            <a:r>
              <a:rPr lang="en-US" b="1" dirty="0" smtClean="0">
                <a:hlinkClick r:id="rId5"/>
              </a:rPr>
              <a:t>Ted Talk</a:t>
            </a:r>
            <a:r>
              <a:rPr lang="en-US" dirty="0" smtClean="0">
                <a:hlinkClick r:id="rId5"/>
              </a:rPr>
              <a:t>: https</a:t>
            </a:r>
            <a:r>
              <a:rPr lang="en-US" dirty="0">
                <a:hlinkClick r:id="rId5"/>
              </a:rPr>
              <a:t>://tinyurl.com/5csv6abr</a:t>
            </a:r>
            <a:endParaRPr lang="en-US" dirty="0"/>
          </a:p>
        </p:txBody>
      </p:sp>
      <p:pic>
        <p:nvPicPr>
          <p:cNvPr id="2050" name="Picture 2" descr="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3175" y="4328809"/>
            <a:ext cx="6008885" cy="208890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8653" y="5594862"/>
            <a:ext cx="3876446" cy="646331"/>
          </a:xfrm>
          <a:prstGeom prst="rect">
            <a:avLst/>
          </a:prstGeom>
        </p:spPr>
        <p:txBody>
          <a:bodyPr wrap="none">
            <a:spAutoFit/>
          </a:bodyPr>
          <a:lstStyle/>
          <a:p>
            <a:r>
              <a:rPr lang="en-US" b="1" dirty="0" smtClean="0">
                <a:hlinkClick r:id="rId7"/>
              </a:rPr>
              <a:t>Gecko Adhesive fit for Spiderman</a:t>
            </a:r>
            <a:r>
              <a:rPr lang="en-US" dirty="0" smtClean="0">
                <a:hlinkClick r:id="rId7"/>
              </a:rPr>
              <a:t>:</a:t>
            </a:r>
          </a:p>
          <a:p>
            <a:r>
              <a:rPr lang="en-US" dirty="0" smtClean="0">
                <a:hlinkClick r:id="rId7"/>
              </a:rPr>
              <a:t>https</a:t>
            </a:r>
            <a:r>
              <a:rPr lang="en-US" dirty="0">
                <a:hlinkClick r:id="rId7"/>
              </a:rPr>
              <a:t>://</a:t>
            </a:r>
            <a:r>
              <a:rPr lang="en-US" dirty="0" smtClean="0">
                <a:hlinkClick r:id="rId7"/>
              </a:rPr>
              <a:t>youtu.be/gzm7yD-JuyM</a:t>
            </a:r>
            <a:r>
              <a:rPr lang="en-US" dirty="0" smtClean="0"/>
              <a:t> </a:t>
            </a:r>
            <a:endParaRPr lang="en-US" dirty="0"/>
          </a:p>
        </p:txBody>
      </p:sp>
      <p:sp>
        <p:nvSpPr>
          <p:cNvPr id="7" name="Rectangle 6"/>
          <p:cNvSpPr/>
          <p:nvPr/>
        </p:nvSpPr>
        <p:spPr>
          <a:xfrm>
            <a:off x="306056" y="6318413"/>
            <a:ext cx="6702091" cy="369332"/>
          </a:xfrm>
          <a:prstGeom prst="rect">
            <a:avLst/>
          </a:prstGeom>
        </p:spPr>
        <p:txBody>
          <a:bodyPr wrap="none">
            <a:spAutoFit/>
          </a:bodyPr>
          <a:lstStyle/>
          <a:p>
            <a:r>
              <a:rPr lang="en-US" b="1" dirty="0" smtClean="0">
                <a:solidFill>
                  <a:srgbClr val="0070C0"/>
                </a:solidFill>
              </a:rPr>
              <a:t>Gecko Grip</a:t>
            </a:r>
            <a:r>
              <a:rPr lang="en-US" dirty="0" smtClean="0">
                <a:solidFill>
                  <a:srgbClr val="0070C0"/>
                </a:solidFill>
              </a:rPr>
              <a:t>: </a:t>
            </a:r>
            <a:r>
              <a:rPr lang="en-US" dirty="0" smtClean="0">
                <a:hlinkClick r:id="rId8"/>
              </a:rPr>
              <a:t>https</a:t>
            </a:r>
            <a:r>
              <a:rPr lang="en-US" dirty="0">
                <a:hlinkClick r:id="rId8"/>
              </a:rPr>
              <a:t>://</a:t>
            </a:r>
            <a:r>
              <a:rPr lang="en-US" dirty="0" smtClean="0">
                <a:hlinkClick r:id="rId8"/>
              </a:rPr>
              <a:t>www.youtube.com/watch?v=r5cqJTU5D5I</a:t>
            </a:r>
            <a:r>
              <a:rPr lang="en-US" dirty="0" smtClean="0"/>
              <a:t> </a:t>
            </a:r>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912708847"/>
              </p:ext>
            </p:extLst>
          </p:nvPr>
        </p:nvGraphicFramePr>
        <p:xfrm>
          <a:off x="7631245" y="1706563"/>
          <a:ext cx="3954463" cy="2422525"/>
        </p:xfrm>
        <a:graphic>
          <a:graphicData uri="http://schemas.openxmlformats.org/presentationml/2006/ole">
            <mc:AlternateContent xmlns:mc="http://schemas.openxmlformats.org/markup-compatibility/2006">
              <mc:Choice xmlns:v="urn:schemas-microsoft-com:vml" Requires="v">
                <p:oleObj spid="_x0000_s1029" name="Bitmap Image" r:id="rId9" imgW="3954960" imgH="2423160" progId="Paint.Picture">
                  <p:embed/>
                </p:oleObj>
              </mc:Choice>
              <mc:Fallback>
                <p:oleObj name="Bitmap Image" r:id="rId9" imgW="3954960" imgH="2423160" progId="Paint.Picture">
                  <p:embed/>
                  <p:pic>
                    <p:nvPicPr>
                      <p:cNvPr id="0" name=""/>
                      <p:cNvPicPr/>
                      <p:nvPr/>
                    </p:nvPicPr>
                    <p:blipFill>
                      <a:blip r:embed="rId10"/>
                      <a:stretch>
                        <a:fillRect/>
                      </a:stretch>
                    </p:blipFill>
                    <p:spPr>
                      <a:xfrm>
                        <a:off x="7631245" y="1706563"/>
                        <a:ext cx="3954463" cy="2422525"/>
                      </a:xfrm>
                      <a:prstGeom prst="rect">
                        <a:avLst/>
                      </a:prstGeom>
                    </p:spPr>
                  </p:pic>
                </p:oleObj>
              </mc:Fallback>
            </mc:AlternateContent>
          </a:graphicData>
        </a:graphic>
      </p:graphicFrame>
    </p:spTree>
    <p:extLst>
      <p:ext uri="{BB962C8B-B14F-4D97-AF65-F5344CB8AC3E}">
        <p14:creationId xmlns:p14="http://schemas.microsoft.com/office/powerpoint/2010/main" val="235398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Summary </a:t>
            </a:r>
            <a:endParaRPr lang="en-US" dirty="0"/>
          </a:p>
        </p:txBody>
      </p:sp>
      <p:sp>
        <p:nvSpPr>
          <p:cNvPr id="3" name="Content Placeholder 2"/>
          <p:cNvSpPr>
            <a:spLocks noGrp="1"/>
          </p:cNvSpPr>
          <p:nvPr>
            <p:ph idx="1"/>
          </p:nvPr>
        </p:nvSpPr>
        <p:spPr>
          <a:xfrm>
            <a:off x="468549" y="1706563"/>
            <a:ext cx="11430000" cy="4351338"/>
          </a:xfrm>
        </p:spPr>
        <p:txBody>
          <a:bodyPr>
            <a:noAutofit/>
          </a:bodyPr>
          <a:lstStyle/>
          <a:p>
            <a:pPr>
              <a:buFont typeface="Wingdings" panose="05000000000000000000" pitchFamily="2" charset="2"/>
              <a:buChar char="ü"/>
            </a:pPr>
            <a:r>
              <a:rPr lang="en-US" sz="2000" dirty="0"/>
              <a:t>In an atom, </a:t>
            </a:r>
            <a:r>
              <a:rPr lang="en-US" sz="2000" b="1" u="sng" dirty="0"/>
              <a:t>electrons</a:t>
            </a:r>
            <a:r>
              <a:rPr lang="en-US" sz="2000" dirty="0"/>
              <a:t> occupy specific electron </a:t>
            </a:r>
            <a:r>
              <a:rPr lang="en-US" sz="2000" b="1" u="sng" dirty="0"/>
              <a:t>shells</a:t>
            </a:r>
            <a:r>
              <a:rPr lang="en-US" sz="2000" dirty="0"/>
              <a:t>; the electrons in a shell have a characteristic </a:t>
            </a:r>
            <a:r>
              <a:rPr lang="en-US" sz="2000" b="1" u="sng" dirty="0"/>
              <a:t>energy</a:t>
            </a:r>
            <a:r>
              <a:rPr lang="en-US" sz="2000" dirty="0"/>
              <a:t> </a:t>
            </a:r>
            <a:r>
              <a:rPr lang="en-US" sz="2000" b="1" u="sng" dirty="0"/>
              <a:t>level</a:t>
            </a:r>
            <a:r>
              <a:rPr lang="en-US" sz="2000" dirty="0"/>
              <a:t>. </a:t>
            </a:r>
            <a:endParaRPr lang="en-US" sz="2000" dirty="0" smtClean="0"/>
          </a:p>
          <a:p>
            <a:pPr>
              <a:buFont typeface="Wingdings" panose="05000000000000000000" pitchFamily="2" charset="2"/>
              <a:buChar char="ü"/>
            </a:pPr>
            <a:r>
              <a:rPr lang="en-US" sz="2000" dirty="0" smtClean="0"/>
              <a:t>Electron </a:t>
            </a:r>
            <a:r>
              <a:rPr lang="en-US" sz="2000" dirty="0"/>
              <a:t>distribution in shells determines the chemical </a:t>
            </a:r>
            <a:r>
              <a:rPr lang="en-US" sz="2000" b="1" u="sng" dirty="0" err="1" smtClean="0"/>
              <a:t>behaviour</a:t>
            </a:r>
            <a:r>
              <a:rPr lang="en-US" sz="2000" dirty="0" smtClean="0"/>
              <a:t> </a:t>
            </a:r>
            <a:r>
              <a:rPr lang="en-US" sz="2000" dirty="0"/>
              <a:t>of an atom. An atom that has an incomplete outer shell, the </a:t>
            </a:r>
            <a:r>
              <a:rPr lang="en-US" sz="2000" b="1" u="sng" dirty="0"/>
              <a:t>valence</a:t>
            </a:r>
            <a:r>
              <a:rPr lang="en-US" sz="2000" dirty="0"/>
              <a:t> shell, is reactive. </a:t>
            </a:r>
            <a:endParaRPr lang="en-US" sz="2000" dirty="0" smtClean="0"/>
          </a:p>
          <a:p>
            <a:pPr>
              <a:buFont typeface="Wingdings" panose="05000000000000000000" pitchFamily="2" charset="2"/>
              <a:buChar char="ü"/>
            </a:pPr>
            <a:r>
              <a:rPr lang="en-US" sz="2000" dirty="0"/>
              <a:t>An </a:t>
            </a:r>
            <a:r>
              <a:rPr lang="en-US" sz="2000" b="1" u="sng" dirty="0"/>
              <a:t>ion</a:t>
            </a:r>
            <a:r>
              <a:rPr lang="en-US" sz="2000" dirty="0"/>
              <a:t> forms when an </a:t>
            </a:r>
            <a:r>
              <a:rPr lang="en-US" sz="2000" b="1" u="sng" dirty="0"/>
              <a:t>atom</a:t>
            </a:r>
            <a:r>
              <a:rPr lang="en-US" sz="2000" dirty="0"/>
              <a:t> or </a:t>
            </a:r>
            <a:r>
              <a:rPr lang="en-US" sz="2000" b="1" u="sng" dirty="0"/>
              <a:t>molecule</a:t>
            </a:r>
            <a:r>
              <a:rPr lang="en-US" sz="2000" dirty="0"/>
              <a:t> </a:t>
            </a:r>
            <a:r>
              <a:rPr lang="en-US" sz="2000" b="1" u="sng" dirty="0"/>
              <a:t>gains</a:t>
            </a:r>
            <a:r>
              <a:rPr lang="en-US" sz="2000" dirty="0"/>
              <a:t> or </a:t>
            </a:r>
            <a:r>
              <a:rPr lang="en-US" sz="2000" b="1" u="sng" dirty="0"/>
              <a:t>loses</a:t>
            </a:r>
            <a:r>
              <a:rPr lang="en-US" sz="2000" dirty="0"/>
              <a:t> an </a:t>
            </a:r>
            <a:r>
              <a:rPr lang="en-US" sz="2000" b="1" u="sng" dirty="0"/>
              <a:t>electron</a:t>
            </a:r>
            <a:r>
              <a:rPr lang="en-US" sz="2000" dirty="0"/>
              <a:t> and becomes charged. An </a:t>
            </a:r>
            <a:r>
              <a:rPr lang="en-US" sz="2000" b="1" u="sng" dirty="0"/>
              <a:t>ionic</a:t>
            </a:r>
            <a:r>
              <a:rPr lang="en-US" sz="2000" dirty="0"/>
              <a:t> </a:t>
            </a:r>
            <a:r>
              <a:rPr lang="en-US" sz="2000" b="1" u="sng" dirty="0"/>
              <a:t>bond</a:t>
            </a:r>
            <a:r>
              <a:rPr lang="en-US" sz="2000" dirty="0"/>
              <a:t> is the attraction between two oppositely charged ions.</a:t>
            </a:r>
          </a:p>
          <a:p>
            <a:pPr>
              <a:buFont typeface="Wingdings" panose="05000000000000000000" pitchFamily="2" charset="2"/>
              <a:buChar char="ü"/>
            </a:pPr>
            <a:r>
              <a:rPr lang="en-US" sz="2000" b="1" u="sng" dirty="0" smtClean="0"/>
              <a:t>Molecules</a:t>
            </a:r>
            <a:r>
              <a:rPr lang="en-US" sz="2000" dirty="0" smtClean="0"/>
              <a:t> </a:t>
            </a:r>
            <a:r>
              <a:rPr lang="en-US" sz="2000" dirty="0"/>
              <a:t>consist of two or more </a:t>
            </a:r>
            <a:r>
              <a:rPr lang="en-US" sz="2000" b="1" u="sng" dirty="0"/>
              <a:t>covalently</a:t>
            </a:r>
            <a:r>
              <a:rPr lang="en-US" sz="2000" dirty="0"/>
              <a:t> </a:t>
            </a:r>
            <a:r>
              <a:rPr lang="en-US" sz="2000" b="1" u="sng" dirty="0"/>
              <a:t>bonded</a:t>
            </a:r>
            <a:r>
              <a:rPr lang="en-US" sz="2000" dirty="0"/>
              <a:t> atoms. </a:t>
            </a:r>
            <a:endParaRPr lang="en-US" sz="2000" dirty="0" smtClean="0"/>
          </a:p>
          <a:p>
            <a:pPr>
              <a:buFont typeface="Wingdings" panose="05000000000000000000" pitchFamily="2" charset="2"/>
              <a:buChar char="ü"/>
            </a:pPr>
            <a:r>
              <a:rPr lang="en-US" sz="2000" dirty="0" smtClean="0"/>
              <a:t>The </a:t>
            </a:r>
            <a:r>
              <a:rPr lang="en-US" sz="2000" b="1" u="sng" dirty="0"/>
              <a:t>attraction</a:t>
            </a:r>
            <a:r>
              <a:rPr lang="en-US" sz="2000" dirty="0"/>
              <a:t> of an </a:t>
            </a:r>
            <a:r>
              <a:rPr lang="en-US" sz="2000" b="1" u="sng" dirty="0"/>
              <a:t>atom</a:t>
            </a:r>
            <a:r>
              <a:rPr lang="en-US" sz="2000" dirty="0"/>
              <a:t> for the </a:t>
            </a:r>
            <a:r>
              <a:rPr lang="en-US" sz="2000" b="1" u="sng" dirty="0"/>
              <a:t>electrons</a:t>
            </a:r>
            <a:r>
              <a:rPr lang="en-US" sz="2000" dirty="0"/>
              <a:t> of a covalent bond is its </a:t>
            </a:r>
            <a:r>
              <a:rPr lang="en-US" sz="2000" b="1" u="sng" dirty="0"/>
              <a:t>electronegativity</a:t>
            </a:r>
            <a:r>
              <a:rPr lang="en-US" sz="2000" dirty="0"/>
              <a:t>. If both atoms are the same, they have the </a:t>
            </a:r>
            <a:r>
              <a:rPr lang="en-US" sz="2000" b="1" u="sng" dirty="0"/>
              <a:t>same</a:t>
            </a:r>
            <a:r>
              <a:rPr lang="en-US" sz="2000" dirty="0"/>
              <a:t> </a:t>
            </a:r>
            <a:r>
              <a:rPr lang="en-US" sz="2000" b="1" u="sng" dirty="0"/>
              <a:t>electronegativity</a:t>
            </a:r>
            <a:r>
              <a:rPr lang="en-US" sz="2000" dirty="0"/>
              <a:t> and share a </a:t>
            </a:r>
            <a:r>
              <a:rPr lang="en-US" sz="2000" b="1" u="sng" dirty="0" smtClean="0"/>
              <a:t>non-polar</a:t>
            </a:r>
            <a:r>
              <a:rPr lang="en-US" sz="2000" dirty="0" smtClean="0"/>
              <a:t> </a:t>
            </a:r>
            <a:r>
              <a:rPr lang="en-US" sz="2000" b="1" u="sng" dirty="0"/>
              <a:t>covalent</a:t>
            </a:r>
            <a:r>
              <a:rPr lang="en-US" sz="2000" dirty="0"/>
              <a:t> bond. </a:t>
            </a:r>
            <a:r>
              <a:rPr lang="en-US" sz="2000" b="1" u="sng" dirty="0"/>
              <a:t>Electrons</a:t>
            </a:r>
            <a:r>
              <a:rPr lang="en-US" sz="2000" dirty="0"/>
              <a:t> of a </a:t>
            </a:r>
            <a:r>
              <a:rPr lang="en-US" sz="2000" b="1" u="sng" dirty="0"/>
              <a:t>polar</a:t>
            </a:r>
            <a:r>
              <a:rPr lang="en-US" sz="2000" dirty="0"/>
              <a:t> </a:t>
            </a:r>
            <a:r>
              <a:rPr lang="en-US" sz="2000" b="1" u="sng" dirty="0"/>
              <a:t>covalent</a:t>
            </a:r>
            <a:r>
              <a:rPr lang="en-US" sz="2000" dirty="0"/>
              <a:t> bond are pulled </a:t>
            </a:r>
            <a:r>
              <a:rPr lang="en-US" sz="2000" b="1" u="sng" dirty="0"/>
              <a:t>closer</a:t>
            </a:r>
            <a:r>
              <a:rPr lang="en-US" sz="2000" dirty="0"/>
              <a:t> to the more </a:t>
            </a:r>
            <a:r>
              <a:rPr lang="en-US" sz="2000" b="1" u="sng" dirty="0"/>
              <a:t>electronegative</a:t>
            </a:r>
            <a:r>
              <a:rPr lang="en-US" sz="2000" dirty="0"/>
              <a:t> </a:t>
            </a:r>
            <a:r>
              <a:rPr lang="en-US" sz="2000" dirty="0" smtClean="0"/>
              <a:t>atom. </a:t>
            </a:r>
          </a:p>
          <a:p>
            <a:pPr>
              <a:buFont typeface="Wingdings" panose="05000000000000000000" pitchFamily="2" charset="2"/>
              <a:buChar char="ü"/>
            </a:pPr>
            <a:r>
              <a:rPr lang="en-US" sz="2000" b="1" u="sng" dirty="0" smtClean="0"/>
              <a:t>Intermolecular</a:t>
            </a:r>
            <a:r>
              <a:rPr lang="en-US" sz="2000" dirty="0" smtClean="0"/>
              <a:t> (</a:t>
            </a:r>
            <a:r>
              <a:rPr lang="en-US" sz="2000" b="1" u="sng" dirty="0" smtClean="0"/>
              <a:t>van </a:t>
            </a:r>
            <a:r>
              <a:rPr lang="en-US" sz="2000" b="1" u="sng" dirty="0"/>
              <a:t>der </a:t>
            </a:r>
            <a:r>
              <a:rPr lang="en-US" sz="2000" b="1" u="sng" dirty="0" smtClean="0"/>
              <a:t>Waals</a:t>
            </a:r>
            <a:r>
              <a:rPr lang="en-US" sz="2000" dirty="0" smtClean="0"/>
              <a:t>) </a:t>
            </a:r>
            <a:r>
              <a:rPr lang="en-US" sz="2000" dirty="0"/>
              <a:t>interactions reinforce the shapes of large molecules and help molecules adhere to each other. A </a:t>
            </a:r>
            <a:r>
              <a:rPr lang="en-US" sz="2000" b="1" u="sng" dirty="0"/>
              <a:t>hydrogen</a:t>
            </a:r>
            <a:r>
              <a:rPr lang="en-US" sz="2000" dirty="0"/>
              <a:t> </a:t>
            </a:r>
            <a:r>
              <a:rPr lang="en-US" sz="2000" b="1" u="sng" dirty="0"/>
              <a:t>bond</a:t>
            </a:r>
            <a:r>
              <a:rPr lang="en-US" sz="2000" dirty="0"/>
              <a:t> is an attraction between a hydrogen atom carrying a partial positive charge (δ+) and an electronegative atom carrying a partial negative charge (δ-). </a:t>
            </a:r>
            <a:r>
              <a:rPr lang="en-US" sz="2000" dirty="0" smtClean="0"/>
              <a:t>Other interactions can occur </a:t>
            </a:r>
            <a:r>
              <a:rPr lang="en-US" sz="2000" dirty="0"/>
              <a:t>between transiently positive and negative regions of </a:t>
            </a:r>
            <a:r>
              <a:rPr lang="en-US" sz="2000" dirty="0" smtClean="0"/>
              <a:t>molecules.</a:t>
            </a:r>
            <a:endParaRPr lang="en-US" sz="2000" dirty="0"/>
          </a:p>
        </p:txBody>
      </p:sp>
    </p:spTree>
    <p:extLst>
      <p:ext uri="{BB962C8B-B14F-4D97-AF65-F5344CB8AC3E}">
        <p14:creationId xmlns:p14="http://schemas.microsoft.com/office/powerpoint/2010/main" val="1716812241"/>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TM11161285">
      <a:dk1>
        <a:srgbClr val="000000"/>
      </a:dk1>
      <a:lt1>
        <a:srgbClr val="FFFFFF"/>
      </a:lt1>
      <a:dk2>
        <a:srgbClr val="9C350D"/>
      </a:dk2>
      <a:lt2>
        <a:srgbClr val="E7E6E6"/>
      </a:lt2>
      <a:accent1>
        <a:srgbClr val="EF9316"/>
      </a:accent1>
      <a:accent2>
        <a:srgbClr val="C1B46A"/>
      </a:accent2>
      <a:accent3>
        <a:srgbClr val="4AAF72"/>
      </a:accent3>
      <a:accent4>
        <a:srgbClr val="569EB7"/>
      </a:accent4>
      <a:accent5>
        <a:srgbClr val="D07DF8"/>
      </a:accent5>
      <a:accent6>
        <a:srgbClr val="F97E5C"/>
      </a:accent6>
      <a:hlink>
        <a:srgbClr val="0563C1"/>
      </a:hlink>
      <a:folHlink>
        <a:srgbClr val="954F72"/>
      </a:folHlink>
    </a:clrScheme>
    <a:fontScheme name="Custom 113">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161285_win32_SL_V10" id="{EDA0DED9-7866-43C7-AAE0-FF2BF7894006}" vid="{392D8875-CB51-4401-81BF-DCAE09DF28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120E86-8EBF-4A45-BB42-6385F45559D7}">
  <ds:schemaRefs>
    <ds:schemaRef ds:uri="http://schemas.microsoft.com/sharepoint/v3/contenttype/forms"/>
  </ds:schemaRefs>
</ds:datastoreItem>
</file>

<file path=customXml/itemProps2.xml><?xml version="1.0" encoding="utf-8"?>
<ds:datastoreItem xmlns:ds="http://schemas.openxmlformats.org/officeDocument/2006/customXml" ds:itemID="{1398E2AA-96EA-44F8-9A2C-8D407107E619}">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71af3243-3dd4-4a8d-8c0d-dd76da1f02a5"/>
    <ds:schemaRef ds:uri="http://www.w3.org/XML/1998/namespace"/>
  </ds:schemaRefs>
</ds:datastoreItem>
</file>

<file path=customXml/itemProps3.xml><?xml version="1.0" encoding="utf-8"?>
<ds:datastoreItem xmlns:ds="http://schemas.openxmlformats.org/officeDocument/2006/customXml" ds:itemID="{B31796BC-EFB4-4758-9E84-D19E82556C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3062</TotalTime>
  <Words>1972</Words>
  <Application>Microsoft Office PowerPoint</Application>
  <PresentationFormat>Widescreen</PresentationFormat>
  <Paragraphs>209</Paragraphs>
  <Slides>25</Slides>
  <Notes>18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7" baseType="lpstr">
      <vt:lpstr>ＭＳ Ｐゴシック</vt:lpstr>
      <vt:lpstr>SimSun</vt:lpstr>
      <vt:lpstr>Aptos</vt:lpstr>
      <vt:lpstr>Arial</vt:lpstr>
      <vt:lpstr>Calibri</vt:lpstr>
      <vt:lpstr>Garamond</vt:lpstr>
      <vt:lpstr>Symbol</vt:lpstr>
      <vt:lpstr>Times New Roman</vt:lpstr>
      <vt:lpstr>Trebuchet MS</vt:lpstr>
      <vt:lpstr>Wingdings</vt:lpstr>
      <vt:lpstr>Berlin</vt:lpstr>
      <vt:lpstr>Paintbrush Picture</vt:lpstr>
      <vt:lpstr>Lesson #1: Chemistry of Life</vt:lpstr>
      <vt:lpstr>Learning goals</vt:lpstr>
      <vt:lpstr>What’s the matter with you? </vt:lpstr>
      <vt:lpstr>Atomic structure</vt:lpstr>
      <vt:lpstr>Electron arrangement </vt:lpstr>
      <vt:lpstr>Valence electrons</vt:lpstr>
      <vt:lpstr>Chemical bonds</vt:lpstr>
      <vt:lpstr>Ionic bonds</vt:lpstr>
      <vt:lpstr>Covalent bonds</vt:lpstr>
      <vt:lpstr>Covalent Compounds</vt:lpstr>
      <vt:lpstr>PowerPoint Presentation</vt:lpstr>
      <vt:lpstr>Covalent bonds and electronegativity</vt:lpstr>
      <vt:lpstr>Intramolecular Bonding &amp; Electronegativity</vt:lpstr>
      <vt:lpstr>Intramolecular Bonding &amp; Electronegativity</vt:lpstr>
      <vt:lpstr>Polarity</vt:lpstr>
      <vt:lpstr>Overall Polarity</vt:lpstr>
      <vt:lpstr>Polar or non-polar?</vt:lpstr>
      <vt:lpstr>Intermolecular “Van der Waals” forces</vt:lpstr>
      <vt:lpstr>Hydrogen bonding</vt:lpstr>
      <vt:lpstr>recall … dipole</vt:lpstr>
      <vt:lpstr>Other van der waals forces</vt:lpstr>
      <vt:lpstr>Other van der waals forces:</vt:lpstr>
      <vt:lpstr>Strength of Forces and Bonds </vt:lpstr>
      <vt:lpstr>Intermolecular forces In nature</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MARKETING MEETING</dc:title>
  <cp:lastModifiedBy>Gupta, Rashi</cp:lastModifiedBy>
  <cp:revision>88</cp:revision>
  <dcterms:created xsi:type="dcterms:W3CDTF">2024-01-24T18:09:33Z</dcterms:created>
  <dcterms:modified xsi:type="dcterms:W3CDTF">2025-09-08T03:26:42Z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